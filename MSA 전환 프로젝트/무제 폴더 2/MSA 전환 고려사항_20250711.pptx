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napToGrid="0">
      <p:cViewPr varScale="1">
        <p:scale>
          <a:sx n="125" d="100"/>
          <a:sy n="125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E29F2-DA4C-DD65-CA97-6250951FB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D4F2B6-185C-1688-8B8D-B2CA449B7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F85B3-57AC-AC0C-1541-8491A2D95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EF6A59-C982-474E-C935-21709D9B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32C626-AD7F-294D-54CA-935D54E3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882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16BDC-6DB2-8524-215A-51D99073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9C40D1-B2D3-E3C0-E5F6-3F6593DAD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B7B737-5577-96B5-16BF-D044FFC7A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0301B3-9914-A8AD-9935-3F95B049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68E86E-CFA9-F139-70BE-3C59EE10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347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56E9A-3EDF-DCEA-1F07-94E27C44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1137E7-36FA-E8F1-4064-2A498D98D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3AF59C-692D-FC2D-6EC7-9054E72A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FA1675-A44F-22F9-F0B6-D01613CF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237331-CCD6-86FF-9A89-12897F17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0750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0BDDD-C783-0458-BAFC-A465C2F4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B7900D-5494-B54F-0801-09503677B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BEAA47-A0E7-107D-28F8-5F6B21AA3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458F38-17A1-FA30-F1FC-FB6E26B4D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635FAD-F1E4-E93C-04FE-3BFE9A1E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D4139F-54B1-4AEA-04A1-A34FEB77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5066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F45FF5-9D87-BE92-395D-F628BFA1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A852DD-EB48-65FF-567A-C0F93A5D9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9C7BEE-329F-8C8F-8BF2-E74066652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32494F-5411-87AA-68B6-DC4C3F9F5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F16D7E-D46F-7D6A-B56E-AA8D23D2A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70E192-082B-A5EC-2892-B50575FD8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2ED7AA-C531-90A7-5CFB-611B7D2D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6D2E35-1328-870A-E10E-EBCFAA57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37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FA16-8C51-5DC0-9D6A-34B48D34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C64453-DBD0-5856-BBB5-26C69691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C8A0CA-6C8E-F561-5EBF-1DDAE22E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49A14F-38CC-F3AB-57EE-41DD197CA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58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BA61A9-7053-B8E9-80E1-E12998EF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63C630-2648-7EE4-B221-C5EC46AC3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A342B-04B2-F186-6FB8-86718797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504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68B1A-4963-32B9-46AF-96CF5208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C07F5-7010-C643-F4A3-CC4BE7237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4DDD79-24CA-4DD4-92A7-99D443894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600D17-0578-7531-9A80-72F14584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F66498-6F36-C2A1-2884-EBDCEB4D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57D9BE-E635-B2B6-7E65-02757166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50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445BE-C632-B0A1-53AC-8C1469D8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FAD334F-6F61-E5BA-0834-E07FC0912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FA2BEA-8B94-FDED-5643-691E9FB3A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2876B2-621E-180A-D9C3-009414830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65AB7B-1897-2FD8-685B-59907694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5BC86C-477C-2A73-07C0-311BB601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371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95C7C-5DA0-DD3D-F49F-F39B9A99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9AA056-9C12-2900-2480-D73F19535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050C6-5FBE-A412-4521-FE015D21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E68EA-DCD0-0269-FEAA-D9E5DFEB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9D397C-CB2F-E1AD-2626-9D9B3A78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300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95E45C-9617-26B1-31A4-DA295255F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6AE08E-3EFD-92CE-7761-84C827429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775567-896F-B02F-E317-0F4F5949A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490AB-CF56-93EE-209C-6FDF6BB6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E1D7D-8A82-99ED-B491-826CD23B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2036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2" descr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141393"/>
      </p:ext>
    </p:extLst>
  </p:cSld>
  <p:clrMapOvr>
    <a:masterClrMapping/>
  </p:clrMapOvr>
  <p:transition spd="med"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44F34B-527D-C66B-5B02-61B16B13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3745E9-716C-E6AE-7721-BB90019EC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DCA497-C1EA-0AAB-3A8B-D6CE602D7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ED895-A1D9-FC4C-95A4-98DCA9A56251}" type="datetimeFigureOut">
              <a:rPr kumimoji="1" lang="ko-KR" altLang="en-US" smtClean="0"/>
              <a:t>2025. 7. 11.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750E6-1DB8-38CC-4A6D-868F49002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08E54-CA9F-67E8-9C04-40CFB951A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A9B91-56E6-F343-A577-7808177B1CE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605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F0F473A-A3EA-71CD-EFDB-4B60FC54E621}"/>
              </a:ext>
            </a:extLst>
          </p:cNvPr>
          <p:cNvSpPr>
            <a:spLocks/>
          </p:cNvSpPr>
          <p:nvPr/>
        </p:nvSpPr>
        <p:spPr>
          <a:xfrm>
            <a:off x="427072" y="2053677"/>
            <a:ext cx="3433728" cy="1323746"/>
          </a:xfrm>
          <a:prstGeom prst="rect">
            <a:avLst/>
          </a:prstGeom>
          <a:solidFill>
            <a:srgbClr val="FFFFFF"/>
          </a:solidFill>
          <a:ln w="635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42FE66-CE12-3B3E-1E75-4A6F8B8DB25F}"/>
              </a:ext>
            </a:extLst>
          </p:cNvPr>
          <p:cNvSpPr txBox="1"/>
          <p:nvPr/>
        </p:nvSpPr>
        <p:spPr>
          <a:xfrm>
            <a:off x="418532" y="1669561"/>
            <a:ext cx="3581968" cy="307777"/>
          </a:xfrm>
          <a:prstGeom prst="homePlate">
            <a:avLst/>
          </a:prstGeom>
          <a:solidFill>
            <a:srgbClr val="8232C8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45720" rIns="0" bIns="45720" rtlCol="0" anchor="ctr"/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  <a:lvl2pPr marL="355600" indent="-177800" eaLnBrk="0" fontAlgn="base" hangingPunct="0"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Font typeface="JBold" pitchFamily="18" charset="-127"/>
              <a:buChar char="-"/>
              <a:defRPr kumimoji="1" sz="1400">
                <a:latin typeface="CJ ONLYONE Medium" pitchFamily="18" charset="-127"/>
                <a:ea typeface="CJ ONLYONE Medium" pitchFamily="18" charset="-127"/>
              </a:defRPr>
            </a:lvl2pPr>
            <a:lvl3pPr marL="534988" indent="-1778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400">
                <a:latin typeface="CJ ONLYONE Medium" pitchFamily="18" charset="-127"/>
                <a:ea typeface="CJ ONLYONE Medium" pitchFamily="18" charset="-127"/>
              </a:defRPr>
            </a:lvl3pPr>
            <a:lvl4pPr marL="714375" indent="-1793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buChar char="•"/>
              <a:defRPr kumimoji="1" sz="1400">
                <a:latin typeface="CJ ONLYONE Medium" pitchFamily="18" charset="-127"/>
                <a:ea typeface="CJ ONLYONE Medium" pitchFamily="18" charset="-127"/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비즈니스</a:t>
            </a:r>
            <a:r>
              <a:rPr lang="ko-KR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 및 조직 관점</a:t>
            </a:r>
            <a:endParaRPr lang="ko-KR" sz="1100" b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Regular"/>
              <a:ea typeface="CJ ONLYONE NEW 본문 Regula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0E549D-1B84-0592-F62C-0A0C02334690}"/>
              </a:ext>
            </a:extLst>
          </p:cNvPr>
          <p:cNvSpPr txBox="1"/>
          <p:nvPr/>
        </p:nvSpPr>
        <p:spPr>
          <a:xfrm>
            <a:off x="4280122" y="1667591"/>
            <a:ext cx="3581968" cy="307777"/>
          </a:xfrm>
          <a:prstGeom prst="homePlate">
            <a:avLst/>
          </a:prstGeom>
          <a:solidFill>
            <a:srgbClr val="8232C8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45720" rIns="0" bIns="45720" rtlCol="0" anchor="ctr"/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  <a:lvl2pPr marL="355600" indent="-177800" eaLnBrk="0" fontAlgn="base" hangingPunct="0"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Font typeface="JBold" pitchFamily="18" charset="-127"/>
              <a:buChar char="-"/>
              <a:defRPr kumimoji="1" sz="1400">
                <a:latin typeface="CJ ONLYONE Medium" pitchFamily="18" charset="-127"/>
                <a:ea typeface="CJ ONLYONE Medium" pitchFamily="18" charset="-127"/>
              </a:defRPr>
            </a:lvl2pPr>
            <a:lvl3pPr marL="534988" indent="-1778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400">
                <a:latin typeface="CJ ONLYONE Medium" pitchFamily="18" charset="-127"/>
                <a:ea typeface="CJ ONLYONE Medium" pitchFamily="18" charset="-127"/>
              </a:defRPr>
            </a:lvl3pPr>
            <a:lvl4pPr marL="714375" indent="-1793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buChar char="•"/>
              <a:defRPr kumimoji="1" sz="1400">
                <a:latin typeface="CJ ONLYONE Medium" pitchFamily="18" charset="-127"/>
                <a:ea typeface="CJ ONLYONE Medium" pitchFamily="18" charset="-127"/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아키텍처</a:t>
            </a:r>
            <a:r>
              <a:rPr lang="ko-KR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 및</a:t>
            </a:r>
            <a:r>
              <a:rPr lang="ko-KR" altLang="en-US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 </a:t>
            </a:r>
            <a:r>
              <a:rPr lang="ko-KR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기술관점</a:t>
            </a:r>
            <a:endParaRPr lang="ko-KR" sz="1100" b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Regular"/>
              <a:ea typeface="CJ ONLYONE NEW 본문 Regula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1482FF-3D23-1BCC-6C74-DDD59D4494BC}"/>
              </a:ext>
            </a:extLst>
          </p:cNvPr>
          <p:cNvSpPr txBox="1"/>
          <p:nvPr/>
        </p:nvSpPr>
        <p:spPr>
          <a:xfrm>
            <a:off x="8141712" y="1671531"/>
            <a:ext cx="3581968" cy="307777"/>
          </a:xfrm>
          <a:prstGeom prst="homePlate">
            <a:avLst/>
          </a:prstGeom>
          <a:solidFill>
            <a:srgbClr val="8232C8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45720" rIns="0" bIns="45720" rtlCol="0" anchor="ctr"/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  <a:lvl2pPr marL="355600" indent="-177800" eaLnBrk="0" fontAlgn="base" hangingPunct="0"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Font typeface="JBold" pitchFamily="18" charset="-127"/>
              <a:buChar char="-"/>
              <a:defRPr kumimoji="1" sz="1400">
                <a:latin typeface="CJ ONLYONE Medium" pitchFamily="18" charset="-127"/>
                <a:ea typeface="CJ ONLYONE Medium" pitchFamily="18" charset="-127"/>
              </a:defRPr>
            </a:lvl2pPr>
            <a:lvl3pPr marL="534988" indent="-1778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400">
                <a:latin typeface="CJ ONLYONE Medium" pitchFamily="18" charset="-127"/>
                <a:ea typeface="CJ ONLYONE Medium" pitchFamily="18" charset="-127"/>
              </a:defRPr>
            </a:lvl3pPr>
            <a:lvl4pPr marL="714375" indent="-1793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itchFamily="34" charset="0"/>
              <a:buChar char="•"/>
              <a:defRPr kumimoji="1" sz="1400">
                <a:latin typeface="CJ ONLYONE Medium" pitchFamily="18" charset="-127"/>
                <a:ea typeface="CJ ONLYONE Medium" pitchFamily="18" charset="-127"/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1400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sz="110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인프라</a:t>
            </a:r>
            <a:r>
              <a:rPr lang="en-US"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 및</a:t>
            </a:r>
            <a:r>
              <a:rPr lang="en-US" altLang="ko-KR"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 </a:t>
            </a:r>
            <a:r>
              <a:rPr lang="ko-KR" altLang="en-US"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운영</a:t>
            </a:r>
            <a:r>
              <a:rPr lang="en-US" altLang="ko-KR"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 </a:t>
            </a:r>
            <a:r>
              <a:rPr lang="ko-KR" altLang="en-US" sz="11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CJ ONLYONE NEW 본문 Regular"/>
                <a:ea typeface="CJ ONLYONE NEW 본문 Regular"/>
              </a:rPr>
              <a:t>관점</a:t>
            </a:r>
            <a:endParaRPr lang="en-US" altLang="ko-KR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B7B15A8E-84FE-F0E6-42C6-C715866440FD}"/>
              </a:ext>
            </a:extLst>
          </p:cNvPr>
          <p:cNvSpPr txBox="1"/>
          <p:nvPr/>
        </p:nvSpPr>
        <p:spPr>
          <a:xfrm>
            <a:off x="352987" y="1201930"/>
            <a:ext cx="1155422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>
              <a:defRPr spc="-60">
                <a:solidFill>
                  <a:srgbClr val="FFFFFF"/>
                </a:solidFill>
                <a:latin typeface="CJ ONLYONE NEW 제목 Bold"/>
                <a:ea typeface="CJ ONLYONE NEW 제목 Bold"/>
                <a:cs typeface="CJ ONLYONE NEW 제목 Bold"/>
                <a:sym typeface="CJ ONLYONE NEW 제목 Bold"/>
              </a:defRPr>
            </a:pPr>
            <a:r>
              <a:rPr lang="ko-KR" altLang="en-US">
                <a:solidFill>
                  <a:srgbClr val="006ECD"/>
                </a:solidFill>
              </a:rPr>
              <a:t>서비스</a:t>
            </a:r>
            <a:r>
              <a:rPr lang="en-US" altLang="ko-KR">
                <a:solidFill>
                  <a:srgbClr val="006ECD"/>
                </a:solidFill>
              </a:rPr>
              <a:t> </a:t>
            </a:r>
            <a:r>
              <a:rPr lang="ko-KR" altLang="en-US">
                <a:solidFill>
                  <a:srgbClr val="006ECD"/>
                </a:solidFill>
              </a:rPr>
              <a:t>분리에 따른 아키텍처 설계 및 관리 고려사항</a:t>
            </a: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24CA8D18-4622-7AA2-84B3-EE8BA14C0F0A}"/>
              </a:ext>
            </a:extLst>
          </p:cNvPr>
          <p:cNvSpPr txBox="1"/>
          <p:nvPr/>
        </p:nvSpPr>
        <p:spPr>
          <a:xfrm>
            <a:off x="232364" y="314125"/>
            <a:ext cx="11190280" cy="995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txBody>
          <a:bodyPr lIns="45719" rIns="45719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J ONLYONE NEW 제목 Bold"/>
                <a:ea typeface="CJ ONLYONE NEW 제목 Bold"/>
                <a:cs typeface="CJ ONLYONE NEW 제목 Bold"/>
                <a:sym typeface="CJ ONLYONE NEW 제목 Bold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r>
              <a:rPr lang="en-US"/>
              <a:t>MSA</a:t>
            </a:r>
            <a:r>
              <a:rPr lang="ko-KR" altLang="en-US"/>
              <a:t> 전환 고려사항</a:t>
            </a:r>
            <a:endParaRPr/>
          </a:p>
        </p:txBody>
      </p:sp>
      <p:sp>
        <p:nvSpPr>
          <p:cNvPr id="71" name="직사각형 13">
            <a:extLst>
              <a:ext uri="{FF2B5EF4-FFF2-40B4-BE49-F238E27FC236}">
                <a16:creationId xmlns:a16="http://schemas.microsoft.com/office/drawing/2014/main" id="{AA7EEC76-127A-A186-8141-7A830771F8E1}"/>
              </a:ext>
            </a:extLst>
          </p:cNvPr>
          <p:cNvSpPr/>
          <p:nvPr/>
        </p:nvSpPr>
        <p:spPr bwMode="gray">
          <a:xfrm>
            <a:off x="425061" y="2053676"/>
            <a:ext cx="3436580" cy="232260"/>
          </a:xfrm>
          <a:prstGeom prst="rect">
            <a:avLst/>
          </a:prstGeom>
          <a:solidFill>
            <a:srgbClr val="640FAF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CJ ONLYONE NEW 본문 Light"/>
              </a:rPr>
              <a:t>명확한</a:t>
            </a:r>
            <a:r>
              <a:rPr lang="en-US" sz="1000" dirty="0">
                <a:solidFill>
                  <a:schemeClr val="bg1"/>
                </a:solidFill>
                <a:latin typeface="CJ ONLYONE NEW 본문 Light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J ONLYONE NEW 본문 Light"/>
              </a:rPr>
              <a:t>목표</a:t>
            </a:r>
            <a:r>
              <a:rPr lang="en-US" sz="1000" dirty="0">
                <a:solidFill>
                  <a:schemeClr val="bg1"/>
                </a:solidFill>
                <a:latin typeface="CJ ONLYONE NEW 본문 Light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J ONLYONE NEW 본문 Light"/>
              </a:rPr>
              <a:t>및</a:t>
            </a:r>
            <a:r>
              <a:rPr lang="en-US" sz="1000" dirty="0">
                <a:solidFill>
                  <a:schemeClr val="bg1"/>
                </a:solidFill>
                <a:latin typeface="CJ ONLYONE NEW 본문 Light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J ONLYONE NEW 본문 Light"/>
              </a:rPr>
              <a:t>요구사항</a:t>
            </a:r>
            <a:r>
              <a:rPr lang="en-US" sz="1000" dirty="0">
                <a:solidFill>
                  <a:schemeClr val="bg1"/>
                </a:solidFill>
                <a:latin typeface="CJ ONLYONE NEW 본문 Light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CJ ONLYONE NEW 본문 Light"/>
              </a:rPr>
              <a:t>정의</a:t>
            </a:r>
            <a:endParaRPr lang="en-US" sz="1000" dirty="0">
              <a:solidFill>
                <a:schemeClr val="bg1"/>
              </a:solidFill>
              <a:latin typeface="CJ ONLYONE NEW 본문 Ligh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3EDD76-F1F8-3841-70FF-D6582B182C03}"/>
              </a:ext>
            </a:extLst>
          </p:cNvPr>
          <p:cNvSpPr txBox="1"/>
          <p:nvPr/>
        </p:nvSpPr>
        <p:spPr>
          <a:xfrm>
            <a:off x="432132" y="2797224"/>
            <a:ext cx="3249332" cy="504628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전환 목표와 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KPI</a:t>
            </a:r>
            <a:r>
              <a:rPr lang="ko-KR" altLang="en-US" sz="80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를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 </a:t>
            </a:r>
            <a:r>
              <a:rPr 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문서화</a:t>
            </a:r>
            <a:endParaRPr lang="en-US" altLang="ko-KR" sz="800" dirty="0">
              <a:latin typeface="CJ ONLYONE NEW 본문 Ligh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도입 전 사전 진단 및 ROI 분석 실시</a:t>
            </a:r>
            <a:endParaRPr lang="en-US" altLang="ko-KR" sz="800" dirty="0">
              <a:latin typeface="CJ ONLYONE NEW 본문 Ligh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주요 이해관계자와의 워크숍 및 소통 강화</a:t>
            </a:r>
            <a:endParaRPr lang="ko-KR" sz="800" dirty="0">
              <a:latin typeface="CJ ONLYONE NEW 본문 Light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9238F75-B67C-F70A-124E-28C6592E9CE4}"/>
              </a:ext>
            </a:extLst>
          </p:cNvPr>
          <p:cNvSpPr>
            <a:spLocks/>
          </p:cNvSpPr>
          <p:nvPr/>
        </p:nvSpPr>
        <p:spPr>
          <a:xfrm>
            <a:off x="420543" y="3563831"/>
            <a:ext cx="3433728" cy="1323746"/>
          </a:xfrm>
          <a:prstGeom prst="rect">
            <a:avLst/>
          </a:prstGeom>
          <a:solidFill>
            <a:srgbClr val="FFFFFF"/>
          </a:solidFill>
          <a:ln w="635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4" name="직사각형 13">
            <a:extLst>
              <a:ext uri="{FF2B5EF4-FFF2-40B4-BE49-F238E27FC236}">
                <a16:creationId xmlns:a16="http://schemas.microsoft.com/office/drawing/2014/main" id="{B5213328-4D2C-60DB-D123-C8A5498FF59A}"/>
              </a:ext>
            </a:extLst>
          </p:cNvPr>
          <p:cNvSpPr/>
          <p:nvPr/>
        </p:nvSpPr>
        <p:spPr bwMode="gray">
          <a:xfrm>
            <a:off x="418532" y="3563830"/>
            <a:ext cx="3436580" cy="232260"/>
          </a:xfrm>
          <a:prstGeom prst="rect">
            <a:avLst/>
          </a:prstGeom>
          <a:solidFill>
            <a:srgbClr val="640FAF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CJ ONLYONE NEW 본문 Light"/>
              </a:rPr>
              <a:t>조직 구조 및 문화 변화</a:t>
            </a:r>
            <a:endParaRPr lang="en-US" sz="1000" dirty="0">
              <a:solidFill>
                <a:schemeClr val="bg1"/>
              </a:solidFill>
              <a:latin typeface="CJ ONLYONE NEW 본문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96B1CA-814D-70FB-19B5-AE04FB47F54D}"/>
              </a:ext>
            </a:extLst>
          </p:cNvPr>
          <p:cNvSpPr txBox="1"/>
          <p:nvPr/>
        </p:nvSpPr>
        <p:spPr>
          <a:xfrm>
            <a:off x="425603" y="4307378"/>
            <a:ext cx="3249332" cy="504628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비즈니스 도메인 중심의 팀 재편성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DevOps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및 애자일 문화 도입</a:t>
            </a:r>
            <a:endParaRPr lang="en-US" altLang="ko-KR" sz="800" dirty="0">
              <a:latin typeface="CJ ONLYONE NEW 본문 Ligh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교육 및 내부 역량 강화 프로그램 운영</a:t>
            </a:r>
            <a:endParaRPr lang="ko-KR" sz="800" dirty="0">
              <a:latin typeface="CJ ONLYONE NEW 본문 Light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49FD26-510F-9885-207E-CD421790A6F5}"/>
              </a:ext>
            </a:extLst>
          </p:cNvPr>
          <p:cNvSpPr>
            <a:spLocks/>
          </p:cNvSpPr>
          <p:nvPr/>
        </p:nvSpPr>
        <p:spPr>
          <a:xfrm>
            <a:off x="4275783" y="2053677"/>
            <a:ext cx="3433728" cy="1323746"/>
          </a:xfrm>
          <a:prstGeom prst="rect">
            <a:avLst/>
          </a:prstGeom>
          <a:solidFill>
            <a:srgbClr val="FFFFFF"/>
          </a:solidFill>
          <a:ln w="635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6" name="직사각형 13">
            <a:extLst>
              <a:ext uri="{FF2B5EF4-FFF2-40B4-BE49-F238E27FC236}">
                <a16:creationId xmlns:a16="http://schemas.microsoft.com/office/drawing/2014/main" id="{36CC08F2-19B8-F0A6-59CF-246978954A6A}"/>
              </a:ext>
            </a:extLst>
          </p:cNvPr>
          <p:cNvSpPr/>
          <p:nvPr/>
        </p:nvSpPr>
        <p:spPr bwMode="gray">
          <a:xfrm>
            <a:off x="4273772" y="2053676"/>
            <a:ext cx="3436580" cy="232260"/>
          </a:xfrm>
          <a:prstGeom prst="rect">
            <a:avLst/>
          </a:prstGeom>
          <a:solidFill>
            <a:srgbClr val="640FAF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CJ ONLYONE NEW 본문 Light"/>
              </a:rPr>
              <a:t>서비스 분할 전략</a:t>
            </a:r>
            <a:endParaRPr lang="en-US" sz="1000" dirty="0">
              <a:solidFill>
                <a:schemeClr val="bg1"/>
              </a:solidFill>
              <a:latin typeface="CJ ONLYONE NEW 본문 Ligh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BAB1C5-6451-323E-E703-E0F6BDFC8D94}"/>
              </a:ext>
            </a:extLst>
          </p:cNvPr>
          <p:cNvSpPr txBox="1"/>
          <p:nvPr/>
        </p:nvSpPr>
        <p:spPr>
          <a:xfrm>
            <a:off x="4293905" y="2797224"/>
            <a:ext cx="3249332" cy="504628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비즈니스 로직 중심의 서비스 경계 설계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Event Storming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등 도메인 분석 기법 활용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큰 단위로 분리 후 점진적으로 세분화</a:t>
            </a:r>
            <a:endParaRPr lang="ko-KR" sz="800" dirty="0">
              <a:latin typeface="CJ ONLYONE NEW 본문 Light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13D0506-5D4B-6BD6-BA10-701FA6EF4E3C}"/>
              </a:ext>
            </a:extLst>
          </p:cNvPr>
          <p:cNvSpPr>
            <a:spLocks/>
          </p:cNvSpPr>
          <p:nvPr/>
        </p:nvSpPr>
        <p:spPr>
          <a:xfrm>
            <a:off x="4275783" y="3555323"/>
            <a:ext cx="3433728" cy="1323746"/>
          </a:xfrm>
          <a:prstGeom prst="rect">
            <a:avLst/>
          </a:prstGeom>
          <a:solidFill>
            <a:srgbClr val="FFFFFF"/>
          </a:solidFill>
          <a:ln w="635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54" name="직사각형 13">
            <a:extLst>
              <a:ext uri="{FF2B5EF4-FFF2-40B4-BE49-F238E27FC236}">
                <a16:creationId xmlns:a16="http://schemas.microsoft.com/office/drawing/2014/main" id="{2E8F8225-5B62-0F55-DF87-832D5567F6E5}"/>
              </a:ext>
            </a:extLst>
          </p:cNvPr>
          <p:cNvSpPr/>
          <p:nvPr/>
        </p:nvSpPr>
        <p:spPr bwMode="gray">
          <a:xfrm>
            <a:off x="4273772" y="3555322"/>
            <a:ext cx="3436580" cy="232260"/>
          </a:xfrm>
          <a:prstGeom prst="rect">
            <a:avLst/>
          </a:prstGeom>
          <a:solidFill>
            <a:srgbClr val="640FAF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CJ ONLYONE NEW 본문 Light"/>
              </a:rPr>
              <a:t>데이터베이스 및 데이터 관리</a:t>
            </a:r>
            <a:endParaRPr lang="en-US" sz="1000" dirty="0">
              <a:solidFill>
                <a:schemeClr val="bg1"/>
              </a:solidFill>
              <a:latin typeface="CJ ONLYONE NEW 본문 Ligh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1F34D0-6638-D8D7-FADF-2FD5D76F2B08}"/>
              </a:ext>
            </a:extLst>
          </p:cNvPr>
          <p:cNvSpPr txBox="1"/>
          <p:nvPr/>
        </p:nvSpPr>
        <p:spPr>
          <a:xfrm>
            <a:off x="4293905" y="4298870"/>
            <a:ext cx="3249332" cy="504628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36000" rIns="36000" bIns="36000" rtlCol="0" anchor="ctr" anchorCtr="0">
            <a:noAutofit/>
          </a:bodyPr>
          <a:lstStyle/>
          <a:p>
            <a:endParaRPr lang="ko-KR" altLang="en-US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서비스별 독립 데이터베이스 원칙 적용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데이터 마이그레이션 및 동기화 전략 수립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eventual consistency, SAGA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패턴 등 분산 트랜잭션 처리 방안 도입</a:t>
            </a:r>
            <a:endParaRPr lang="ko-KR" sz="800" dirty="0">
              <a:latin typeface="CJ ONLYONE NEW 본문 Light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6AD073E-4C03-AB32-6191-B92AD146F4B5}"/>
              </a:ext>
            </a:extLst>
          </p:cNvPr>
          <p:cNvSpPr>
            <a:spLocks/>
          </p:cNvSpPr>
          <p:nvPr/>
        </p:nvSpPr>
        <p:spPr>
          <a:xfrm>
            <a:off x="4275484" y="5088112"/>
            <a:ext cx="3433728" cy="1323746"/>
          </a:xfrm>
          <a:prstGeom prst="rect">
            <a:avLst/>
          </a:prstGeom>
          <a:solidFill>
            <a:srgbClr val="FFFFFF"/>
          </a:solidFill>
          <a:ln w="635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63" name="직사각형 13">
            <a:extLst>
              <a:ext uri="{FF2B5EF4-FFF2-40B4-BE49-F238E27FC236}">
                <a16:creationId xmlns:a16="http://schemas.microsoft.com/office/drawing/2014/main" id="{7FDAAB1D-33A0-536B-E814-BE652CBC4EE4}"/>
              </a:ext>
            </a:extLst>
          </p:cNvPr>
          <p:cNvSpPr/>
          <p:nvPr/>
        </p:nvSpPr>
        <p:spPr bwMode="gray">
          <a:xfrm>
            <a:off x="4273473" y="5088111"/>
            <a:ext cx="3436580" cy="232260"/>
          </a:xfrm>
          <a:prstGeom prst="rect">
            <a:avLst/>
          </a:prstGeom>
          <a:solidFill>
            <a:srgbClr val="640FAF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CJ ONLYONE NEW 본문 Light"/>
              </a:rPr>
              <a:t>서비스 간 통신 및 </a:t>
            </a:r>
            <a:r>
              <a:rPr lang="en" altLang="ko-KR" sz="1000" dirty="0">
                <a:solidFill>
                  <a:schemeClr val="bg1"/>
                </a:solidFill>
                <a:latin typeface="CJ ONLYONE NEW 본문 Light"/>
              </a:rPr>
              <a:t>API </a:t>
            </a:r>
            <a:r>
              <a:rPr lang="ko-KR" altLang="en-US" sz="1000" dirty="0">
                <a:solidFill>
                  <a:schemeClr val="bg1"/>
                </a:solidFill>
                <a:latin typeface="CJ ONLYONE NEW 본문 Light"/>
              </a:rPr>
              <a:t>설계</a:t>
            </a:r>
            <a:endParaRPr lang="en-US" sz="1000" dirty="0">
              <a:solidFill>
                <a:schemeClr val="bg1"/>
              </a:solidFill>
              <a:latin typeface="CJ ONLYONE NEW 본문 Ligh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679C061-DC66-01F5-1A6A-7A67A7D95361}"/>
              </a:ext>
            </a:extLst>
          </p:cNvPr>
          <p:cNvSpPr txBox="1"/>
          <p:nvPr/>
        </p:nvSpPr>
        <p:spPr>
          <a:xfrm>
            <a:off x="4293606" y="5831659"/>
            <a:ext cx="3249332" cy="504628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RESTful API, </a:t>
            </a:r>
            <a:r>
              <a:rPr lang="en" altLang="ko-KR" sz="80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gRPC</a:t>
            </a:r>
            <a:r>
              <a:rPr lang="en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등 적합한 통신 방식 선택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API Gateway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및 서비스 디스커버리 도입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Circuit Breaker, Retry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등 장애 대응 패턴 적용</a:t>
            </a:r>
            <a:endParaRPr lang="ko-KR" sz="800" dirty="0">
              <a:latin typeface="CJ ONLYONE NEW 본문 Light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6C8867A-E9A8-8FEA-371C-5585189EDE73}"/>
              </a:ext>
            </a:extLst>
          </p:cNvPr>
          <p:cNvSpPr>
            <a:spLocks/>
          </p:cNvSpPr>
          <p:nvPr/>
        </p:nvSpPr>
        <p:spPr>
          <a:xfrm>
            <a:off x="8143723" y="2050559"/>
            <a:ext cx="3433728" cy="1323746"/>
          </a:xfrm>
          <a:prstGeom prst="rect">
            <a:avLst/>
          </a:prstGeom>
          <a:solidFill>
            <a:srgbClr val="FFFFFF"/>
          </a:solidFill>
          <a:ln w="635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0" name="직사각형 13">
            <a:extLst>
              <a:ext uri="{FF2B5EF4-FFF2-40B4-BE49-F238E27FC236}">
                <a16:creationId xmlns:a16="http://schemas.microsoft.com/office/drawing/2014/main" id="{A76B513A-6A83-FC43-8A76-CFA4FA76C789}"/>
              </a:ext>
            </a:extLst>
          </p:cNvPr>
          <p:cNvSpPr/>
          <p:nvPr/>
        </p:nvSpPr>
        <p:spPr bwMode="gray">
          <a:xfrm>
            <a:off x="8141712" y="2050558"/>
            <a:ext cx="3436580" cy="232260"/>
          </a:xfrm>
          <a:prstGeom prst="rect">
            <a:avLst/>
          </a:prstGeom>
          <a:solidFill>
            <a:srgbClr val="640FAF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CJ ONLYONE NEW 본문 Light"/>
              </a:rPr>
              <a:t>배포 및 운영 자동화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194075-04BA-349F-022C-91766A7ED8F4}"/>
              </a:ext>
            </a:extLst>
          </p:cNvPr>
          <p:cNvSpPr txBox="1"/>
          <p:nvPr/>
        </p:nvSpPr>
        <p:spPr>
          <a:xfrm>
            <a:off x="8148783" y="2794106"/>
            <a:ext cx="3249332" cy="504628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CI/CD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파이프라인 구축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컨테이너 오케스트레이션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(Kubernetes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등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)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도입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자동화된 모니터링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,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로깅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,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알람 시스템 구축</a:t>
            </a:r>
            <a:endParaRPr lang="ko-KR" sz="800" dirty="0">
              <a:latin typeface="CJ ONLYONE NEW 본문 Light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92E2027-06DB-0DA8-59C1-C0D01E04274A}"/>
              </a:ext>
            </a:extLst>
          </p:cNvPr>
          <p:cNvSpPr>
            <a:spLocks/>
          </p:cNvSpPr>
          <p:nvPr/>
        </p:nvSpPr>
        <p:spPr>
          <a:xfrm>
            <a:off x="8143723" y="3552205"/>
            <a:ext cx="3433728" cy="1323746"/>
          </a:xfrm>
          <a:prstGeom prst="rect">
            <a:avLst/>
          </a:prstGeom>
          <a:solidFill>
            <a:srgbClr val="FFFFFF"/>
          </a:solidFill>
          <a:ln w="635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0" name="직사각형 13">
            <a:extLst>
              <a:ext uri="{FF2B5EF4-FFF2-40B4-BE49-F238E27FC236}">
                <a16:creationId xmlns:a16="http://schemas.microsoft.com/office/drawing/2014/main" id="{D75291E6-93B4-4698-D58C-42FE482E237A}"/>
              </a:ext>
            </a:extLst>
          </p:cNvPr>
          <p:cNvSpPr/>
          <p:nvPr/>
        </p:nvSpPr>
        <p:spPr bwMode="gray">
          <a:xfrm>
            <a:off x="8141712" y="3552204"/>
            <a:ext cx="3436580" cy="232260"/>
          </a:xfrm>
          <a:prstGeom prst="rect">
            <a:avLst/>
          </a:prstGeom>
          <a:solidFill>
            <a:srgbClr val="640FAF"/>
          </a:solidFill>
          <a:ln w="63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CJ ONLYONE NEW 본문 Light"/>
              </a:rPr>
              <a:t> 보안 및 인증</a:t>
            </a:r>
            <a:endParaRPr lang="en-US" sz="1000" dirty="0">
              <a:solidFill>
                <a:schemeClr val="bg1"/>
              </a:solidFill>
              <a:latin typeface="CJ ONLYONE NEW 본문 Ligh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C6A06F-FEA8-EB30-2EDF-DB89A0B8D632}"/>
              </a:ext>
            </a:extLst>
          </p:cNvPr>
          <p:cNvSpPr txBox="1"/>
          <p:nvPr/>
        </p:nvSpPr>
        <p:spPr>
          <a:xfrm>
            <a:off x="8148783" y="4295752"/>
            <a:ext cx="3249332" cy="504628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중앙 집중형 인증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(</a:t>
            </a:r>
            <a:r>
              <a:rPr lang="en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SSO, OAuth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등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)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및 </a:t>
            </a:r>
            <a:r>
              <a:rPr lang="en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API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  <a:ea typeface="+mj-lt"/>
                <a:cs typeface="+mj-lt"/>
              </a:rPr>
              <a:t>보안 적용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  <a:ea typeface="+mj-lt"/>
              <a:cs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CJ ONLYONE NEW 본문 Light"/>
              </a:rPr>
              <a:t>서비스별 취약점 점검 및 보안 정책 수립</a:t>
            </a:r>
            <a:endParaRPr lang="ko-KR" sz="800" dirty="0">
              <a:latin typeface="CJ ONLYONE NEW 본문 Light"/>
            </a:endParaRPr>
          </a:p>
        </p:txBody>
      </p:sp>
      <p:sp>
        <p:nvSpPr>
          <p:cNvPr id="83" name="페이지 연결자 82">
            <a:extLst>
              <a:ext uri="{FF2B5EF4-FFF2-40B4-BE49-F238E27FC236}">
                <a16:creationId xmlns:a16="http://schemas.microsoft.com/office/drawing/2014/main" id="{D9F9DC37-5E27-018B-3C7D-DC7FE405A817}"/>
              </a:ext>
            </a:extLst>
          </p:cNvPr>
          <p:cNvSpPr/>
          <p:nvPr/>
        </p:nvSpPr>
        <p:spPr>
          <a:xfrm>
            <a:off x="432131" y="2282819"/>
            <a:ext cx="3427013" cy="504628"/>
          </a:xfrm>
          <a:prstGeom prst="flowChartOffpageConnector">
            <a:avLst/>
          </a:prstGeom>
          <a:solidFill>
            <a:srgbClr val="F2F2F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4" name="페이지 연결자 83">
            <a:extLst>
              <a:ext uri="{FF2B5EF4-FFF2-40B4-BE49-F238E27FC236}">
                <a16:creationId xmlns:a16="http://schemas.microsoft.com/office/drawing/2014/main" id="{13D152C3-C276-D6B4-E629-BDDCE6DD2E40}"/>
              </a:ext>
            </a:extLst>
          </p:cNvPr>
          <p:cNvSpPr/>
          <p:nvPr/>
        </p:nvSpPr>
        <p:spPr>
          <a:xfrm>
            <a:off x="4287075" y="2282819"/>
            <a:ext cx="3422138" cy="504628"/>
          </a:xfrm>
          <a:prstGeom prst="flowChartOffpageConnector">
            <a:avLst/>
          </a:prstGeom>
          <a:solidFill>
            <a:srgbClr val="F2F2F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6" name="페이지 연결자 85">
            <a:extLst>
              <a:ext uri="{FF2B5EF4-FFF2-40B4-BE49-F238E27FC236}">
                <a16:creationId xmlns:a16="http://schemas.microsoft.com/office/drawing/2014/main" id="{07D02423-D591-F36C-BF84-19F4C7653D2F}"/>
              </a:ext>
            </a:extLst>
          </p:cNvPr>
          <p:cNvSpPr/>
          <p:nvPr/>
        </p:nvSpPr>
        <p:spPr>
          <a:xfrm>
            <a:off x="8148782" y="3784465"/>
            <a:ext cx="3427013" cy="504628"/>
          </a:xfrm>
          <a:prstGeom prst="flowChartOffpageConnector">
            <a:avLst/>
          </a:prstGeom>
          <a:solidFill>
            <a:srgbClr val="F2F2F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7" name="페이지 연결자 86">
            <a:extLst>
              <a:ext uri="{FF2B5EF4-FFF2-40B4-BE49-F238E27FC236}">
                <a16:creationId xmlns:a16="http://schemas.microsoft.com/office/drawing/2014/main" id="{3E24D167-DD08-F467-C5BE-C3B35EAAA849}"/>
              </a:ext>
            </a:extLst>
          </p:cNvPr>
          <p:cNvSpPr/>
          <p:nvPr/>
        </p:nvSpPr>
        <p:spPr>
          <a:xfrm>
            <a:off x="4293606" y="3779394"/>
            <a:ext cx="3415606" cy="504628"/>
          </a:xfrm>
          <a:prstGeom prst="flowChartOffpageConnector">
            <a:avLst/>
          </a:prstGeom>
          <a:solidFill>
            <a:srgbClr val="F2F2F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8" name="페이지 연결자 87">
            <a:extLst>
              <a:ext uri="{FF2B5EF4-FFF2-40B4-BE49-F238E27FC236}">
                <a16:creationId xmlns:a16="http://schemas.microsoft.com/office/drawing/2014/main" id="{2E05704F-4708-BA53-B485-0BA6AC027AF6}"/>
              </a:ext>
            </a:extLst>
          </p:cNvPr>
          <p:cNvSpPr/>
          <p:nvPr/>
        </p:nvSpPr>
        <p:spPr>
          <a:xfrm>
            <a:off x="4293606" y="5333497"/>
            <a:ext cx="3415606" cy="504628"/>
          </a:xfrm>
          <a:prstGeom prst="flowChartOffpageConnector">
            <a:avLst/>
          </a:prstGeom>
          <a:solidFill>
            <a:srgbClr val="F2F2F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9" name="페이지 연결자 88">
            <a:extLst>
              <a:ext uri="{FF2B5EF4-FFF2-40B4-BE49-F238E27FC236}">
                <a16:creationId xmlns:a16="http://schemas.microsoft.com/office/drawing/2014/main" id="{0B6BD518-A299-E04E-8104-8DEEE1E81045}"/>
              </a:ext>
            </a:extLst>
          </p:cNvPr>
          <p:cNvSpPr/>
          <p:nvPr/>
        </p:nvSpPr>
        <p:spPr>
          <a:xfrm>
            <a:off x="432131" y="3790313"/>
            <a:ext cx="3413749" cy="504628"/>
          </a:xfrm>
          <a:prstGeom prst="flowChartOffpageConnector">
            <a:avLst/>
          </a:prstGeom>
          <a:solidFill>
            <a:srgbClr val="F2F2F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67CE3D-04A4-DCA4-456D-0D6D5B348807}"/>
              </a:ext>
            </a:extLst>
          </p:cNvPr>
          <p:cNvSpPr txBox="1"/>
          <p:nvPr/>
        </p:nvSpPr>
        <p:spPr>
          <a:xfrm>
            <a:off x="429409" y="2295946"/>
            <a:ext cx="3253193" cy="32661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MSA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 전환의</a:t>
            </a:r>
            <a:r>
              <a:rPr 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목적과 기대 효과를 명확히 </a:t>
            </a:r>
            <a:r>
              <a:rPr 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설정</a:t>
            </a:r>
            <a:endParaRPr lang="en-US" altLang="ko-KR" sz="800" dirty="0">
              <a:latin typeface="CJ ONLYONE NEW 본문 Light"/>
            </a:endParaRPr>
          </a:p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비즈니스 요구사항 및 현재 시스템의 문제점 분석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1B0039-5F14-3E3D-8F52-F67BE1692B39}"/>
              </a:ext>
            </a:extLst>
          </p:cNvPr>
          <p:cNvSpPr txBox="1"/>
          <p:nvPr/>
        </p:nvSpPr>
        <p:spPr>
          <a:xfrm>
            <a:off x="432131" y="3806100"/>
            <a:ext cx="3240916" cy="40161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자율적이고 책임감 있는 팀 운영 필요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</a:endParaRPr>
          </a:p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기존 부서 간 협업 방식 변화 요구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54501A-2995-5F2D-B624-8402165F0D2F}"/>
              </a:ext>
            </a:extLst>
          </p:cNvPr>
          <p:cNvSpPr txBox="1"/>
          <p:nvPr/>
        </p:nvSpPr>
        <p:spPr>
          <a:xfrm>
            <a:off x="4284651" y="2295946"/>
            <a:ext cx="3253193" cy="32661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서비스 경계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(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도메인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)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설정의 어려움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</a:endParaRPr>
          </a:p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과도한 세분화로 인한 복잡성 증가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F7DA2B-EB55-614E-6F23-394D78ECFEBB}"/>
              </a:ext>
            </a:extLst>
          </p:cNvPr>
          <p:cNvSpPr txBox="1"/>
          <p:nvPr/>
        </p:nvSpPr>
        <p:spPr>
          <a:xfrm>
            <a:off x="4284651" y="3797592"/>
            <a:ext cx="3253193" cy="32661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데이터베이스 공유로 인한 결합도 증가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</a:endParaRPr>
          </a:p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데이터 일관성 및 분산 트랜잭션 문제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F2E07C-8344-C831-1C7D-0F05168FC3DE}"/>
              </a:ext>
            </a:extLst>
          </p:cNvPr>
          <p:cNvSpPr txBox="1"/>
          <p:nvPr/>
        </p:nvSpPr>
        <p:spPr>
          <a:xfrm>
            <a:off x="4284352" y="5330381"/>
            <a:ext cx="3253193" cy="32661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서비스 간 통신 방식 및 </a:t>
            </a:r>
            <a:r>
              <a:rPr lang="en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API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표준화 필요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</a:endParaRPr>
          </a:p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네트워크 장애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,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지연 등 분산 환경의 복잡성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8F499BD-A6D1-EF12-1B1F-2BA9A917C159}"/>
              </a:ext>
            </a:extLst>
          </p:cNvPr>
          <p:cNvSpPr txBox="1"/>
          <p:nvPr/>
        </p:nvSpPr>
        <p:spPr>
          <a:xfrm>
            <a:off x="8146060" y="3794474"/>
            <a:ext cx="3253193" cy="32661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서비스별 개별 보안 정책 필요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</a:endParaRPr>
          </a:p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인증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/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인가</a:t>
            </a:r>
            <a:r>
              <a:rPr lang="en-US" altLang="ko-KR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, </a:t>
            </a: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데이터 암호화 등 보안 강화 요구</a:t>
            </a:r>
          </a:p>
        </p:txBody>
      </p:sp>
      <p:sp>
        <p:nvSpPr>
          <p:cNvPr id="85" name="페이지 연결자 84">
            <a:extLst>
              <a:ext uri="{FF2B5EF4-FFF2-40B4-BE49-F238E27FC236}">
                <a16:creationId xmlns:a16="http://schemas.microsoft.com/office/drawing/2014/main" id="{EB6EA197-D5FE-555A-E5C3-9D0FE9A6509C}"/>
              </a:ext>
            </a:extLst>
          </p:cNvPr>
          <p:cNvSpPr/>
          <p:nvPr/>
        </p:nvSpPr>
        <p:spPr>
          <a:xfrm>
            <a:off x="8148782" y="2276469"/>
            <a:ext cx="3427013" cy="504628"/>
          </a:xfrm>
          <a:prstGeom prst="flowChartOffpageConnector">
            <a:avLst/>
          </a:prstGeom>
          <a:solidFill>
            <a:srgbClr val="F2F2F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FEDDB4-9741-DE23-2C33-F515400B060B}"/>
              </a:ext>
            </a:extLst>
          </p:cNvPr>
          <p:cNvSpPr txBox="1"/>
          <p:nvPr/>
        </p:nvSpPr>
        <p:spPr>
          <a:xfrm>
            <a:off x="8146060" y="2292828"/>
            <a:ext cx="3253193" cy="32661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서비스별 독립적 배포 체계 필요</a:t>
            </a:r>
            <a:endParaRPr lang="en-US" altLang="ko-KR" sz="80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latin typeface="CJ ONLYONE NEW 본문 Light"/>
            </a:endParaRPr>
          </a:p>
          <a:p>
            <a:pPr marL="171450" indent="-171450">
              <a:buFont typeface="Arial"/>
              <a:buChar char="•"/>
            </a:pPr>
            <a:r>
              <a:rPr lang="ko-KR" altLang="en-US" sz="8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CJ ONLYONE NEW 본문 Light"/>
              </a:rPr>
              <a:t>운영 및 장애 대응 복잡성 증가</a:t>
            </a:r>
          </a:p>
        </p:txBody>
      </p:sp>
    </p:spTree>
    <p:extLst>
      <p:ext uri="{BB962C8B-B14F-4D97-AF65-F5344CB8AC3E}">
        <p14:creationId xmlns:p14="http://schemas.microsoft.com/office/powerpoint/2010/main" val="18166547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Macintosh PowerPoint</Application>
  <PresentationFormat>와이드스크린</PresentationFormat>
  <Paragraphs>47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CJ ONLYONE NEW 본문 Light</vt:lpstr>
      <vt:lpstr>CJ ONLYONE NEW 본문 Regular</vt:lpstr>
      <vt:lpstr>CJ ONLYONE NEW 제목 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2025-07-11T06:00:16Z</dcterms:created>
  <dc:creator>전여철님;cj:lsf9iXShfE1irs9W+wQuQ15tJpk=∥deadman55@cj.net;</dc:creator>
  <cp:lastModifiedBy>전여철님</cp:lastModifiedBy>
  <dcterms:modified xsi:type="dcterms:W3CDTF">2025-07-11T06:00:57Z</dcterms:modified>
  <cp:revision>1</cp:revision>
  <dc:title>PowerPoint 프레젠테이션</dc:title>
</cp:coreProperties>
</file>