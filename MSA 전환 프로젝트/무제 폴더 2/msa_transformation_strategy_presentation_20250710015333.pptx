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7142"/>
  <p:notesSz cx="12192000" cy="10134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theme/theme1.xml" Type="http://schemas.openxmlformats.org/officeDocument/2006/relationships/theme"/><Relationship Id="rId3" Target="viewProps.xml" Type="http://schemas.openxmlformats.org/officeDocument/2006/relationships/viewProps"/><Relationship Id="rId4" Target="presProps.xml" Type="http://schemas.openxmlformats.org/officeDocument/2006/relationships/presProps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748026"/>
            <a:ext cx="10363200" cy="18615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4964176"/>
            <a:ext cx="8534400" cy="221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2038858"/>
            <a:ext cx="5303520" cy="5850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2038858"/>
            <a:ext cx="5303520" cy="5850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33450"/>
          </a:xfrm>
          <a:custGeom>
            <a:avLst/>
            <a:gdLst/>
            <a:ahLst/>
            <a:cxnLst/>
            <a:rect l="l" t="t" r="r" b="b"/>
            <a:pathLst>
              <a:path w="12192000" h="933450">
                <a:moveTo>
                  <a:pt x="12191999" y="933449"/>
                </a:moveTo>
                <a:lnTo>
                  <a:pt x="0" y="9334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33449"/>
                </a:lnTo>
                <a:close/>
              </a:path>
            </a:pathLst>
          </a:custGeom>
          <a:solidFill>
            <a:srgbClr val="D545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33450"/>
          </a:xfrm>
          <a:custGeom>
            <a:avLst/>
            <a:gdLst/>
            <a:ahLst/>
            <a:cxnLst/>
            <a:rect l="l" t="t" r="r" b="b"/>
            <a:pathLst>
              <a:path w="12192000" h="933450">
                <a:moveTo>
                  <a:pt x="12191999" y="933449"/>
                </a:moveTo>
                <a:lnTo>
                  <a:pt x="0" y="9334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3344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87186"/>
            <a:ext cx="2839085" cy="70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038858"/>
            <a:ext cx="10972800" cy="58506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949234" y="8379308"/>
            <a:ext cx="951229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8244078"/>
            <a:ext cx="2804160" cy="44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8244078"/>
            <a:ext cx="2804160" cy="44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10" Target="../media/image28.pn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png" Type="http://schemas.openxmlformats.org/officeDocument/2006/relationships/image"/><Relationship Id="rId16" Target="../media/image58.png" Type="http://schemas.openxmlformats.org/officeDocument/2006/relationships/image"/><Relationship Id="rId17" Target="../media/image16.png" Type="http://schemas.openxmlformats.org/officeDocument/2006/relationships/image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16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Executive</a:t>
            </a:r>
            <a:r>
              <a:rPr dirty="0" spc="-65"/>
              <a:t> </a:t>
            </a:r>
            <a:r>
              <a:rPr dirty="0" spc="-10"/>
              <a:t>Summary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500" b="0">
                <a:latin typeface="Segoe UI"/>
                <a:cs typeface="Segoe UI"/>
              </a:rPr>
              <a:t>MSA</a:t>
            </a:r>
            <a:r>
              <a:rPr dirty="0" sz="1500" spc="-20" b="0">
                <a:latin typeface="Segoe UI"/>
                <a:cs typeface="Segoe UI"/>
              </a:rPr>
              <a:t> </a:t>
            </a:r>
            <a:r>
              <a:rPr dirty="0" sz="1700" spc="-325" b="0">
                <a:latin typeface="Dotum"/>
                <a:cs typeface="Dotum"/>
              </a:rPr>
              <a:t>전환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전략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한눈에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50" b="0">
                <a:latin typeface="Dotum"/>
                <a:cs typeface="Dotum"/>
              </a:rPr>
              <a:t>보기</a:t>
            </a:r>
            <a:endParaRPr sz="1700">
              <a:latin typeface="Dotum"/>
              <a:cs typeface="Dotum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0999" y="1314449"/>
            <a:ext cx="5486400" cy="2571750"/>
          </a:xfrm>
          <a:custGeom>
            <a:avLst/>
            <a:gdLst/>
            <a:ahLst/>
            <a:cxnLst/>
            <a:rect l="l" t="t" r="r" b="b"/>
            <a:pathLst>
              <a:path w="5486400" h="2571750">
                <a:moveTo>
                  <a:pt x="5415202" y="2571749"/>
                </a:moveTo>
                <a:lnTo>
                  <a:pt x="71196" y="2571749"/>
                </a:lnTo>
                <a:lnTo>
                  <a:pt x="66241" y="2571261"/>
                </a:lnTo>
                <a:lnTo>
                  <a:pt x="29705" y="2556127"/>
                </a:lnTo>
                <a:lnTo>
                  <a:pt x="3885" y="2520087"/>
                </a:lnTo>
                <a:lnTo>
                  <a:pt x="0" y="2500552"/>
                </a:lnTo>
                <a:lnTo>
                  <a:pt x="0" y="2495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15202" y="0"/>
                </a:lnTo>
                <a:lnTo>
                  <a:pt x="5456693" y="15621"/>
                </a:lnTo>
                <a:lnTo>
                  <a:pt x="5482513" y="51661"/>
                </a:lnTo>
                <a:lnTo>
                  <a:pt x="5486399" y="71196"/>
                </a:lnTo>
                <a:lnTo>
                  <a:pt x="5486399" y="2500552"/>
                </a:lnTo>
                <a:lnTo>
                  <a:pt x="5470776" y="2542044"/>
                </a:lnTo>
                <a:lnTo>
                  <a:pt x="5434737" y="2567863"/>
                </a:lnTo>
                <a:lnTo>
                  <a:pt x="5420157" y="2571261"/>
                </a:lnTo>
                <a:lnTo>
                  <a:pt x="5415202" y="2571749"/>
                </a:lnTo>
                <a:close/>
              </a:path>
            </a:pathLst>
          </a:custGeom>
          <a:solidFill>
            <a:srgbClr val="FE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96899" y="1516024"/>
            <a:ext cx="93027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B91B1B"/>
                </a:solidFill>
                <a:latin typeface="Dotum"/>
                <a:cs typeface="Dotum"/>
              </a:rPr>
              <a:t>현재</a:t>
            </a:r>
            <a:r>
              <a:rPr dirty="0" sz="2050" spc="-190">
                <a:solidFill>
                  <a:srgbClr val="B91B1B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B91B1B"/>
                </a:solidFill>
                <a:latin typeface="Dotum"/>
                <a:cs typeface="Dotum"/>
              </a:rPr>
              <a:t>상황</a:t>
            </a:r>
            <a:endParaRPr sz="2050">
              <a:latin typeface="Dotum"/>
              <a:cs typeface="Dot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9599" y="2000249"/>
            <a:ext cx="476250" cy="1657350"/>
            <a:chOff x="609599" y="2000249"/>
            <a:chExt cx="476250" cy="1657350"/>
          </a:xfrm>
        </p:grpSpPr>
        <p:sp>
          <p:nvSpPr>
            <p:cNvPr id="6" name="object 6" descr=""/>
            <p:cNvSpPr/>
            <p:nvPr/>
          </p:nvSpPr>
          <p:spPr>
            <a:xfrm>
              <a:off x="609599" y="2000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4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4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4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989" y="2171699"/>
              <a:ext cx="153471" cy="13334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09599" y="25908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4" y="2752724"/>
              <a:ext cx="114329" cy="1523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09599" y="31813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524" y="3343274"/>
              <a:ext cx="152370" cy="15239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225549" y="1996223"/>
            <a:ext cx="1513840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레거시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시스템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한계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복잡한</a:t>
            </a:r>
            <a:r>
              <a:rPr dirty="0" sz="1150" spc="-8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374050"/>
                </a:solidFill>
                <a:latin typeface="Dotum"/>
                <a:cs typeface="Dotum"/>
              </a:rPr>
              <a:t>의존성</a:t>
            </a:r>
            <a:r>
              <a:rPr dirty="0" sz="1050" spc="-145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050" spc="2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유연성</a:t>
            </a:r>
            <a:r>
              <a:rPr dirty="0" sz="1150" spc="-7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74050"/>
                </a:solidFill>
                <a:latin typeface="Dotum"/>
                <a:cs typeface="Dotum"/>
              </a:rPr>
              <a:t>부족</a:t>
            </a:r>
            <a:endParaRPr sz="1150">
              <a:latin typeface="Dotum"/>
              <a:cs typeface="Dot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25549" y="2586773"/>
            <a:ext cx="1831975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비즈니스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민첩성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저하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신규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기능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출시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374050"/>
                </a:solidFill>
                <a:latin typeface="Dotum"/>
                <a:cs typeface="Dotum"/>
              </a:rPr>
              <a:t>지연</a:t>
            </a:r>
            <a:r>
              <a:rPr dirty="0" sz="1050" spc="-130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050" spc="1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경쟁력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74050"/>
                </a:solidFill>
                <a:latin typeface="Dotum"/>
                <a:cs typeface="Dotum"/>
              </a:rPr>
              <a:t>약화</a:t>
            </a:r>
            <a:endParaRPr sz="1150">
              <a:latin typeface="Dotum"/>
              <a:cs typeface="Dot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25549" y="3177323"/>
            <a:ext cx="1680845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증가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장애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발생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시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전체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시스템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74050"/>
                </a:solidFill>
                <a:latin typeface="Dotum"/>
                <a:cs typeface="Dotum"/>
              </a:rPr>
              <a:t>영향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324599" y="1314449"/>
            <a:ext cx="5486400" cy="2571750"/>
            <a:chOff x="6324599" y="1314449"/>
            <a:chExt cx="5486400" cy="2571750"/>
          </a:xfrm>
        </p:grpSpPr>
        <p:sp>
          <p:nvSpPr>
            <p:cNvPr id="16" name="object 16" descr=""/>
            <p:cNvSpPr/>
            <p:nvPr/>
          </p:nvSpPr>
          <p:spPr>
            <a:xfrm>
              <a:off x="6324599" y="1314449"/>
              <a:ext cx="5486400" cy="2571750"/>
            </a:xfrm>
            <a:custGeom>
              <a:avLst/>
              <a:gdLst/>
              <a:ahLst/>
              <a:cxnLst/>
              <a:rect l="l" t="t" r="r" b="b"/>
              <a:pathLst>
                <a:path w="5486400" h="2571750">
                  <a:moveTo>
                    <a:pt x="5415202" y="2571749"/>
                  </a:moveTo>
                  <a:lnTo>
                    <a:pt x="71196" y="2571749"/>
                  </a:lnTo>
                  <a:lnTo>
                    <a:pt x="66241" y="2571261"/>
                  </a:lnTo>
                  <a:lnTo>
                    <a:pt x="29705" y="2556127"/>
                  </a:lnTo>
                  <a:lnTo>
                    <a:pt x="3885" y="2520087"/>
                  </a:lnTo>
                  <a:lnTo>
                    <a:pt x="0" y="2500552"/>
                  </a:lnTo>
                  <a:lnTo>
                    <a:pt x="0" y="24955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4" y="15621"/>
                  </a:lnTo>
                  <a:lnTo>
                    <a:pt x="5482513" y="51661"/>
                  </a:lnTo>
                  <a:lnTo>
                    <a:pt x="5486399" y="71196"/>
                  </a:lnTo>
                  <a:lnTo>
                    <a:pt x="5486399" y="2500552"/>
                  </a:lnTo>
                  <a:lnTo>
                    <a:pt x="5470777" y="2542044"/>
                  </a:lnTo>
                  <a:lnTo>
                    <a:pt x="5434737" y="2567863"/>
                  </a:lnTo>
                  <a:lnTo>
                    <a:pt x="5420158" y="2571261"/>
                  </a:lnTo>
                  <a:lnTo>
                    <a:pt x="5415202" y="257174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553199" y="20002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19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4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3"/>
                  </a:lnTo>
                  <a:lnTo>
                    <a:pt x="44463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4" y="21110"/>
                  </a:lnTo>
                  <a:lnTo>
                    <a:pt x="376903" y="44464"/>
                  </a:lnTo>
                  <a:lnTo>
                    <a:pt x="412018" y="75259"/>
                  </a:lnTo>
                  <a:lnTo>
                    <a:pt x="440450" y="112314"/>
                  </a:lnTo>
                  <a:lnTo>
                    <a:pt x="461107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4"/>
                  </a:lnTo>
                  <a:lnTo>
                    <a:pt x="470152" y="292229"/>
                  </a:lnTo>
                  <a:lnTo>
                    <a:pt x="455137" y="336456"/>
                  </a:lnTo>
                  <a:lnTo>
                    <a:pt x="431784" y="376904"/>
                  </a:lnTo>
                  <a:lnTo>
                    <a:pt x="400989" y="412019"/>
                  </a:lnTo>
                  <a:lnTo>
                    <a:pt x="363934" y="440451"/>
                  </a:lnTo>
                  <a:lnTo>
                    <a:pt x="322044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5599" y="2161847"/>
              <a:ext cx="171479" cy="153233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6540500" y="1516024"/>
            <a:ext cx="2280285" cy="9277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75">
                <a:solidFill>
                  <a:srgbClr val="047857"/>
                </a:solidFill>
                <a:latin typeface="Dotum"/>
                <a:cs typeface="Dotum"/>
              </a:rPr>
              <a:t>제안</a:t>
            </a:r>
            <a:r>
              <a:rPr dirty="0" sz="1800" spc="-275" b="1">
                <a:solidFill>
                  <a:srgbClr val="047857"/>
                </a:solidFill>
                <a:latin typeface="Segoe UI"/>
                <a:cs typeface="Segoe UI"/>
              </a:rPr>
              <a:t>:</a:t>
            </a:r>
            <a:r>
              <a:rPr dirty="0" sz="1800" b="1">
                <a:solidFill>
                  <a:srgbClr val="047857"/>
                </a:solidFill>
                <a:latin typeface="Segoe UI"/>
                <a:cs typeface="Segoe UI"/>
              </a:rPr>
              <a:t> MSA</a:t>
            </a:r>
            <a:r>
              <a:rPr dirty="0" sz="1800" spc="-35" b="1">
                <a:solidFill>
                  <a:srgbClr val="047857"/>
                </a:solidFill>
                <a:latin typeface="Segoe UI"/>
                <a:cs typeface="Segoe UI"/>
              </a:rPr>
              <a:t> </a:t>
            </a:r>
            <a:r>
              <a:rPr dirty="0" sz="2050" spc="-434">
                <a:solidFill>
                  <a:srgbClr val="047857"/>
                </a:solidFill>
                <a:latin typeface="Dotum"/>
                <a:cs typeface="Dotum"/>
              </a:rPr>
              <a:t>전환</a:t>
            </a:r>
            <a:endParaRPr sz="2050">
              <a:latin typeface="Dotum"/>
              <a:cs typeface="Dotum"/>
            </a:endParaRPr>
          </a:p>
          <a:p>
            <a:pPr marL="640715">
              <a:lnSpc>
                <a:spcPct val="100000"/>
              </a:lnSpc>
              <a:spcBef>
                <a:spcPts val="146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모듈화된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0">
                <a:solidFill>
                  <a:srgbClr val="333333"/>
                </a:solidFill>
                <a:latin typeface="Dotum"/>
                <a:cs typeface="Dotum"/>
              </a:rPr>
              <a:t>아키텍처</a:t>
            </a:r>
            <a:endParaRPr sz="1350">
              <a:latin typeface="Dotum"/>
              <a:cs typeface="Dotum"/>
            </a:endParaRPr>
          </a:p>
          <a:p>
            <a:pPr marL="640715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독립적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374050"/>
                </a:solidFill>
                <a:latin typeface="Dotum"/>
                <a:cs typeface="Dotum"/>
              </a:rPr>
              <a:t>개발</a:t>
            </a:r>
            <a:r>
              <a:rPr dirty="0" sz="1050" spc="-130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050" spc="2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30">
                <a:solidFill>
                  <a:srgbClr val="374050"/>
                </a:solidFill>
                <a:latin typeface="Dotum"/>
                <a:cs typeface="Dotum"/>
              </a:rPr>
              <a:t>확장</a:t>
            </a:r>
            <a:r>
              <a:rPr dirty="0" sz="1050" spc="-130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050" spc="2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배포</a:t>
            </a:r>
            <a:r>
              <a:rPr dirty="0" sz="1150" spc="-8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Dotum"/>
                <a:cs typeface="Dotum"/>
              </a:rPr>
              <a:t>가능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553199" y="2590800"/>
            <a:ext cx="476250" cy="1066800"/>
            <a:chOff x="6553199" y="2590800"/>
            <a:chExt cx="476250" cy="1066800"/>
          </a:xfrm>
        </p:grpSpPr>
        <p:sp>
          <p:nvSpPr>
            <p:cNvPr id="21" name="object 21" descr=""/>
            <p:cNvSpPr/>
            <p:nvPr/>
          </p:nvSpPr>
          <p:spPr>
            <a:xfrm>
              <a:off x="6553199" y="25908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19" y="470152"/>
                  </a:lnTo>
                  <a:lnTo>
                    <a:pt x="139793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3" y="99345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4" y="21110"/>
                  </a:lnTo>
                  <a:lnTo>
                    <a:pt x="376903" y="44463"/>
                  </a:lnTo>
                  <a:lnTo>
                    <a:pt x="412018" y="75259"/>
                  </a:lnTo>
                  <a:lnTo>
                    <a:pt x="440450" y="112314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5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7" y="336456"/>
                  </a:lnTo>
                  <a:lnTo>
                    <a:pt x="431784" y="376904"/>
                  </a:lnTo>
                  <a:lnTo>
                    <a:pt x="400989" y="412018"/>
                  </a:lnTo>
                  <a:lnTo>
                    <a:pt x="363934" y="440451"/>
                  </a:lnTo>
                  <a:lnTo>
                    <a:pt x="322044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4767" y="2752744"/>
              <a:ext cx="152675" cy="152707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6553199" y="31813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19" y="470152"/>
                  </a:lnTo>
                  <a:lnTo>
                    <a:pt x="139793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3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4" y="21110"/>
                  </a:lnTo>
                  <a:lnTo>
                    <a:pt x="376903" y="44463"/>
                  </a:lnTo>
                  <a:lnTo>
                    <a:pt x="412018" y="75259"/>
                  </a:lnTo>
                  <a:lnTo>
                    <a:pt x="440450" y="112313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7" y="336456"/>
                  </a:lnTo>
                  <a:lnTo>
                    <a:pt x="431784" y="376904"/>
                  </a:lnTo>
                  <a:lnTo>
                    <a:pt x="400989" y="412018"/>
                  </a:lnTo>
                  <a:lnTo>
                    <a:pt x="363934" y="440451"/>
                  </a:lnTo>
                  <a:lnTo>
                    <a:pt x="322044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9886" y="3352788"/>
              <a:ext cx="142874" cy="133372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169150" y="2586773"/>
            <a:ext cx="1816735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단계적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추진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준비</a:t>
            </a:r>
            <a:r>
              <a:rPr dirty="0" sz="1150" spc="-9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z="1050" spc="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파일럿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z="1050" spc="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확산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z="1050" spc="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170">
                <a:solidFill>
                  <a:srgbClr val="374050"/>
                </a:solidFill>
                <a:latin typeface="Dotum"/>
                <a:cs typeface="Dotum"/>
              </a:rPr>
              <a:t>안정화</a:t>
            </a:r>
            <a:endParaRPr sz="1150">
              <a:latin typeface="Dotum"/>
              <a:cs typeface="Dot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169150" y="3177323"/>
            <a:ext cx="1803400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b="1">
                <a:solidFill>
                  <a:srgbClr val="333333"/>
                </a:solidFill>
                <a:latin typeface="Segoe UI Semibold"/>
                <a:cs typeface="Segoe UI Semibold"/>
              </a:rPr>
              <a:t>DevOps</a:t>
            </a:r>
            <a:r>
              <a:rPr dirty="0" sz="1200" spc="-40" b="1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문화</a:t>
            </a:r>
            <a:r>
              <a:rPr dirty="0" sz="1350" spc="-12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정착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자동화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및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지속적</a:t>
            </a:r>
            <a:r>
              <a:rPr dirty="0" sz="115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배포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체계</a:t>
            </a:r>
            <a:r>
              <a:rPr dirty="0" sz="115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74050"/>
                </a:solidFill>
                <a:latin typeface="Dotum"/>
                <a:cs typeface="Dotum"/>
              </a:rPr>
              <a:t>구축</a:t>
            </a:r>
            <a:endParaRPr sz="1150">
              <a:latin typeface="Dotum"/>
              <a:cs typeface="Dot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68299" y="4163974"/>
            <a:ext cx="87058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374050"/>
                </a:solidFill>
                <a:latin typeface="Dotum"/>
                <a:cs typeface="Dotum"/>
              </a:rPr>
              <a:t>기대</a:t>
            </a:r>
            <a:r>
              <a:rPr dirty="0" sz="2050" spc="-1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800" spc="-25" b="1">
                <a:solidFill>
                  <a:srgbClr val="374050"/>
                </a:solidFill>
                <a:latin typeface="Segoe UI"/>
                <a:cs typeface="Segoe UI"/>
              </a:rPr>
              <a:t>KPI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80999" y="4648199"/>
            <a:ext cx="2743200" cy="1371600"/>
            <a:chOff x="380999" y="4648199"/>
            <a:chExt cx="2743200" cy="1371600"/>
          </a:xfrm>
        </p:grpSpPr>
        <p:sp>
          <p:nvSpPr>
            <p:cNvPr id="29" name="object 29" descr=""/>
            <p:cNvSpPr/>
            <p:nvPr/>
          </p:nvSpPr>
          <p:spPr>
            <a:xfrm>
              <a:off x="404812" y="4648199"/>
              <a:ext cx="2719705" cy="1371600"/>
            </a:xfrm>
            <a:custGeom>
              <a:avLst/>
              <a:gdLst/>
              <a:ahLst/>
              <a:cxnLst/>
              <a:rect l="l" t="t" r="r" b="b"/>
              <a:pathLst>
                <a:path w="2719705" h="1371600">
                  <a:moveTo>
                    <a:pt x="2648190" y="1371599"/>
                  </a:moveTo>
                  <a:lnTo>
                    <a:pt x="48947" y="1371599"/>
                  </a:lnTo>
                  <a:lnTo>
                    <a:pt x="45540" y="1371111"/>
                  </a:lnTo>
                  <a:lnTo>
                    <a:pt x="12911" y="1345742"/>
                  </a:lnTo>
                  <a:lnTo>
                    <a:pt x="335" y="1305357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2648190" y="0"/>
                  </a:lnTo>
                  <a:lnTo>
                    <a:pt x="2689681" y="15621"/>
                  </a:lnTo>
                  <a:lnTo>
                    <a:pt x="2715501" y="51661"/>
                  </a:lnTo>
                  <a:lnTo>
                    <a:pt x="2719386" y="71196"/>
                  </a:lnTo>
                  <a:lnTo>
                    <a:pt x="2719386" y="1300403"/>
                  </a:lnTo>
                  <a:lnTo>
                    <a:pt x="2703765" y="1341893"/>
                  </a:lnTo>
                  <a:lnTo>
                    <a:pt x="2667724" y="1367713"/>
                  </a:lnTo>
                  <a:lnTo>
                    <a:pt x="2653145" y="1371111"/>
                  </a:lnTo>
                  <a:lnTo>
                    <a:pt x="2648190" y="13715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0999" y="4648400"/>
              <a:ext cx="72390" cy="1371600"/>
            </a:xfrm>
            <a:custGeom>
              <a:avLst/>
              <a:gdLst/>
              <a:ahLst/>
              <a:cxnLst/>
              <a:rect l="l" t="t" r="r" b="b"/>
              <a:pathLst>
                <a:path w="72390" h="1371600">
                  <a:moveTo>
                    <a:pt x="72031" y="1371197"/>
                  </a:moveTo>
                  <a:lnTo>
                    <a:pt x="33857" y="1358567"/>
                  </a:lnTo>
                  <a:lnTo>
                    <a:pt x="5800" y="1324358"/>
                  </a:lnTo>
                  <a:lnTo>
                    <a:pt x="0" y="1295198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1295198"/>
                  </a:lnTo>
                  <a:lnTo>
                    <a:pt x="52436" y="1337540"/>
                  </a:lnTo>
                  <a:lnTo>
                    <a:pt x="68765" y="1369464"/>
                  </a:lnTo>
                  <a:lnTo>
                    <a:pt x="72031" y="137119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68325" y="4784699"/>
            <a:ext cx="95123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기능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개발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95">
                <a:solidFill>
                  <a:srgbClr val="333333"/>
                </a:solidFill>
                <a:latin typeface="Dotum"/>
                <a:cs typeface="Dotum"/>
              </a:rPr>
              <a:t>기간</a:t>
            </a:r>
            <a:endParaRPr sz="1350">
              <a:latin typeface="Dotum"/>
              <a:cs typeface="Dot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590006" y="4806950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49569"/>
                </a:solidFill>
                <a:latin typeface="Segoe UI"/>
                <a:cs typeface="Segoe UI"/>
              </a:rPr>
              <a:t>-</a:t>
            </a:r>
            <a:r>
              <a:rPr dirty="0" sz="1200" spc="-25" b="1">
                <a:solidFill>
                  <a:srgbClr val="049569"/>
                </a:solidFill>
                <a:latin typeface="Segoe UI"/>
                <a:cs typeface="Segoe UI"/>
              </a:rPr>
              <a:t>50%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025" y="5105400"/>
            <a:ext cx="2390774" cy="761999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3276599" y="4648199"/>
            <a:ext cx="2743200" cy="1371600"/>
            <a:chOff x="3276599" y="4648199"/>
            <a:chExt cx="2743200" cy="1371600"/>
          </a:xfrm>
        </p:grpSpPr>
        <p:sp>
          <p:nvSpPr>
            <p:cNvPr id="35" name="object 35" descr=""/>
            <p:cNvSpPr/>
            <p:nvPr/>
          </p:nvSpPr>
          <p:spPr>
            <a:xfrm>
              <a:off x="3300411" y="4648199"/>
              <a:ext cx="2719705" cy="1371600"/>
            </a:xfrm>
            <a:custGeom>
              <a:avLst/>
              <a:gdLst/>
              <a:ahLst/>
              <a:cxnLst/>
              <a:rect l="l" t="t" r="r" b="b"/>
              <a:pathLst>
                <a:path w="2719704" h="1371600">
                  <a:moveTo>
                    <a:pt x="2648190" y="1371599"/>
                  </a:moveTo>
                  <a:lnTo>
                    <a:pt x="48947" y="1371599"/>
                  </a:lnTo>
                  <a:lnTo>
                    <a:pt x="45540" y="1371111"/>
                  </a:lnTo>
                  <a:lnTo>
                    <a:pt x="12911" y="1345742"/>
                  </a:lnTo>
                  <a:lnTo>
                    <a:pt x="335" y="1305357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2648190" y="0"/>
                  </a:lnTo>
                  <a:lnTo>
                    <a:pt x="2689681" y="15621"/>
                  </a:lnTo>
                  <a:lnTo>
                    <a:pt x="2715501" y="51661"/>
                  </a:lnTo>
                  <a:lnTo>
                    <a:pt x="2719386" y="71196"/>
                  </a:lnTo>
                  <a:lnTo>
                    <a:pt x="2719386" y="1300403"/>
                  </a:lnTo>
                  <a:lnTo>
                    <a:pt x="2703764" y="1341893"/>
                  </a:lnTo>
                  <a:lnTo>
                    <a:pt x="2667724" y="1367713"/>
                  </a:lnTo>
                  <a:lnTo>
                    <a:pt x="2653145" y="1371111"/>
                  </a:lnTo>
                  <a:lnTo>
                    <a:pt x="2648190" y="13715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276599" y="4648400"/>
              <a:ext cx="72390" cy="1371600"/>
            </a:xfrm>
            <a:custGeom>
              <a:avLst/>
              <a:gdLst/>
              <a:ahLst/>
              <a:cxnLst/>
              <a:rect l="l" t="t" r="r" b="b"/>
              <a:pathLst>
                <a:path w="72389" h="1371600">
                  <a:moveTo>
                    <a:pt x="72031" y="1371197"/>
                  </a:moveTo>
                  <a:lnTo>
                    <a:pt x="33857" y="1358567"/>
                  </a:lnTo>
                  <a:lnTo>
                    <a:pt x="5800" y="1324358"/>
                  </a:lnTo>
                  <a:lnTo>
                    <a:pt x="0" y="12951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9" y="5598"/>
                  </a:lnTo>
                  <a:lnTo>
                    <a:pt x="72030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799" y="46838"/>
                  </a:lnTo>
                  <a:lnTo>
                    <a:pt x="47625" y="75998"/>
                  </a:lnTo>
                  <a:lnTo>
                    <a:pt x="47625" y="1295198"/>
                  </a:lnTo>
                  <a:lnTo>
                    <a:pt x="52436" y="1337540"/>
                  </a:lnTo>
                  <a:lnTo>
                    <a:pt x="68765" y="1369464"/>
                  </a:lnTo>
                  <a:lnTo>
                    <a:pt x="72031" y="137119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463925" y="4784699"/>
            <a:ext cx="76898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발생률</a:t>
            </a:r>
            <a:endParaRPr sz="1350">
              <a:latin typeface="Dotum"/>
              <a:cs typeface="Dotum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485605" y="4806950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49569"/>
                </a:solidFill>
                <a:latin typeface="Segoe UI"/>
                <a:cs typeface="Segoe UI"/>
              </a:rPr>
              <a:t>-</a:t>
            </a:r>
            <a:r>
              <a:rPr dirty="0" sz="1200" spc="-25" b="1">
                <a:solidFill>
                  <a:srgbClr val="049569"/>
                </a:solidFill>
                <a:latin typeface="Segoe UI"/>
                <a:cs typeface="Segoe UI"/>
              </a:rPr>
              <a:t>80%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76625" y="5105400"/>
            <a:ext cx="2390774" cy="761999"/>
          </a:xfrm>
          <a:prstGeom prst="rect">
            <a:avLst/>
          </a:prstGeom>
        </p:spPr>
      </p:pic>
      <p:grpSp>
        <p:nvGrpSpPr>
          <p:cNvPr id="40" name="object 40" descr=""/>
          <p:cNvGrpSpPr/>
          <p:nvPr/>
        </p:nvGrpSpPr>
        <p:grpSpPr>
          <a:xfrm>
            <a:off x="6172199" y="4648199"/>
            <a:ext cx="2743200" cy="1371600"/>
            <a:chOff x="6172199" y="4648199"/>
            <a:chExt cx="2743200" cy="1371600"/>
          </a:xfrm>
        </p:grpSpPr>
        <p:sp>
          <p:nvSpPr>
            <p:cNvPr id="41" name="object 41" descr=""/>
            <p:cNvSpPr/>
            <p:nvPr/>
          </p:nvSpPr>
          <p:spPr>
            <a:xfrm>
              <a:off x="6196011" y="4648199"/>
              <a:ext cx="2719705" cy="1371600"/>
            </a:xfrm>
            <a:custGeom>
              <a:avLst/>
              <a:gdLst/>
              <a:ahLst/>
              <a:cxnLst/>
              <a:rect l="l" t="t" r="r" b="b"/>
              <a:pathLst>
                <a:path w="2719704" h="1371600">
                  <a:moveTo>
                    <a:pt x="2648190" y="1371599"/>
                  </a:moveTo>
                  <a:lnTo>
                    <a:pt x="48948" y="1371599"/>
                  </a:lnTo>
                  <a:lnTo>
                    <a:pt x="45541" y="1371111"/>
                  </a:lnTo>
                  <a:lnTo>
                    <a:pt x="12911" y="1345742"/>
                  </a:lnTo>
                  <a:lnTo>
                    <a:pt x="335" y="1305357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40"/>
                  </a:lnTo>
                  <a:lnTo>
                    <a:pt x="48948" y="0"/>
                  </a:lnTo>
                  <a:lnTo>
                    <a:pt x="2648190" y="0"/>
                  </a:lnTo>
                  <a:lnTo>
                    <a:pt x="2689681" y="15621"/>
                  </a:lnTo>
                  <a:lnTo>
                    <a:pt x="2715500" y="51661"/>
                  </a:lnTo>
                  <a:lnTo>
                    <a:pt x="2719387" y="71196"/>
                  </a:lnTo>
                  <a:lnTo>
                    <a:pt x="2719387" y="1300403"/>
                  </a:lnTo>
                  <a:lnTo>
                    <a:pt x="2703764" y="1341893"/>
                  </a:lnTo>
                  <a:lnTo>
                    <a:pt x="2667724" y="1367713"/>
                  </a:lnTo>
                  <a:lnTo>
                    <a:pt x="2653145" y="1371111"/>
                  </a:lnTo>
                  <a:lnTo>
                    <a:pt x="2648190" y="13715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72199" y="4648400"/>
              <a:ext cx="72390" cy="1371600"/>
            </a:xfrm>
            <a:custGeom>
              <a:avLst/>
              <a:gdLst/>
              <a:ahLst/>
              <a:cxnLst/>
              <a:rect l="l" t="t" r="r" b="b"/>
              <a:pathLst>
                <a:path w="72389" h="1371600">
                  <a:moveTo>
                    <a:pt x="72031" y="1371197"/>
                  </a:moveTo>
                  <a:lnTo>
                    <a:pt x="33857" y="1358567"/>
                  </a:lnTo>
                  <a:lnTo>
                    <a:pt x="5799" y="1324358"/>
                  </a:lnTo>
                  <a:lnTo>
                    <a:pt x="0" y="12951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799" y="46838"/>
                  </a:lnTo>
                  <a:lnTo>
                    <a:pt x="47625" y="75998"/>
                  </a:lnTo>
                  <a:lnTo>
                    <a:pt x="47625" y="1295198"/>
                  </a:lnTo>
                  <a:lnTo>
                    <a:pt x="52435" y="1337540"/>
                  </a:lnTo>
                  <a:lnTo>
                    <a:pt x="68765" y="1369464"/>
                  </a:lnTo>
                  <a:lnTo>
                    <a:pt x="72031" y="137119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6359524" y="4784699"/>
            <a:ext cx="62865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배포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주기</a:t>
            </a:r>
            <a:endParaRPr sz="1350">
              <a:latin typeface="Dotum"/>
              <a:cs typeface="Dotum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8199933" y="4784699"/>
            <a:ext cx="57594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135" b="1">
                <a:solidFill>
                  <a:srgbClr val="049569"/>
                </a:solidFill>
                <a:latin typeface="Segoe UI"/>
                <a:cs typeface="Segoe UI"/>
              </a:rPr>
              <a:t>7</a:t>
            </a:r>
            <a:r>
              <a:rPr dirty="0" sz="1350" spc="-135">
                <a:solidFill>
                  <a:srgbClr val="049569"/>
                </a:solidFill>
                <a:latin typeface="Dotum"/>
                <a:cs typeface="Dotum"/>
              </a:rPr>
              <a:t>배</a:t>
            </a:r>
            <a:r>
              <a:rPr dirty="0" sz="1350" spc="-110">
                <a:solidFill>
                  <a:srgbClr val="049569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049569"/>
                </a:solidFill>
                <a:latin typeface="Dotum"/>
                <a:cs typeface="Dotum"/>
              </a:rPr>
              <a:t>향상</a:t>
            </a:r>
            <a:endParaRPr sz="1350">
              <a:latin typeface="Dotum"/>
              <a:cs typeface="Dotum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72225" y="5105400"/>
            <a:ext cx="2390774" cy="761999"/>
          </a:xfrm>
          <a:prstGeom prst="rect">
            <a:avLst/>
          </a:prstGeom>
        </p:spPr>
      </p:pic>
      <p:grpSp>
        <p:nvGrpSpPr>
          <p:cNvPr id="46" name="object 46" descr=""/>
          <p:cNvGrpSpPr/>
          <p:nvPr/>
        </p:nvGrpSpPr>
        <p:grpSpPr>
          <a:xfrm>
            <a:off x="9067798" y="4648199"/>
            <a:ext cx="2743200" cy="1371600"/>
            <a:chOff x="9067798" y="4648199"/>
            <a:chExt cx="2743200" cy="1371600"/>
          </a:xfrm>
        </p:grpSpPr>
        <p:sp>
          <p:nvSpPr>
            <p:cNvPr id="47" name="object 47" descr=""/>
            <p:cNvSpPr/>
            <p:nvPr/>
          </p:nvSpPr>
          <p:spPr>
            <a:xfrm>
              <a:off x="9091611" y="4648199"/>
              <a:ext cx="2719705" cy="1371600"/>
            </a:xfrm>
            <a:custGeom>
              <a:avLst/>
              <a:gdLst/>
              <a:ahLst/>
              <a:cxnLst/>
              <a:rect l="l" t="t" r="r" b="b"/>
              <a:pathLst>
                <a:path w="2719704" h="1371600">
                  <a:moveTo>
                    <a:pt x="2648190" y="1371599"/>
                  </a:moveTo>
                  <a:lnTo>
                    <a:pt x="48947" y="1371599"/>
                  </a:lnTo>
                  <a:lnTo>
                    <a:pt x="45540" y="1371111"/>
                  </a:lnTo>
                  <a:lnTo>
                    <a:pt x="12910" y="1345742"/>
                  </a:lnTo>
                  <a:lnTo>
                    <a:pt x="335" y="1305357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0738" y="29704"/>
                  </a:lnTo>
                  <a:lnTo>
                    <a:pt x="38792" y="2440"/>
                  </a:lnTo>
                  <a:lnTo>
                    <a:pt x="48947" y="0"/>
                  </a:lnTo>
                  <a:lnTo>
                    <a:pt x="2648190" y="0"/>
                  </a:lnTo>
                  <a:lnTo>
                    <a:pt x="2689682" y="15621"/>
                  </a:lnTo>
                  <a:lnTo>
                    <a:pt x="2715501" y="51661"/>
                  </a:lnTo>
                  <a:lnTo>
                    <a:pt x="2719387" y="71196"/>
                  </a:lnTo>
                  <a:lnTo>
                    <a:pt x="2719387" y="1300403"/>
                  </a:lnTo>
                  <a:lnTo>
                    <a:pt x="2703764" y="1341893"/>
                  </a:lnTo>
                  <a:lnTo>
                    <a:pt x="2667725" y="1367713"/>
                  </a:lnTo>
                  <a:lnTo>
                    <a:pt x="2653145" y="1371111"/>
                  </a:lnTo>
                  <a:lnTo>
                    <a:pt x="2648190" y="13715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067798" y="4648400"/>
              <a:ext cx="72390" cy="1371600"/>
            </a:xfrm>
            <a:custGeom>
              <a:avLst/>
              <a:gdLst/>
              <a:ahLst/>
              <a:cxnLst/>
              <a:rect l="l" t="t" r="r" b="b"/>
              <a:pathLst>
                <a:path w="72390" h="1371600">
                  <a:moveTo>
                    <a:pt x="72031" y="1371197"/>
                  </a:moveTo>
                  <a:lnTo>
                    <a:pt x="33856" y="1358567"/>
                  </a:lnTo>
                  <a:lnTo>
                    <a:pt x="5799" y="1324358"/>
                  </a:lnTo>
                  <a:lnTo>
                    <a:pt x="0" y="1295198"/>
                  </a:lnTo>
                  <a:lnTo>
                    <a:pt x="0" y="75998"/>
                  </a:lnTo>
                  <a:lnTo>
                    <a:pt x="12828" y="33655"/>
                  </a:lnTo>
                  <a:lnTo>
                    <a:pt x="47039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1295198"/>
                  </a:lnTo>
                  <a:lnTo>
                    <a:pt x="52436" y="1337540"/>
                  </a:lnTo>
                  <a:lnTo>
                    <a:pt x="68764" y="1369464"/>
                  </a:lnTo>
                  <a:lnTo>
                    <a:pt x="72031" y="137119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9255125" y="4784699"/>
            <a:ext cx="76898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효율성</a:t>
            </a:r>
            <a:endParaRPr sz="1350">
              <a:latin typeface="Dotum"/>
              <a:cs typeface="Dotum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1230668" y="4806950"/>
            <a:ext cx="440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049569"/>
                </a:solidFill>
                <a:latin typeface="Segoe UI"/>
                <a:cs typeface="Segoe UI"/>
              </a:rPr>
              <a:t>+40%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67825" y="5105400"/>
            <a:ext cx="2390774" cy="761999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0999" y="6781799"/>
            <a:ext cx="11620499" cy="1885950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368299" y="6297574"/>
            <a:ext cx="86677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30">
                <a:solidFill>
                  <a:srgbClr val="374050"/>
                </a:solidFill>
                <a:latin typeface="Dotum"/>
                <a:cs typeface="Dotum"/>
              </a:rPr>
              <a:t>요청사항</a:t>
            </a:r>
            <a:endParaRPr sz="2050">
              <a:latin typeface="Dotum"/>
              <a:cs typeface="Dotum"/>
            </a:endParaRPr>
          </a:p>
        </p:txBody>
      </p:sp>
      <p:sp>
        <p:nvSpPr>
          <p:cNvPr id="56" name="object 5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06424" y="6998461"/>
            <a:ext cx="1687830" cy="12312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1C4ED8"/>
                </a:solidFill>
                <a:latin typeface="Dotum"/>
                <a:cs typeface="Dotum"/>
              </a:rPr>
              <a:t>파일럿</a:t>
            </a:r>
            <a:r>
              <a:rPr dirty="0" sz="170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1C4ED8"/>
                </a:solidFill>
                <a:latin typeface="Dotum"/>
                <a:cs typeface="Dotum"/>
              </a:rPr>
              <a:t>인력</a:t>
            </a:r>
            <a:endParaRPr sz="1700">
              <a:latin typeface="Dotum"/>
              <a:cs typeface="Dotum"/>
            </a:endParaRPr>
          </a:p>
          <a:p>
            <a:pPr marL="316865" marR="495300">
              <a:lnSpc>
                <a:spcPct val="148100"/>
              </a:lnSpc>
              <a:spcBef>
                <a:spcPts val="23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기술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리더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2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명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개발자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350" spc="-25">
                <a:solidFill>
                  <a:srgbClr val="333333"/>
                </a:solidFill>
                <a:latin typeface="Dotum"/>
                <a:cs typeface="Dotum"/>
              </a:rPr>
              <a:t>명</a:t>
            </a:r>
            <a:endParaRPr sz="1350">
              <a:latin typeface="Dotum"/>
              <a:cs typeface="Dotum"/>
            </a:endParaRPr>
          </a:p>
          <a:p>
            <a:pPr marL="278765">
              <a:lnSpc>
                <a:spcPct val="100000"/>
              </a:lnSpc>
              <a:spcBef>
                <a:spcPts val="780"/>
              </a:spcBef>
            </a:pP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DevOps</a:t>
            </a:r>
            <a:r>
              <a:rPr dirty="0" sz="12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엔지니어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7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350" spc="-70">
                <a:solidFill>
                  <a:srgbClr val="333333"/>
                </a:solidFill>
                <a:latin typeface="Dotum"/>
                <a:cs typeface="Dotum"/>
              </a:rPr>
              <a:t>명</a:t>
            </a:r>
            <a:endParaRPr sz="1350">
              <a:latin typeface="Dotum"/>
              <a:cs typeface="Dotum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235699" y="6998461"/>
            <a:ext cx="1832610" cy="12312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1C4ED8"/>
                </a:solidFill>
                <a:latin typeface="Dotum"/>
                <a:cs typeface="Dotum"/>
              </a:rPr>
              <a:t>초기</a:t>
            </a:r>
            <a:r>
              <a:rPr dirty="0" sz="1700" spc="-155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700" spc="-360">
                <a:solidFill>
                  <a:srgbClr val="1C4ED8"/>
                </a:solidFill>
                <a:latin typeface="Dotum"/>
                <a:cs typeface="Dotum"/>
              </a:rPr>
              <a:t>예산</a:t>
            </a:r>
            <a:endParaRPr sz="1700">
              <a:latin typeface="Dotum"/>
              <a:cs typeface="Dotum"/>
            </a:endParaRPr>
          </a:p>
          <a:p>
            <a:pPr marL="278765" marR="43815">
              <a:lnSpc>
                <a:spcPct val="148100"/>
              </a:lnSpc>
              <a:spcBef>
                <a:spcPts val="23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인프라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180">
                <a:solidFill>
                  <a:srgbClr val="333333"/>
                </a:solidFill>
                <a:latin typeface="Dotum"/>
                <a:cs typeface="Dotum"/>
              </a:rPr>
              <a:t>구축</a:t>
            </a:r>
            <a:r>
              <a:rPr dirty="0" sz="1200" spc="-18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2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350" spc="-25">
                <a:solidFill>
                  <a:srgbClr val="333333"/>
                </a:solidFill>
                <a:latin typeface="Dotum"/>
                <a:cs typeface="Dotum"/>
              </a:rPr>
              <a:t>억원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도구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00">
                <a:solidFill>
                  <a:srgbClr val="333333"/>
                </a:solidFill>
                <a:latin typeface="Dotum"/>
                <a:cs typeface="Dotum"/>
              </a:rPr>
              <a:t>솔루션</a:t>
            </a:r>
            <a:r>
              <a:rPr dirty="0" sz="1200" spc="-2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2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200" spc="-185">
                <a:solidFill>
                  <a:srgbClr val="333333"/>
                </a:solidFill>
                <a:latin typeface="Segoe UI"/>
                <a:cs typeface="Segoe UI"/>
              </a:rPr>
              <a:t>5</a:t>
            </a:r>
            <a:r>
              <a:rPr dirty="0" sz="1350" spc="-185">
                <a:solidFill>
                  <a:srgbClr val="333333"/>
                </a:solidFill>
                <a:latin typeface="Dotum"/>
                <a:cs typeface="Dotum"/>
              </a:rPr>
              <a:t>천만원</a:t>
            </a:r>
            <a:endParaRPr sz="1350">
              <a:latin typeface="Dotum"/>
              <a:cs typeface="Dotum"/>
            </a:endParaRPr>
          </a:p>
          <a:p>
            <a:pPr marL="316865">
              <a:lnSpc>
                <a:spcPct val="100000"/>
              </a:lnSpc>
              <a:spcBef>
                <a:spcPts val="780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교육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00">
                <a:solidFill>
                  <a:srgbClr val="333333"/>
                </a:solidFill>
                <a:latin typeface="Dotum"/>
                <a:cs typeface="Dotum"/>
              </a:rPr>
              <a:t>컨설팅</a:t>
            </a:r>
            <a:r>
              <a:rPr dirty="0" sz="1200" spc="-2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2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200" spc="-160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350" spc="-160">
                <a:solidFill>
                  <a:srgbClr val="333333"/>
                </a:solidFill>
                <a:latin typeface="Dotum"/>
                <a:cs typeface="Dotum"/>
              </a:rPr>
              <a:t>천만원</a:t>
            </a:r>
            <a:endParaRPr sz="135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8299" y="87186"/>
            <a:ext cx="2934335" cy="7023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250" b="1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dirty="0" sz="2250" spc="-2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250" b="1">
                <a:solidFill>
                  <a:srgbClr val="FFFFFF"/>
                </a:solidFill>
                <a:latin typeface="Segoe UI"/>
                <a:cs typeface="Segoe UI"/>
              </a:rPr>
              <a:t>Burning</a:t>
            </a:r>
            <a:r>
              <a:rPr dirty="0" sz="2250" spc="-1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250" spc="-10" b="1">
                <a:solidFill>
                  <a:srgbClr val="FFFFFF"/>
                </a:solidFill>
                <a:latin typeface="Segoe UI"/>
                <a:cs typeface="Segoe UI"/>
              </a:rPr>
              <a:t>Platform</a:t>
            </a:r>
            <a:endParaRPr sz="22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 spc="-325">
                <a:solidFill>
                  <a:srgbClr val="FFFFFF"/>
                </a:solidFill>
                <a:latin typeface="Dotum"/>
                <a:cs typeface="Dotum"/>
              </a:rPr>
              <a:t>왜</a:t>
            </a:r>
            <a:r>
              <a:rPr dirty="0" sz="1700" spc="-16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FFFFFF"/>
                </a:solidFill>
                <a:latin typeface="Dotum"/>
                <a:cs typeface="Dotum"/>
              </a:rPr>
              <a:t>지금</a:t>
            </a:r>
            <a:r>
              <a:rPr dirty="0" sz="1700" spc="-155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FFFFFF"/>
                </a:solidFill>
                <a:latin typeface="Dotum"/>
                <a:cs typeface="Dotum"/>
              </a:rPr>
              <a:t>바꿔야</a:t>
            </a:r>
            <a:r>
              <a:rPr dirty="0" sz="1700" spc="-155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Dotum"/>
                <a:cs typeface="Dotum"/>
              </a:rPr>
              <a:t>하는가</a:t>
            </a:r>
            <a:r>
              <a:rPr dirty="0" sz="1500" spc="-20">
                <a:solidFill>
                  <a:srgbClr val="FFFFFF"/>
                </a:solidFill>
                <a:latin typeface="Segoe UI"/>
                <a:cs typeface="Segoe UI"/>
              </a:rPr>
              <a:t>?</a:t>
            </a:r>
            <a:endParaRPr sz="150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996" y="1290637"/>
            <a:ext cx="230207" cy="2000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5949" y="1211224"/>
            <a:ext cx="162433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시스템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문제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333333"/>
                </a:solidFill>
                <a:latin typeface="Dotum"/>
                <a:cs typeface="Dotum"/>
              </a:rPr>
              <a:t>현황</a:t>
            </a:r>
            <a:endParaRPr sz="2050">
              <a:latin typeface="Dotum"/>
              <a:cs typeface="Dot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099" y="1762493"/>
            <a:ext cx="21069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분기별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발생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추이</a:t>
            </a:r>
            <a:endParaRPr sz="1550">
              <a:latin typeface="Dotum"/>
              <a:cs typeface="Dot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2099" y="4073105"/>
            <a:ext cx="280797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SzPct val="91304"/>
              <a:buFont typeface="Segoe UI"/>
              <a:buChar char="*"/>
              <a:tabLst>
                <a:tab pos="104775" algn="l"/>
              </a:tabLst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최근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4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분기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동안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장애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발생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건수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b="1">
                <a:solidFill>
                  <a:srgbClr val="DB2525"/>
                </a:solidFill>
                <a:latin typeface="Segoe UI"/>
                <a:cs typeface="Segoe UI"/>
              </a:rPr>
              <a:t>37%</a:t>
            </a:r>
            <a:r>
              <a:rPr dirty="0" sz="1050" spc="10" b="1">
                <a:solidFill>
                  <a:srgbClr val="DB2525"/>
                </a:solidFill>
                <a:latin typeface="Segoe UI"/>
                <a:cs typeface="Segoe UI"/>
              </a:rPr>
              <a:t> </a:t>
            </a:r>
            <a:r>
              <a:rPr dirty="0" sz="1200" spc="-25">
                <a:solidFill>
                  <a:srgbClr val="DB2525"/>
                </a:solidFill>
                <a:latin typeface="Dotum"/>
                <a:cs typeface="Dotum"/>
              </a:rPr>
              <a:t>증가</a:t>
            </a:r>
            <a:endParaRPr sz="1200">
              <a:latin typeface="Dotum"/>
              <a:cs typeface="Dotum"/>
            </a:endParaRPr>
          </a:p>
          <a:p>
            <a:pPr marL="104775" indent="-92075">
              <a:lnSpc>
                <a:spcPct val="100000"/>
              </a:lnSpc>
              <a:spcBef>
                <a:spcPts val="60"/>
              </a:spcBef>
              <a:buSzPct val="91304"/>
              <a:buFont typeface="Segoe UI"/>
              <a:buChar char="*"/>
              <a:tabLst>
                <a:tab pos="104775" algn="l"/>
              </a:tabLst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평균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장애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해결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시간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:</a:t>
            </a:r>
            <a:r>
              <a:rPr dirty="0" sz="1050" spc="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50" spc="-105" b="1">
                <a:solidFill>
                  <a:srgbClr val="4A5462"/>
                </a:solidFill>
                <a:latin typeface="Segoe UI"/>
                <a:cs typeface="Segoe UI"/>
              </a:rPr>
              <a:t>8.5</a:t>
            </a:r>
            <a:r>
              <a:rPr dirty="0" sz="1200" spc="-105">
                <a:solidFill>
                  <a:srgbClr val="4A5462"/>
                </a:solidFill>
                <a:latin typeface="Dotum"/>
                <a:cs typeface="Dotum"/>
              </a:rPr>
              <a:t>시간</a:t>
            </a:r>
            <a:r>
              <a:rPr dirty="0" sz="12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(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업계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평균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55">
                <a:solidFill>
                  <a:srgbClr val="4A5462"/>
                </a:solidFill>
                <a:latin typeface="Segoe UI"/>
                <a:cs typeface="Segoe UI"/>
              </a:rPr>
              <a:t>2.3</a:t>
            </a:r>
            <a:r>
              <a:rPr dirty="0" sz="1150" spc="-55">
                <a:solidFill>
                  <a:srgbClr val="4A5462"/>
                </a:solidFill>
                <a:latin typeface="Dotum"/>
                <a:cs typeface="Dotum"/>
              </a:rPr>
              <a:t>시간</a:t>
            </a:r>
            <a:r>
              <a:rPr dirty="0" sz="1050" spc="-55">
                <a:solidFill>
                  <a:srgbClr val="4A5462"/>
                </a:solidFill>
                <a:latin typeface="Segoe UI"/>
                <a:cs typeface="Segoe UI"/>
              </a:rPr>
              <a:t>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2099" y="4772392"/>
            <a:ext cx="15868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신규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기능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개발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지연율</a:t>
            </a:r>
            <a:endParaRPr sz="1550">
              <a:latin typeface="Dotum"/>
              <a:cs typeface="Dot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2099" y="7083005"/>
            <a:ext cx="27432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indent="-92075">
              <a:lnSpc>
                <a:spcPct val="100000"/>
              </a:lnSpc>
              <a:spcBef>
                <a:spcPts val="100"/>
              </a:spcBef>
              <a:buSzPct val="91304"/>
              <a:buFont typeface="Segoe UI"/>
              <a:buChar char="*"/>
              <a:tabLst>
                <a:tab pos="104775" algn="l"/>
              </a:tabLst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신규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기능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55">
                <a:solidFill>
                  <a:srgbClr val="4A5462"/>
                </a:solidFill>
                <a:latin typeface="Segoe UI"/>
                <a:cs typeface="Segoe UI"/>
              </a:rPr>
              <a:t>60%</a:t>
            </a:r>
            <a:r>
              <a:rPr dirty="0" sz="1150" spc="-55">
                <a:solidFill>
                  <a:srgbClr val="4A5462"/>
                </a:solidFill>
                <a:latin typeface="Dotum"/>
                <a:cs typeface="Dotum"/>
              </a:rPr>
              <a:t>가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일정보다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평균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80" b="1">
                <a:solidFill>
                  <a:srgbClr val="DB2525"/>
                </a:solidFill>
                <a:latin typeface="Segoe UI"/>
                <a:cs typeface="Segoe UI"/>
              </a:rPr>
              <a:t>45</a:t>
            </a:r>
            <a:r>
              <a:rPr dirty="0" sz="1200" spc="-80">
                <a:solidFill>
                  <a:srgbClr val="DB2525"/>
                </a:solidFill>
                <a:latin typeface="Dotum"/>
                <a:cs typeface="Dotum"/>
              </a:rPr>
              <a:t>일</a:t>
            </a:r>
            <a:r>
              <a:rPr dirty="0" sz="1200" spc="-100">
                <a:solidFill>
                  <a:srgbClr val="DB2525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DB2525"/>
                </a:solidFill>
                <a:latin typeface="Dotum"/>
                <a:cs typeface="Dotum"/>
              </a:rPr>
              <a:t>지연</a:t>
            </a:r>
            <a:r>
              <a:rPr dirty="0" sz="1200" spc="-100">
                <a:solidFill>
                  <a:srgbClr val="DB2525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4A5462"/>
                </a:solidFill>
                <a:latin typeface="Dotum"/>
                <a:cs typeface="Dotum"/>
              </a:rPr>
              <a:t>출시</a:t>
            </a:r>
            <a:endParaRPr sz="1150">
              <a:latin typeface="Dotum"/>
              <a:cs typeface="Dotum"/>
            </a:endParaRPr>
          </a:p>
          <a:p>
            <a:pPr marL="104775" indent="-92075">
              <a:lnSpc>
                <a:spcPct val="100000"/>
              </a:lnSpc>
              <a:spcBef>
                <a:spcPts val="60"/>
              </a:spcBef>
              <a:buSzPct val="91304"/>
              <a:buFont typeface="Segoe UI"/>
              <a:buChar char="*"/>
              <a:tabLst>
                <a:tab pos="104775" algn="l"/>
              </a:tabLst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경쟁사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대비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출시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소요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시간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60" b="1">
                <a:solidFill>
                  <a:srgbClr val="4A5462"/>
                </a:solidFill>
                <a:latin typeface="Segoe UI"/>
                <a:cs typeface="Segoe UI"/>
              </a:rPr>
              <a:t>2.4</a:t>
            </a:r>
            <a:r>
              <a:rPr dirty="0" sz="1200" spc="-60">
                <a:solidFill>
                  <a:srgbClr val="4A5462"/>
                </a:solidFill>
                <a:latin typeface="Dotum"/>
                <a:cs typeface="Dotum"/>
              </a:rPr>
              <a:t>배</a:t>
            </a:r>
            <a:r>
              <a:rPr dirty="0" sz="1200" spc="-10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더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소요</a:t>
            </a:r>
            <a:endParaRPr sz="1150">
              <a:latin typeface="Dotum"/>
              <a:cs typeface="Dot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095999" y="1238249"/>
            <a:ext cx="9525" cy="6248400"/>
          </a:xfrm>
          <a:custGeom>
            <a:avLst/>
            <a:gdLst/>
            <a:ahLst/>
            <a:cxnLst/>
            <a:rect l="l" t="t" r="r" b="b"/>
            <a:pathLst>
              <a:path w="9525" h="6248400">
                <a:moveTo>
                  <a:pt x="9524" y="6248399"/>
                </a:moveTo>
                <a:lnTo>
                  <a:pt x="0" y="6248399"/>
                </a:lnTo>
                <a:lnTo>
                  <a:pt x="0" y="0"/>
                </a:lnTo>
                <a:lnTo>
                  <a:pt x="9524" y="0"/>
                </a:lnTo>
                <a:lnTo>
                  <a:pt x="9524" y="6248399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6334123" y="4743449"/>
            <a:ext cx="5553075" cy="2019300"/>
            <a:chOff x="6334123" y="4743449"/>
            <a:chExt cx="5553075" cy="2019300"/>
          </a:xfrm>
        </p:grpSpPr>
        <p:sp>
          <p:nvSpPr>
            <p:cNvPr id="11" name="object 11" descr=""/>
            <p:cNvSpPr/>
            <p:nvPr/>
          </p:nvSpPr>
          <p:spPr>
            <a:xfrm>
              <a:off x="6334123" y="4743449"/>
              <a:ext cx="5553075" cy="2019300"/>
            </a:xfrm>
            <a:custGeom>
              <a:avLst/>
              <a:gdLst/>
              <a:ahLst/>
              <a:cxnLst/>
              <a:rect l="l" t="t" r="r" b="b"/>
              <a:pathLst>
                <a:path w="5553075" h="2019300">
                  <a:moveTo>
                    <a:pt x="5481878" y="2019299"/>
                  </a:moveTo>
                  <a:lnTo>
                    <a:pt x="71197" y="2019299"/>
                  </a:lnTo>
                  <a:lnTo>
                    <a:pt x="66241" y="2018810"/>
                  </a:lnTo>
                  <a:lnTo>
                    <a:pt x="29705" y="2003676"/>
                  </a:lnTo>
                  <a:lnTo>
                    <a:pt x="3885" y="1967636"/>
                  </a:lnTo>
                  <a:lnTo>
                    <a:pt x="0" y="1948103"/>
                  </a:lnTo>
                  <a:lnTo>
                    <a:pt x="0" y="1943099"/>
                  </a:lnTo>
                  <a:lnTo>
                    <a:pt x="0" y="71196"/>
                  </a:lnTo>
                  <a:lnTo>
                    <a:pt x="15622" y="29704"/>
                  </a:lnTo>
                  <a:lnTo>
                    <a:pt x="51662" y="3885"/>
                  </a:lnTo>
                  <a:lnTo>
                    <a:pt x="71197" y="0"/>
                  </a:lnTo>
                  <a:lnTo>
                    <a:pt x="5481878" y="0"/>
                  </a:lnTo>
                  <a:lnTo>
                    <a:pt x="5523367" y="15621"/>
                  </a:lnTo>
                  <a:lnTo>
                    <a:pt x="5549188" y="51661"/>
                  </a:lnTo>
                  <a:lnTo>
                    <a:pt x="5553073" y="71196"/>
                  </a:lnTo>
                  <a:lnTo>
                    <a:pt x="5553073" y="1948103"/>
                  </a:lnTo>
                  <a:lnTo>
                    <a:pt x="5537451" y="1989593"/>
                  </a:lnTo>
                  <a:lnTo>
                    <a:pt x="5501412" y="2015412"/>
                  </a:lnTo>
                  <a:lnTo>
                    <a:pt x="5486832" y="2018810"/>
                  </a:lnTo>
                  <a:lnTo>
                    <a:pt x="5481878" y="20192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524623" y="6229349"/>
              <a:ext cx="5172075" cy="342900"/>
            </a:xfrm>
            <a:custGeom>
              <a:avLst/>
              <a:gdLst/>
              <a:ahLst/>
              <a:cxnLst/>
              <a:rect l="l" t="t" r="r" b="b"/>
              <a:pathLst>
                <a:path w="5172075" h="342900">
                  <a:moveTo>
                    <a:pt x="5139027" y="342899"/>
                  </a:moveTo>
                  <a:lnTo>
                    <a:pt x="33047" y="342899"/>
                  </a:lnTo>
                  <a:lnTo>
                    <a:pt x="28187" y="341932"/>
                  </a:lnTo>
                  <a:lnTo>
                    <a:pt x="966" y="314711"/>
                  </a:lnTo>
                  <a:lnTo>
                    <a:pt x="0" y="309851"/>
                  </a:lnTo>
                  <a:lnTo>
                    <a:pt x="0" y="3047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39027" y="0"/>
                  </a:lnTo>
                  <a:lnTo>
                    <a:pt x="5171107" y="28186"/>
                  </a:lnTo>
                  <a:lnTo>
                    <a:pt x="5172074" y="33047"/>
                  </a:lnTo>
                  <a:lnTo>
                    <a:pt x="5172074" y="309851"/>
                  </a:lnTo>
                  <a:lnTo>
                    <a:pt x="5143886" y="341932"/>
                  </a:lnTo>
                  <a:lnTo>
                    <a:pt x="5139027" y="3428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4" y="1290637"/>
            <a:ext cx="228600" cy="200025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645275" y="1211224"/>
            <a:ext cx="135064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비즈니스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333333"/>
                </a:solidFill>
                <a:latin typeface="Dotum"/>
                <a:cs typeface="Dotum"/>
              </a:rPr>
              <a:t>영향</a:t>
            </a:r>
            <a:endParaRPr sz="2050">
              <a:latin typeface="Dotum"/>
              <a:cs typeface="Dotum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334123" y="1771650"/>
            <a:ext cx="2705100" cy="1295400"/>
          </a:xfrm>
          <a:custGeom>
            <a:avLst/>
            <a:gdLst/>
            <a:ahLst/>
            <a:cxnLst/>
            <a:rect l="l" t="t" r="r" b="b"/>
            <a:pathLst>
              <a:path w="2705100" h="1295400">
                <a:moveTo>
                  <a:pt x="2633904" y="1295399"/>
                </a:moveTo>
                <a:lnTo>
                  <a:pt x="71197" y="1295399"/>
                </a:lnTo>
                <a:lnTo>
                  <a:pt x="66241" y="1294911"/>
                </a:lnTo>
                <a:lnTo>
                  <a:pt x="29705" y="1279777"/>
                </a:lnTo>
                <a:lnTo>
                  <a:pt x="3885" y="1243737"/>
                </a:lnTo>
                <a:lnTo>
                  <a:pt x="0" y="1224202"/>
                </a:lnTo>
                <a:lnTo>
                  <a:pt x="0" y="1219199"/>
                </a:lnTo>
                <a:lnTo>
                  <a:pt x="0" y="71196"/>
                </a:lnTo>
                <a:lnTo>
                  <a:pt x="15622" y="29704"/>
                </a:lnTo>
                <a:lnTo>
                  <a:pt x="51662" y="3885"/>
                </a:lnTo>
                <a:lnTo>
                  <a:pt x="71197" y="0"/>
                </a:lnTo>
                <a:lnTo>
                  <a:pt x="2633904" y="0"/>
                </a:lnTo>
                <a:lnTo>
                  <a:pt x="2675394" y="15621"/>
                </a:lnTo>
                <a:lnTo>
                  <a:pt x="2701213" y="51661"/>
                </a:lnTo>
                <a:lnTo>
                  <a:pt x="2705099" y="71196"/>
                </a:lnTo>
                <a:lnTo>
                  <a:pt x="2705099" y="1224202"/>
                </a:lnTo>
                <a:lnTo>
                  <a:pt x="2689478" y="1265693"/>
                </a:lnTo>
                <a:lnTo>
                  <a:pt x="2653437" y="1291513"/>
                </a:lnTo>
                <a:lnTo>
                  <a:pt x="2638859" y="1294911"/>
                </a:lnTo>
                <a:lnTo>
                  <a:pt x="2633904" y="1295399"/>
                </a:lnTo>
                <a:close/>
              </a:path>
            </a:pathLst>
          </a:custGeom>
          <a:solidFill>
            <a:srgbClr val="FE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473824" y="1754210"/>
            <a:ext cx="1680845" cy="115570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700" spc="-10" b="1">
                <a:solidFill>
                  <a:srgbClr val="DB2525"/>
                </a:solidFill>
                <a:latin typeface="Segoe UI"/>
                <a:cs typeface="Segoe UI"/>
              </a:rPr>
              <a:t>₩9.2</a:t>
            </a:r>
            <a:r>
              <a:rPr dirty="0" sz="3100" spc="-10">
                <a:solidFill>
                  <a:srgbClr val="DB2525"/>
                </a:solidFill>
                <a:latin typeface="Dotum"/>
                <a:cs typeface="Dotum"/>
              </a:rPr>
              <a:t>억</a:t>
            </a:r>
            <a:endParaRPr sz="31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연간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다운타임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손실액</a:t>
            </a:r>
            <a:endParaRPr sz="15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직접적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매출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손실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및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고객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4A5462"/>
                </a:solidFill>
                <a:latin typeface="Dotum"/>
                <a:cs typeface="Dotum"/>
              </a:rPr>
              <a:t>보상</a:t>
            </a:r>
            <a:endParaRPr sz="1150">
              <a:latin typeface="Dotum"/>
              <a:cs typeface="Dotum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191623" y="1771650"/>
            <a:ext cx="2695575" cy="1295400"/>
          </a:xfrm>
          <a:custGeom>
            <a:avLst/>
            <a:gdLst/>
            <a:ahLst/>
            <a:cxnLst/>
            <a:rect l="l" t="t" r="r" b="b"/>
            <a:pathLst>
              <a:path w="2695575" h="1295400">
                <a:moveTo>
                  <a:pt x="2624378" y="1295399"/>
                </a:moveTo>
                <a:lnTo>
                  <a:pt x="71196" y="1295399"/>
                </a:lnTo>
                <a:lnTo>
                  <a:pt x="66241" y="1294911"/>
                </a:lnTo>
                <a:lnTo>
                  <a:pt x="29704" y="1279777"/>
                </a:lnTo>
                <a:lnTo>
                  <a:pt x="3885" y="1243737"/>
                </a:lnTo>
                <a:lnTo>
                  <a:pt x="0" y="1224202"/>
                </a:lnTo>
                <a:lnTo>
                  <a:pt x="0" y="12191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2624378" y="0"/>
                </a:lnTo>
                <a:lnTo>
                  <a:pt x="2665867" y="15621"/>
                </a:lnTo>
                <a:lnTo>
                  <a:pt x="2691688" y="51661"/>
                </a:lnTo>
                <a:lnTo>
                  <a:pt x="2695574" y="71196"/>
                </a:lnTo>
                <a:lnTo>
                  <a:pt x="2695574" y="1224202"/>
                </a:lnTo>
                <a:lnTo>
                  <a:pt x="2679951" y="1265693"/>
                </a:lnTo>
                <a:lnTo>
                  <a:pt x="2643912" y="1291513"/>
                </a:lnTo>
                <a:lnTo>
                  <a:pt x="2629332" y="1294911"/>
                </a:lnTo>
                <a:lnTo>
                  <a:pt x="2624378" y="1295399"/>
                </a:lnTo>
                <a:close/>
              </a:path>
            </a:pathLst>
          </a:custGeom>
          <a:solidFill>
            <a:srgbClr val="FE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9326561" y="1799227"/>
            <a:ext cx="2293620" cy="111125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700" spc="-10" b="1">
                <a:solidFill>
                  <a:srgbClr val="DB2525"/>
                </a:solidFill>
                <a:latin typeface="Segoe UI"/>
                <a:cs typeface="Segoe UI"/>
              </a:rPr>
              <a:t>12.7%</a:t>
            </a:r>
            <a:endParaRPr sz="27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고객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이탈률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증가</a:t>
            </a:r>
            <a:endParaRPr sz="15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서비스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불안정성으로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인한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고객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신뢰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4A5462"/>
                </a:solidFill>
                <a:latin typeface="Dotum"/>
                <a:cs typeface="Dotum"/>
              </a:rPr>
              <a:t>하락</a:t>
            </a:r>
            <a:endParaRPr sz="1150">
              <a:latin typeface="Dotum"/>
              <a:cs typeface="Dotum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334123" y="3219449"/>
            <a:ext cx="2705100" cy="1295400"/>
          </a:xfrm>
          <a:custGeom>
            <a:avLst/>
            <a:gdLst/>
            <a:ahLst/>
            <a:cxnLst/>
            <a:rect l="l" t="t" r="r" b="b"/>
            <a:pathLst>
              <a:path w="2705100" h="1295400">
                <a:moveTo>
                  <a:pt x="2633904" y="1295399"/>
                </a:moveTo>
                <a:lnTo>
                  <a:pt x="71197" y="1295399"/>
                </a:lnTo>
                <a:lnTo>
                  <a:pt x="66241" y="1294911"/>
                </a:lnTo>
                <a:lnTo>
                  <a:pt x="29705" y="1279777"/>
                </a:lnTo>
                <a:lnTo>
                  <a:pt x="3885" y="1243737"/>
                </a:lnTo>
                <a:lnTo>
                  <a:pt x="0" y="1224203"/>
                </a:lnTo>
                <a:lnTo>
                  <a:pt x="0" y="1219199"/>
                </a:lnTo>
                <a:lnTo>
                  <a:pt x="0" y="71196"/>
                </a:lnTo>
                <a:lnTo>
                  <a:pt x="15622" y="29705"/>
                </a:lnTo>
                <a:lnTo>
                  <a:pt x="51662" y="3885"/>
                </a:lnTo>
                <a:lnTo>
                  <a:pt x="71197" y="0"/>
                </a:lnTo>
                <a:lnTo>
                  <a:pt x="2633904" y="0"/>
                </a:lnTo>
                <a:lnTo>
                  <a:pt x="2675394" y="15621"/>
                </a:lnTo>
                <a:lnTo>
                  <a:pt x="2701213" y="51661"/>
                </a:lnTo>
                <a:lnTo>
                  <a:pt x="2705099" y="71196"/>
                </a:lnTo>
                <a:lnTo>
                  <a:pt x="2705099" y="1224203"/>
                </a:lnTo>
                <a:lnTo>
                  <a:pt x="2689478" y="1265693"/>
                </a:lnTo>
                <a:lnTo>
                  <a:pt x="2653437" y="1291513"/>
                </a:lnTo>
                <a:lnTo>
                  <a:pt x="2638859" y="1294911"/>
                </a:lnTo>
                <a:lnTo>
                  <a:pt x="2633904" y="1295399"/>
                </a:lnTo>
                <a:close/>
              </a:path>
            </a:pathLst>
          </a:custGeom>
          <a:solidFill>
            <a:srgbClr val="FE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473824" y="3247027"/>
            <a:ext cx="2012314" cy="111125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700" spc="-25" b="1">
                <a:solidFill>
                  <a:srgbClr val="DB2525"/>
                </a:solidFill>
                <a:latin typeface="Segoe UI"/>
                <a:cs typeface="Segoe UI"/>
              </a:rPr>
              <a:t>67%</a:t>
            </a:r>
            <a:endParaRPr sz="27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개발자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생산성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저하</a:t>
            </a:r>
            <a:endParaRPr sz="15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레거시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코드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유지보수에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리소스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4A5462"/>
                </a:solidFill>
                <a:latin typeface="Dotum"/>
                <a:cs typeface="Dotum"/>
              </a:rPr>
              <a:t>소모</a:t>
            </a:r>
            <a:endParaRPr sz="1150">
              <a:latin typeface="Dotum"/>
              <a:cs typeface="Dotum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191623" y="3219449"/>
            <a:ext cx="2695575" cy="1295400"/>
          </a:xfrm>
          <a:custGeom>
            <a:avLst/>
            <a:gdLst/>
            <a:ahLst/>
            <a:cxnLst/>
            <a:rect l="l" t="t" r="r" b="b"/>
            <a:pathLst>
              <a:path w="2695575" h="1295400">
                <a:moveTo>
                  <a:pt x="2624378" y="1295399"/>
                </a:moveTo>
                <a:lnTo>
                  <a:pt x="71196" y="1295399"/>
                </a:lnTo>
                <a:lnTo>
                  <a:pt x="66241" y="1294911"/>
                </a:lnTo>
                <a:lnTo>
                  <a:pt x="29704" y="1279777"/>
                </a:lnTo>
                <a:lnTo>
                  <a:pt x="3885" y="1243737"/>
                </a:lnTo>
                <a:lnTo>
                  <a:pt x="0" y="1224203"/>
                </a:lnTo>
                <a:lnTo>
                  <a:pt x="0" y="12191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624378" y="0"/>
                </a:lnTo>
                <a:lnTo>
                  <a:pt x="2665867" y="15621"/>
                </a:lnTo>
                <a:lnTo>
                  <a:pt x="2691688" y="51661"/>
                </a:lnTo>
                <a:lnTo>
                  <a:pt x="2695574" y="71196"/>
                </a:lnTo>
                <a:lnTo>
                  <a:pt x="2695574" y="1224203"/>
                </a:lnTo>
                <a:lnTo>
                  <a:pt x="2679951" y="1265693"/>
                </a:lnTo>
                <a:lnTo>
                  <a:pt x="2643912" y="1291513"/>
                </a:lnTo>
                <a:lnTo>
                  <a:pt x="2629332" y="1294911"/>
                </a:lnTo>
                <a:lnTo>
                  <a:pt x="2624378" y="1295399"/>
                </a:lnTo>
                <a:close/>
              </a:path>
            </a:pathLst>
          </a:custGeom>
          <a:solidFill>
            <a:srgbClr val="FE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9326561" y="3247027"/>
            <a:ext cx="1433830" cy="111125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700" spc="-20" b="1">
                <a:solidFill>
                  <a:srgbClr val="DB2525"/>
                </a:solidFill>
                <a:latin typeface="Segoe UI"/>
                <a:cs typeface="Segoe UI"/>
              </a:rPr>
              <a:t>3.2%</a:t>
            </a:r>
            <a:endParaRPr sz="27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시장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점유율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감소</a:t>
            </a:r>
            <a:endParaRPr sz="15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최근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2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년간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지속적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75">
                <a:solidFill>
                  <a:srgbClr val="4A5462"/>
                </a:solidFill>
                <a:latin typeface="Dotum"/>
                <a:cs typeface="Dotum"/>
              </a:rPr>
              <a:t>하락세</a:t>
            </a:r>
            <a:endParaRPr sz="1150">
              <a:latin typeface="Dotum"/>
              <a:cs typeface="Dot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11925" y="4924792"/>
            <a:ext cx="14287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경쟁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우위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상실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위험</a:t>
            </a:r>
            <a:endParaRPr sz="1550">
              <a:latin typeface="Dotum"/>
              <a:cs typeface="Dotum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010399" y="5314949"/>
            <a:ext cx="1314450" cy="762000"/>
            <a:chOff x="7010399" y="5314949"/>
            <a:chExt cx="1314450" cy="762000"/>
          </a:xfrm>
        </p:grpSpPr>
        <p:sp>
          <p:nvSpPr>
            <p:cNvPr id="25" name="object 25" descr=""/>
            <p:cNvSpPr/>
            <p:nvPr/>
          </p:nvSpPr>
          <p:spPr>
            <a:xfrm>
              <a:off x="8277212" y="5438774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62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62"/>
                  </a:lnTo>
                  <a:lnTo>
                    <a:pt x="0" y="484174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74"/>
                  </a:lnTo>
                  <a:lnTo>
                    <a:pt x="47625" y="481012"/>
                  </a:lnTo>
                  <a:lnTo>
                    <a:pt x="47625" y="477862"/>
                  </a:lnTo>
                  <a:close/>
                </a:path>
                <a:path w="47625" h="504825">
                  <a:moveTo>
                    <a:pt x="47625" y="249262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62"/>
                  </a:lnTo>
                  <a:lnTo>
                    <a:pt x="0" y="255574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74"/>
                  </a:lnTo>
                  <a:lnTo>
                    <a:pt x="47625" y="252412"/>
                  </a:lnTo>
                  <a:lnTo>
                    <a:pt x="47625" y="249262"/>
                  </a:lnTo>
                  <a:close/>
                </a:path>
                <a:path w="47625" h="504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29449" y="5333999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723899" y="361949"/>
                  </a:moveTo>
                  <a:lnTo>
                    <a:pt x="721177" y="406259"/>
                  </a:lnTo>
                  <a:lnTo>
                    <a:pt x="713052" y="449896"/>
                  </a:lnTo>
                  <a:lnTo>
                    <a:pt x="699647" y="492211"/>
                  </a:lnTo>
                  <a:lnTo>
                    <a:pt x="681161" y="532571"/>
                  </a:lnTo>
                  <a:lnTo>
                    <a:pt x="657873" y="570365"/>
                  </a:lnTo>
                  <a:lnTo>
                    <a:pt x="630137" y="605021"/>
                  </a:lnTo>
                  <a:lnTo>
                    <a:pt x="598368" y="636020"/>
                  </a:lnTo>
                  <a:lnTo>
                    <a:pt x="563038" y="662900"/>
                  </a:lnTo>
                  <a:lnTo>
                    <a:pt x="524684" y="685254"/>
                  </a:lnTo>
                  <a:lnTo>
                    <a:pt x="483886" y="702742"/>
                  </a:lnTo>
                  <a:lnTo>
                    <a:pt x="441255" y="715105"/>
                  </a:lnTo>
                  <a:lnTo>
                    <a:pt x="397427" y="722157"/>
                  </a:lnTo>
                  <a:lnTo>
                    <a:pt x="361949" y="723899"/>
                  </a:lnTo>
                  <a:lnTo>
                    <a:pt x="353064" y="723791"/>
                  </a:lnTo>
                  <a:lnTo>
                    <a:pt x="308840" y="719982"/>
                  </a:lnTo>
                  <a:lnTo>
                    <a:pt x="265415" y="710789"/>
                  </a:lnTo>
                  <a:lnTo>
                    <a:pt x="223436" y="696348"/>
                  </a:lnTo>
                  <a:lnTo>
                    <a:pt x="183542" y="676877"/>
                  </a:lnTo>
                  <a:lnTo>
                    <a:pt x="146335" y="652671"/>
                  </a:lnTo>
                  <a:lnTo>
                    <a:pt x="112371" y="624093"/>
                  </a:lnTo>
                  <a:lnTo>
                    <a:pt x="82158" y="591569"/>
                  </a:lnTo>
                  <a:lnTo>
                    <a:pt x="56152" y="555589"/>
                  </a:lnTo>
                  <a:lnTo>
                    <a:pt x="34749" y="516703"/>
                  </a:lnTo>
                  <a:lnTo>
                    <a:pt x="18268" y="475489"/>
                  </a:lnTo>
                  <a:lnTo>
                    <a:pt x="6953" y="432562"/>
                  </a:lnTo>
                  <a:lnTo>
                    <a:pt x="980" y="388574"/>
                  </a:lnTo>
                  <a:lnTo>
                    <a:pt x="0" y="361949"/>
                  </a:lnTo>
                  <a:lnTo>
                    <a:pt x="108" y="353064"/>
                  </a:lnTo>
                  <a:lnTo>
                    <a:pt x="3916" y="308840"/>
                  </a:lnTo>
                  <a:lnTo>
                    <a:pt x="13109" y="265415"/>
                  </a:lnTo>
                  <a:lnTo>
                    <a:pt x="27550" y="223436"/>
                  </a:lnTo>
                  <a:lnTo>
                    <a:pt x="47022" y="183542"/>
                  </a:lnTo>
                  <a:lnTo>
                    <a:pt x="71228" y="146336"/>
                  </a:lnTo>
                  <a:lnTo>
                    <a:pt x="99805" y="112372"/>
                  </a:lnTo>
                  <a:lnTo>
                    <a:pt x="132330" y="82158"/>
                  </a:lnTo>
                  <a:lnTo>
                    <a:pt x="168308" y="56153"/>
                  </a:lnTo>
                  <a:lnTo>
                    <a:pt x="207195" y="34750"/>
                  </a:lnTo>
                  <a:lnTo>
                    <a:pt x="248409" y="18269"/>
                  </a:lnTo>
                  <a:lnTo>
                    <a:pt x="291336" y="6954"/>
                  </a:lnTo>
                  <a:lnTo>
                    <a:pt x="335325" y="980"/>
                  </a:lnTo>
                  <a:lnTo>
                    <a:pt x="361949" y="0"/>
                  </a:lnTo>
                  <a:lnTo>
                    <a:pt x="370835" y="109"/>
                  </a:lnTo>
                  <a:lnTo>
                    <a:pt x="415059" y="3917"/>
                  </a:lnTo>
                  <a:lnTo>
                    <a:pt x="458483" y="13110"/>
                  </a:lnTo>
                  <a:lnTo>
                    <a:pt x="500461" y="27551"/>
                  </a:lnTo>
                  <a:lnTo>
                    <a:pt x="540357" y="47022"/>
                  </a:lnTo>
                  <a:lnTo>
                    <a:pt x="577563" y="71228"/>
                  </a:lnTo>
                  <a:lnTo>
                    <a:pt x="611527" y="99806"/>
                  </a:lnTo>
                  <a:lnTo>
                    <a:pt x="641741" y="132331"/>
                  </a:lnTo>
                  <a:lnTo>
                    <a:pt x="667746" y="168309"/>
                  </a:lnTo>
                  <a:lnTo>
                    <a:pt x="689148" y="207195"/>
                  </a:lnTo>
                  <a:lnTo>
                    <a:pt x="705630" y="248409"/>
                  </a:lnTo>
                  <a:lnTo>
                    <a:pt x="716944" y="291336"/>
                  </a:lnTo>
                  <a:lnTo>
                    <a:pt x="722919" y="335326"/>
                  </a:lnTo>
                  <a:lnTo>
                    <a:pt x="723899" y="361949"/>
                  </a:lnTo>
                  <a:close/>
                </a:path>
              </a:pathLst>
            </a:custGeom>
            <a:ln w="38099">
              <a:solidFill>
                <a:srgbClr val="D0D5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135462" y="5333999"/>
              <a:ext cx="339090" cy="106045"/>
            </a:xfrm>
            <a:custGeom>
              <a:avLst/>
              <a:gdLst/>
              <a:ahLst/>
              <a:cxnLst/>
              <a:rect l="l" t="t" r="r" b="b"/>
              <a:pathLst>
                <a:path w="339090" h="106045">
                  <a:moveTo>
                    <a:pt x="0" y="106012"/>
                  </a:moveTo>
                  <a:lnTo>
                    <a:pt x="33256" y="76606"/>
                  </a:lnTo>
                  <a:lnTo>
                    <a:pt x="69857" y="51494"/>
                  </a:lnTo>
                  <a:lnTo>
                    <a:pt x="109257" y="31052"/>
                  </a:lnTo>
                  <a:lnTo>
                    <a:pt x="150868" y="15585"/>
                  </a:lnTo>
                  <a:lnTo>
                    <a:pt x="194060" y="5328"/>
                  </a:lnTo>
                  <a:lnTo>
                    <a:pt x="238177" y="435"/>
                  </a:lnTo>
                  <a:lnTo>
                    <a:pt x="255937" y="0"/>
                  </a:lnTo>
                  <a:lnTo>
                    <a:pt x="264822" y="108"/>
                  </a:lnTo>
                  <a:lnTo>
                    <a:pt x="309046" y="3917"/>
                  </a:lnTo>
                  <a:lnTo>
                    <a:pt x="335243" y="8795"/>
                  </a:lnTo>
                  <a:lnTo>
                    <a:pt x="338832" y="9647"/>
                  </a:lnTo>
                </a:path>
              </a:pathLst>
            </a:custGeom>
            <a:ln w="38099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426450" y="5303811"/>
            <a:ext cx="2774315" cy="711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90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경쟁사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55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dirty="0" sz="1150" spc="-55">
                <a:solidFill>
                  <a:srgbClr val="333333"/>
                </a:solidFill>
                <a:latin typeface="Dotum"/>
                <a:cs typeface="Dotum"/>
              </a:rPr>
              <a:t>사</a:t>
            </a:r>
            <a:r>
              <a:rPr dirty="0" sz="1050" spc="-55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월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r>
              <a:rPr dirty="0" sz="1150" spc="-100">
                <a:solidFill>
                  <a:srgbClr val="333333"/>
                </a:solidFill>
                <a:latin typeface="Dotum"/>
                <a:cs typeface="Dotum"/>
              </a:rPr>
              <a:t>회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신기능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출시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(</a:t>
            </a:r>
            <a:r>
              <a:rPr dirty="0" sz="1150" spc="-100">
                <a:solidFill>
                  <a:srgbClr val="333333"/>
                </a:solidFill>
                <a:latin typeface="Dotum"/>
                <a:cs typeface="Dotum"/>
              </a:rPr>
              <a:t>당사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분기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1-</a:t>
            </a:r>
            <a:r>
              <a:rPr dirty="0" sz="1050" spc="-75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r>
              <a:rPr dirty="0" sz="1150" spc="-75">
                <a:solidFill>
                  <a:srgbClr val="333333"/>
                </a:solidFill>
                <a:latin typeface="Dotum"/>
                <a:cs typeface="Dotum"/>
              </a:rPr>
              <a:t>회</a:t>
            </a:r>
            <a:r>
              <a:rPr dirty="0" sz="1050" spc="-75">
                <a:solidFill>
                  <a:srgbClr val="333333"/>
                </a:solidFill>
                <a:latin typeface="Segoe UI"/>
                <a:cs typeface="Segoe UI"/>
              </a:rPr>
              <a:t>)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업계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평균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복구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시간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80">
                <a:solidFill>
                  <a:srgbClr val="333333"/>
                </a:solidFill>
                <a:latin typeface="Segoe UI"/>
                <a:cs typeface="Segoe UI"/>
              </a:rPr>
              <a:t>2.3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시간 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(</a:t>
            </a:r>
            <a:r>
              <a:rPr dirty="0" sz="1150" spc="-100">
                <a:solidFill>
                  <a:srgbClr val="333333"/>
                </a:solidFill>
                <a:latin typeface="Dotum"/>
                <a:cs typeface="Dotum"/>
              </a:rPr>
              <a:t>당사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8.5</a:t>
            </a:r>
            <a:r>
              <a:rPr dirty="0" sz="1150" spc="-10">
                <a:solidFill>
                  <a:srgbClr val="333333"/>
                </a:solidFill>
                <a:latin typeface="Dotum"/>
                <a:cs typeface="Dotum"/>
              </a:rPr>
              <a:t>시간</a:t>
            </a: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)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고객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요구사항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333333"/>
                </a:solidFill>
                <a:latin typeface="Dotum"/>
                <a:cs typeface="Dotum"/>
              </a:rPr>
              <a:t>반영률</a:t>
            </a:r>
            <a:r>
              <a:rPr dirty="0" sz="1050" spc="-145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72%</a:t>
            </a:r>
            <a:r>
              <a:rPr dirty="0" sz="10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(</a:t>
            </a:r>
            <a:r>
              <a:rPr dirty="0" sz="1150" spc="-100">
                <a:solidFill>
                  <a:srgbClr val="333333"/>
                </a:solidFill>
                <a:latin typeface="Dotum"/>
                <a:cs typeface="Dotum"/>
              </a:rPr>
              <a:t>당사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20">
                <a:solidFill>
                  <a:srgbClr val="333333"/>
                </a:solidFill>
                <a:latin typeface="Segoe UI"/>
                <a:cs typeface="Segoe UI"/>
              </a:rPr>
              <a:t>43%)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422604" y="6282905"/>
            <a:ext cx="33762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현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상태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지속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시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30" b="1">
                <a:solidFill>
                  <a:srgbClr val="333333"/>
                </a:solidFill>
                <a:latin typeface="Segoe UI Semibold"/>
                <a:cs typeface="Segoe UI Semibold"/>
              </a:rPr>
              <a:t>3</a:t>
            </a:r>
            <a:r>
              <a:rPr dirty="0" sz="1200" spc="-130">
                <a:solidFill>
                  <a:srgbClr val="333333"/>
                </a:solidFill>
                <a:latin typeface="Dotum"/>
                <a:cs typeface="Dotum"/>
              </a:rPr>
              <a:t>년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내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시장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경쟁력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DB2525"/>
                </a:solidFill>
                <a:latin typeface="Dotum"/>
                <a:cs typeface="Dotum"/>
              </a:rPr>
              <a:t>최대</a:t>
            </a:r>
            <a:r>
              <a:rPr dirty="0" sz="1200" spc="-114">
                <a:solidFill>
                  <a:srgbClr val="DB2525"/>
                </a:solidFill>
                <a:latin typeface="Dotum"/>
                <a:cs typeface="Dotum"/>
              </a:rPr>
              <a:t> </a:t>
            </a:r>
            <a:r>
              <a:rPr dirty="0" sz="1050" b="1">
                <a:solidFill>
                  <a:srgbClr val="DB2525"/>
                </a:solidFill>
                <a:latin typeface="Segoe UI Semibold"/>
                <a:cs typeface="Segoe UI Semibold"/>
              </a:rPr>
              <a:t>35%</a:t>
            </a:r>
            <a:r>
              <a:rPr dirty="0" sz="1050" spc="-10" b="1">
                <a:solidFill>
                  <a:srgbClr val="DB2525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DB2525"/>
                </a:solidFill>
                <a:latin typeface="Dotum"/>
                <a:cs typeface="Dotum"/>
              </a:rPr>
              <a:t>추가</a:t>
            </a:r>
            <a:r>
              <a:rPr dirty="0" sz="1200" spc="-114">
                <a:solidFill>
                  <a:srgbClr val="DB2525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DB2525"/>
                </a:solidFill>
                <a:latin typeface="Dotum"/>
                <a:cs typeface="Dotum"/>
              </a:rPr>
              <a:t>하락</a:t>
            </a:r>
            <a:r>
              <a:rPr dirty="0" sz="1200" spc="-114">
                <a:solidFill>
                  <a:srgbClr val="DB2525"/>
                </a:solidFill>
                <a:latin typeface="Dotum"/>
                <a:cs typeface="Dotum"/>
              </a:rPr>
              <a:t> </a:t>
            </a:r>
            <a:r>
              <a:rPr dirty="0" sz="1200" spc="-135">
                <a:solidFill>
                  <a:srgbClr val="333333"/>
                </a:solidFill>
                <a:latin typeface="Dotum"/>
                <a:cs typeface="Dotum"/>
              </a:rPr>
              <a:t>예상</a:t>
            </a:r>
            <a:endParaRPr sz="1200">
              <a:latin typeface="Dotum"/>
              <a:cs typeface="Dotum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304799" y="7791450"/>
            <a:ext cx="11582400" cy="800100"/>
            <a:chOff x="304799" y="7791450"/>
            <a:chExt cx="11582400" cy="800100"/>
          </a:xfrm>
        </p:grpSpPr>
        <p:sp>
          <p:nvSpPr>
            <p:cNvPr id="31" name="object 31" descr=""/>
            <p:cNvSpPr/>
            <p:nvPr/>
          </p:nvSpPr>
          <p:spPr>
            <a:xfrm>
              <a:off x="323849" y="7791450"/>
              <a:ext cx="11563350" cy="800100"/>
            </a:xfrm>
            <a:custGeom>
              <a:avLst/>
              <a:gdLst/>
              <a:ahLst/>
              <a:cxnLst/>
              <a:rect l="l" t="t" r="r" b="b"/>
              <a:pathLst>
                <a:path w="11563350" h="800100">
                  <a:moveTo>
                    <a:pt x="11492152" y="800098"/>
                  </a:moveTo>
                  <a:lnTo>
                    <a:pt x="53397" y="800098"/>
                  </a:lnTo>
                  <a:lnTo>
                    <a:pt x="49681" y="799610"/>
                  </a:lnTo>
                  <a:lnTo>
                    <a:pt x="14085" y="774242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5"/>
                  </a:lnTo>
                  <a:lnTo>
                    <a:pt x="11716" y="29703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11492152" y="0"/>
                  </a:lnTo>
                  <a:lnTo>
                    <a:pt x="11533641" y="15619"/>
                  </a:lnTo>
                  <a:lnTo>
                    <a:pt x="11559462" y="51660"/>
                  </a:lnTo>
                  <a:lnTo>
                    <a:pt x="11563347" y="71195"/>
                  </a:lnTo>
                  <a:lnTo>
                    <a:pt x="11563347" y="728903"/>
                  </a:lnTo>
                  <a:lnTo>
                    <a:pt x="11547725" y="770393"/>
                  </a:lnTo>
                  <a:lnTo>
                    <a:pt x="11511685" y="796212"/>
                  </a:lnTo>
                  <a:lnTo>
                    <a:pt x="11497106" y="799611"/>
                  </a:lnTo>
                  <a:lnTo>
                    <a:pt x="11492152" y="800098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04787" y="7791729"/>
              <a:ext cx="447675" cy="800100"/>
            </a:xfrm>
            <a:custGeom>
              <a:avLst/>
              <a:gdLst/>
              <a:ahLst/>
              <a:cxnLst/>
              <a:rect l="l" t="t" r="r" b="b"/>
              <a:pathLst>
                <a:path w="447675" h="800100">
                  <a:moveTo>
                    <a:pt x="70459" y="0"/>
                  </a:moveTo>
                  <a:lnTo>
                    <a:pt x="33858" y="12560"/>
                  </a:lnTo>
                  <a:lnTo>
                    <a:pt x="5803" y="46761"/>
                  </a:lnTo>
                  <a:lnTo>
                    <a:pt x="0" y="75933"/>
                  </a:lnTo>
                  <a:lnTo>
                    <a:pt x="0" y="723633"/>
                  </a:lnTo>
                  <a:lnTo>
                    <a:pt x="12839" y="765962"/>
                  </a:lnTo>
                  <a:lnTo>
                    <a:pt x="47040" y="794029"/>
                  </a:lnTo>
                  <a:lnTo>
                    <a:pt x="70459" y="799553"/>
                  </a:lnTo>
                  <a:lnTo>
                    <a:pt x="66294" y="797890"/>
                  </a:lnTo>
                  <a:lnTo>
                    <a:pt x="56959" y="790155"/>
                  </a:lnTo>
                  <a:lnTo>
                    <a:pt x="41008" y="752792"/>
                  </a:lnTo>
                  <a:lnTo>
                    <a:pt x="38100" y="723633"/>
                  </a:lnTo>
                  <a:lnTo>
                    <a:pt x="38100" y="75933"/>
                  </a:lnTo>
                  <a:lnTo>
                    <a:pt x="44526" y="33578"/>
                  </a:lnTo>
                  <a:lnTo>
                    <a:pt x="66294" y="1663"/>
                  </a:lnTo>
                  <a:lnTo>
                    <a:pt x="70459" y="0"/>
                  </a:lnTo>
                  <a:close/>
                </a:path>
                <a:path w="447675" h="800100">
                  <a:moveTo>
                    <a:pt x="447675" y="454494"/>
                  </a:moveTo>
                  <a:lnTo>
                    <a:pt x="434352" y="389407"/>
                  </a:lnTo>
                  <a:lnTo>
                    <a:pt x="396519" y="334810"/>
                  </a:lnTo>
                  <a:lnTo>
                    <a:pt x="339788" y="280695"/>
                  </a:lnTo>
                  <a:lnTo>
                    <a:pt x="333425" y="274675"/>
                  </a:lnTo>
                  <a:lnTo>
                    <a:pt x="329806" y="266230"/>
                  </a:lnTo>
                  <a:lnTo>
                    <a:pt x="329806" y="234759"/>
                  </a:lnTo>
                  <a:lnTo>
                    <a:pt x="323380" y="228320"/>
                  </a:lnTo>
                  <a:lnTo>
                    <a:pt x="311061" y="228320"/>
                  </a:lnTo>
                  <a:lnTo>
                    <a:pt x="306768" y="230466"/>
                  </a:lnTo>
                  <a:lnTo>
                    <a:pt x="304088" y="234086"/>
                  </a:lnTo>
                  <a:lnTo>
                    <a:pt x="293370" y="248348"/>
                  </a:lnTo>
                  <a:lnTo>
                    <a:pt x="286004" y="260032"/>
                  </a:lnTo>
                  <a:lnTo>
                    <a:pt x="280631" y="272694"/>
                  </a:lnTo>
                  <a:lnTo>
                    <a:pt x="277342" y="286067"/>
                  </a:lnTo>
                  <a:lnTo>
                    <a:pt x="276225" y="299859"/>
                  </a:lnTo>
                  <a:lnTo>
                    <a:pt x="277901" y="316687"/>
                  </a:lnTo>
                  <a:lnTo>
                    <a:pt x="282765" y="332740"/>
                  </a:lnTo>
                  <a:lnTo>
                    <a:pt x="290639" y="347522"/>
                  </a:lnTo>
                  <a:lnTo>
                    <a:pt x="301345" y="360603"/>
                  </a:lnTo>
                  <a:lnTo>
                    <a:pt x="327202" y="386448"/>
                  </a:lnTo>
                  <a:lnTo>
                    <a:pt x="332867" y="393369"/>
                  </a:lnTo>
                  <a:lnTo>
                    <a:pt x="337045" y="401193"/>
                  </a:lnTo>
                  <a:lnTo>
                    <a:pt x="339636" y="409689"/>
                  </a:lnTo>
                  <a:lnTo>
                    <a:pt x="340525" y="418592"/>
                  </a:lnTo>
                  <a:lnTo>
                    <a:pt x="340525" y="421208"/>
                  </a:lnTo>
                  <a:lnTo>
                    <a:pt x="337146" y="437883"/>
                  </a:lnTo>
                  <a:lnTo>
                    <a:pt x="327964" y="451510"/>
                  </a:lnTo>
                  <a:lnTo>
                    <a:pt x="314337" y="460692"/>
                  </a:lnTo>
                  <a:lnTo>
                    <a:pt x="297662" y="464070"/>
                  </a:lnTo>
                  <a:lnTo>
                    <a:pt x="280987" y="460692"/>
                  </a:lnTo>
                  <a:lnTo>
                    <a:pt x="267360" y="451510"/>
                  </a:lnTo>
                  <a:lnTo>
                    <a:pt x="258178" y="437883"/>
                  </a:lnTo>
                  <a:lnTo>
                    <a:pt x="254800" y="421208"/>
                  </a:lnTo>
                  <a:lnTo>
                    <a:pt x="254800" y="352958"/>
                  </a:lnTo>
                  <a:lnTo>
                    <a:pt x="248031" y="346202"/>
                  </a:lnTo>
                  <a:lnTo>
                    <a:pt x="235648" y="346202"/>
                  </a:lnTo>
                  <a:lnTo>
                    <a:pt x="231762" y="347802"/>
                  </a:lnTo>
                  <a:lnTo>
                    <a:pt x="199885" y="392938"/>
                  </a:lnTo>
                  <a:lnTo>
                    <a:pt x="190500" y="440093"/>
                  </a:lnTo>
                  <a:lnTo>
                    <a:pt x="190500" y="442633"/>
                  </a:lnTo>
                  <a:lnTo>
                    <a:pt x="200609" y="492683"/>
                  </a:lnTo>
                  <a:lnTo>
                    <a:pt x="228180" y="533552"/>
                  </a:lnTo>
                  <a:lnTo>
                    <a:pt x="269049" y="561124"/>
                  </a:lnTo>
                  <a:lnTo>
                    <a:pt x="319087" y="571220"/>
                  </a:lnTo>
                  <a:lnTo>
                    <a:pt x="330949" y="571220"/>
                  </a:lnTo>
                  <a:lnTo>
                    <a:pt x="376389" y="562051"/>
                  </a:lnTo>
                  <a:lnTo>
                    <a:pt x="413499" y="537044"/>
                  </a:lnTo>
                  <a:lnTo>
                    <a:pt x="438505" y="499935"/>
                  </a:lnTo>
                  <a:lnTo>
                    <a:pt x="447675" y="45449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892175" y="7906254"/>
            <a:ext cx="6523355" cy="5232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700" spc="-225">
                <a:solidFill>
                  <a:srgbClr val="B91B1B"/>
                </a:solidFill>
                <a:latin typeface="Dotum"/>
                <a:cs typeface="Dotum"/>
              </a:rPr>
              <a:t>결론</a:t>
            </a:r>
            <a:r>
              <a:rPr dirty="0" sz="1500" spc="-225" b="1">
                <a:solidFill>
                  <a:srgbClr val="B91B1B"/>
                </a:solidFill>
                <a:latin typeface="Segoe UI"/>
                <a:cs typeface="Segoe UI"/>
              </a:rPr>
              <a:t>:</a:t>
            </a:r>
            <a:r>
              <a:rPr dirty="0" sz="1500" spc="5" b="1">
                <a:solidFill>
                  <a:srgbClr val="B91B1B"/>
                </a:solidFill>
                <a:latin typeface="Segoe UI"/>
                <a:cs typeface="Segoe UI"/>
              </a:rPr>
              <a:t> </a:t>
            </a:r>
            <a:r>
              <a:rPr dirty="0" sz="1700" spc="-325">
                <a:solidFill>
                  <a:srgbClr val="B91B1B"/>
                </a:solidFill>
                <a:latin typeface="Dotum"/>
                <a:cs typeface="Dotum"/>
              </a:rPr>
              <a:t>시스템</a:t>
            </a:r>
            <a:r>
              <a:rPr dirty="0" sz="1700" spc="-145">
                <a:solidFill>
                  <a:srgbClr val="B91B1B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B91B1B"/>
                </a:solidFill>
                <a:latin typeface="Dotum"/>
                <a:cs typeface="Dotum"/>
              </a:rPr>
              <a:t>현대화는</a:t>
            </a:r>
            <a:r>
              <a:rPr dirty="0" sz="1700" spc="-145">
                <a:solidFill>
                  <a:srgbClr val="B91B1B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B91B1B"/>
                </a:solidFill>
                <a:latin typeface="Dotum"/>
                <a:cs typeface="Dotum"/>
              </a:rPr>
              <a:t>선택이</a:t>
            </a:r>
            <a:r>
              <a:rPr dirty="0" sz="1700" spc="-150">
                <a:solidFill>
                  <a:srgbClr val="B91B1B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B91B1B"/>
                </a:solidFill>
                <a:latin typeface="Dotum"/>
                <a:cs typeface="Dotum"/>
              </a:rPr>
              <a:t>아닌</a:t>
            </a:r>
            <a:r>
              <a:rPr dirty="0" sz="1700" spc="-145">
                <a:solidFill>
                  <a:srgbClr val="B91B1B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B91B1B"/>
                </a:solidFill>
                <a:latin typeface="Dotum"/>
                <a:cs typeface="Dotum"/>
              </a:rPr>
              <a:t>생존의</a:t>
            </a:r>
            <a:r>
              <a:rPr dirty="0" sz="1700" spc="-145">
                <a:solidFill>
                  <a:srgbClr val="B91B1B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B91B1B"/>
                </a:solidFill>
                <a:latin typeface="Dotum"/>
                <a:cs typeface="Dotum"/>
              </a:rPr>
              <a:t>문제</a:t>
            </a:r>
            <a:endParaRPr sz="17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지금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행동하지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00">
                <a:solidFill>
                  <a:srgbClr val="374050"/>
                </a:solidFill>
                <a:latin typeface="Dotum"/>
                <a:cs typeface="Dotum"/>
              </a:rPr>
              <a:t>않으면</a:t>
            </a:r>
            <a:r>
              <a:rPr dirty="0" sz="1200" spc="-200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200" spc="1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증가하는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기술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부채와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시장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기회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상실로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인한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비즈니스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손실은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가속화될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105">
                <a:solidFill>
                  <a:srgbClr val="374050"/>
                </a:solidFill>
                <a:latin typeface="Dotum"/>
                <a:cs typeface="Dotum"/>
              </a:rPr>
              <a:t>것입니다</a:t>
            </a:r>
            <a:r>
              <a:rPr dirty="0" sz="1200" spc="-105">
                <a:solidFill>
                  <a:srgbClr val="374050"/>
                </a:solidFill>
                <a:latin typeface="Segoe UI"/>
                <a:cs typeface="Segoe UI"/>
              </a:rPr>
              <a:t>.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2114550"/>
            <a:ext cx="5562599" cy="1904999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" y="5124450"/>
            <a:ext cx="5562599" cy="1904999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7342683" y="5568950"/>
            <a:ext cx="882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333333"/>
                </a:solidFill>
                <a:latin typeface="Segoe UI"/>
                <a:cs typeface="Segoe UI"/>
              </a:rPr>
              <a:t>!</a:t>
            </a:r>
            <a:endParaRPr sz="1500">
              <a:latin typeface="Segoe UI"/>
              <a:cs typeface="Segoe U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0658474" y="8305800"/>
            <a:ext cx="1343025" cy="323850"/>
            <a:chOff x="10658474" y="8305800"/>
            <a:chExt cx="1343025" cy="323850"/>
          </a:xfrm>
        </p:grpSpPr>
        <p:sp>
          <p:nvSpPr>
            <p:cNvPr id="38" name="object 38" descr=""/>
            <p:cNvSpPr/>
            <p:nvPr/>
          </p:nvSpPr>
          <p:spPr>
            <a:xfrm>
              <a:off x="10658474" y="8305800"/>
              <a:ext cx="1343025" cy="323850"/>
            </a:xfrm>
            <a:custGeom>
              <a:avLst/>
              <a:gdLst/>
              <a:ahLst/>
              <a:cxnLst/>
              <a:rect l="l" t="t" r="r" b="b"/>
              <a:pathLst>
                <a:path w="1343025" h="323850">
                  <a:moveTo>
                    <a:pt x="13099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09977" y="0"/>
                  </a:lnTo>
                  <a:lnTo>
                    <a:pt x="1342057" y="28187"/>
                  </a:lnTo>
                  <a:lnTo>
                    <a:pt x="1343024" y="33047"/>
                  </a:lnTo>
                  <a:lnTo>
                    <a:pt x="1343024" y="290802"/>
                  </a:lnTo>
                  <a:lnTo>
                    <a:pt x="1314837" y="322883"/>
                  </a:lnTo>
                  <a:lnTo>
                    <a:pt x="13099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72774" y="8401049"/>
              <a:ext cx="133349" cy="133349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pc="-30"/>
              <a:t>Genspark</a:t>
            </a:r>
            <a:r>
              <a:rPr dirty="0" sz="1000" spc="-30">
                <a:latin typeface="Dotum"/>
                <a:cs typeface="Dotum"/>
              </a:rPr>
              <a:t>로</a:t>
            </a:r>
            <a:r>
              <a:rPr dirty="0" sz="1000" spc="-40">
                <a:latin typeface="Dotum"/>
                <a:cs typeface="Dotum"/>
              </a:rPr>
              <a:t> </a:t>
            </a:r>
            <a:r>
              <a:rPr dirty="0" sz="1000" spc="-150"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933450"/>
          </a:xfrm>
          <a:custGeom>
            <a:avLst/>
            <a:gdLst/>
            <a:ahLst/>
            <a:cxnLst/>
            <a:rect l="l" t="t" r="r" b="b"/>
            <a:pathLst>
              <a:path w="12192000" h="933450">
                <a:moveTo>
                  <a:pt x="12191999" y="933449"/>
                </a:moveTo>
                <a:lnTo>
                  <a:pt x="0" y="9334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3344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The </a:t>
            </a:r>
            <a:r>
              <a:rPr dirty="0" spc="-10"/>
              <a:t>Vision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500" b="0">
                <a:latin typeface="Segoe UI"/>
                <a:cs typeface="Segoe UI"/>
              </a:rPr>
              <a:t>MSA</a:t>
            </a:r>
            <a:r>
              <a:rPr dirty="0" sz="1500" spc="-25" b="0">
                <a:latin typeface="Segoe UI"/>
                <a:cs typeface="Segoe UI"/>
              </a:rPr>
              <a:t> </a:t>
            </a:r>
            <a:r>
              <a:rPr dirty="0" sz="1700" spc="-325" b="0">
                <a:latin typeface="Dotum"/>
                <a:cs typeface="Dotum"/>
              </a:rPr>
              <a:t>도입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전후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60" b="0">
                <a:latin typeface="Dotum"/>
                <a:cs typeface="Dotum"/>
              </a:rPr>
              <a:t>비교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4799" y="4591049"/>
            <a:ext cx="11582400" cy="2419350"/>
            <a:chOff x="304799" y="4591049"/>
            <a:chExt cx="11582400" cy="2419350"/>
          </a:xfrm>
        </p:grpSpPr>
        <p:sp>
          <p:nvSpPr>
            <p:cNvPr id="5" name="object 5" descr=""/>
            <p:cNvSpPr/>
            <p:nvPr/>
          </p:nvSpPr>
          <p:spPr>
            <a:xfrm>
              <a:off x="309562" y="4595812"/>
              <a:ext cx="11572875" cy="2409825"/>
            </a:xfrm>
            <a:custGeom>
              <a:avLst/>
              <a:gdLst/>
              <a:ahLst/>
              <a:cxnLst/>
              <a:rect l="l" t="t" r="r" b="b"/>
              <a:pathLst>
                <a:path w="11572875" h="2409825">
                  <a:moveTo>
                    <a:pt x="0" y="2338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501436" y="0"/>
                  </a:lnTo>
                  <a:lnTo>
                    <a:pt x="11506125" y="0"/>
                  </a:lnTo>
                  <a:lnTo>
                    <a:pt x="11510770" y="457"/>
                  </a:lnTo>
                  <a:lnTo>
                    <a:pt x="11548632" y="17606"/>
                  </a:lnTo>
                  <a:lnTo>
                    <a:pt x="11551949" y="20923"/>
                  </a:lnTo>
                  <a:lnTo>
                    <a:pt x="11555267" y="24239"/>
                  </a:lnTo>
                  <a:lnTo>
                    <a:pt x="11558227" y="27848"/>
                  </a:lnTo>
                  <a:lnTo>
                    <a:pt x="11560832" y="31748"/>
                  </a:lnTo>
                  <a:lnTo>
                    <a:pt x="11563438" y="35648"/>
                  </a:lnTo>
                  <a:lnTo>
                    <a:pt x="11572874" y="71437"/>
                  </a:lnTo>
                  <a:lnTo>
                    <a:pt x="11572874" y="2338387"/>
                  </a:lnTo>
                  <a:lnTo>
                    <a:pt x="11560832" y="2378074"/>
                  </a:lnTo>
                  <a:lnTo>
                    <a:pt x="11551949" y="2388900"/>
                  </a:lnTo>
                  <a:lnTo>
                    <a:pt x="11548632" y="2392217"/>
                  </a:lnTo>
                  <a:lnTo>
                    <a:pt x="11515371" y="2408451"/>
                  </a:lnTo>
                  <a:lnTo>
                    <a:pt x="11510770" y="2409367"/>
                  </a:lnTo>
                  <a:lnTo>
                    <a:pt x="11506125" y="2409824"/>
                  </a:lnTo>
                  <a:lnTo>
                    <a:pt x="11501436" y="2409824"/>
                  </a:lnTo>
                  <a:lnTo>
                    <a:pt x="71437" y="2409824"/>
                  </a:lnTo>
                  <a:lnTo>
                    <a:pt x="66746" y="2409824"/>
                  </a:lnTo>
                  <a:lnTo>
                    <a:pt x="62101" y="2409367"/>
                  </a:lnTo>
                  <a:lnTo>
                    <a:pt x="57500" y="2408451"/>
                  </a:lnTo>
                  <a:lnTo>
                    <a:pt x="52900" y="2407536"/>
                  </a:lnTo>
                  <a:lnTo>
                    <a:pt x="20923" y="2388900"/>
                  </a:lnTo>
                  <a:lnTo>
                    <a:pt x="17606" y="2385583"/>
                  </a:lnTo>
                  <a:lnTo>
                    <a:pt x="1372" y="2352323"/>
                  </a:lnTo>
                  <a:lnTo>
                    <a:pt x="457" y="2347722"/>
                  </a:lnTo>
                  <a:lnTo>
                    <a:pt x="0" y="2343077"/>
                  </a:lnTo>
                  <a:lnTo>
                    <a:pt x="0" y="2338387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14324" y="4600574"/>
              <a:ext cx="11563350" cy="2400300"/>
            </a:xfrm>
            <a:custGeom>
              <a:avLst/>
              <a:gdLst/>
              <a:ahLst/>
              <a:cxnLst/>
              <a:rect l="l" t="t" r="r" b="b"/>
              <a:pathLst>
                <a:path w="11563350" h="2400300">
                  <a:moveTo>
                    <a:pt x="11496674" y="2400299"/>
                  </a:moveTo>
                  <a:lnTo>
                    <a:pt x="66674" y="2400299"/>
                  </a:lnTo>
                  <a:lnTo>
                    <a:pt x="60106" y="2399982"/>
                  </a:lnTo>
                  <a:lnTo>
                    <a:pt x="24397" y="2385190"/>
                  </a:lnTo>
                  <a:lnTo>
                    <a:pt x="2854" y="2352949"/>
                  </a:lnTo>
                  <a:lnTo>
                    <a:pt x="0" y="2333624"/>
                  </a:lnTo>
                  <a:lnTo>
                    <a:pt x="0" y="66674"/>
                  </a:lnTo>
                  <a:lnTo>
                    <a:pt x="11226" y="29624"/>
                  </a:lnTo>
                  <a:lnTo>
                    <a:pt x="41159" y="5074"/>
                  </a:lnTo>
                  <a:lnTo>
                    <a:pt x="66674" y="0"/>
                  </a:lnTo>
                  <a:lnTo>
                    <a:pt x="11496674" y="0"/>
                  </a:lnTo>
                  <a:lnTo>
                    <a:pt x="11533722" y="11225"/>
                  </a:lnTo>
                  <a:lnTo>
                    <a:pt x="11558271" y="41159"/>
                  </a:lnTo>
                  <a:lnTo>
                    <a:pt x="11563349" y="66674"/>
                  </a:lnTo>
                  <a:lnTo>
                    <a:pt x="11563349" y="2333624"/>
                  </a:lnTo>
                  <a:lnTo>
                    <a:pt x="11552121" y="2370673"/>
                  </a:lnTo>
                  <a:lnTo>
                    <a:pt x="11522188" y="2395223"/>
                  </a:lnTo>
                  <a:lnTo>
                    <a:pt x="11496674" y="2400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14312" y="4600574"/>
              <a:ext cx="11563350" cy="457200"/>
            </a:xfrm>
            <a:custGeom>
              <a:avLst/>
              <a:gdLst/>
              <a:ahLst/>
              <a:cxnLst/>
              <a:rect l="l" t="t" r="r" b="b"/>
              <a:pathLst>
                <a:path w="11563350" h="457200">
                  <a:moveTo>
                    <a:pt x="11563350" y="66675"/>
                  </a:moveTo>
                  <a:lnTo>
                    <a:pt x="11552123" y="29629"/>
                  </a:lnTo>
                  <a:lnTo>
                    <a:pt x="11522189" y="5080"/>
                  </a:lnTo>
                  <a:lnTo>
                    <a:pt x="11496675" y="0"/>
                  </a:lnTo>
                  <a:lnTo>
                    <a:pt x="9610725" y="0"/>
                  </a:lnTo>
                  <a:lnTo>
                    <a:pt x="6115050" y="0"/>
                  </a:lnTo>
                  <a:lnTo>
                    <a:pt x="3581400" y="0"/>
                  </a:lnTo>
                  <a:lnTo>
                    <a:pt x="66675" y="0"/>
                  </a:lnTo>
                  <a:lnTo>
                    <a:pt x="60109" y="317"/>
                  </a:lnTo>
                  <a:lnTo>
                    <a:pt x="24409" y="15113"/>
                  </a:lnTo>
                  <a:lnTo>
                    <a:pt x="2857" y="47358"/>
                  </a:lnTo>
                  <a:lnTo>
                    <a:pt x="0" y="66675"/>
                  </a:lnTo>
                  <a:lnTo>
                    <a:pt x="0" y="457200"/>
                  </a:lnTo>
                  <a:lnTo>
                    <a:pt x="3581400" y="457200"/>
                  </a:lnTo>
                  <a:lnTo>
                    <a:pt x="6115050" y="457200"/>
                  </a:lnTo>
                  <a:lnTo>
                    <a:pt x="9610725" y="457200"/>
                  </a:lnTo>
                  <a:lnTo>
                    <a:pt x="11563350" y="457200"/>
                  </a:lnTo>
                  <a:lnTo>
                    <a:pt x="11563350" y="66675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14312" y="5448299"/>
              <a:ext cx="11563350" cy="1171575"/>
            </a:xfrm>
            <a:custGeom>
              <a:avLst/>
              <a:gdLst/>
              <a:ahLst/>
              <a:cxnLst/>
              <a:rect l="l" t="t" r="r" b="b"/>
              <a:pathLst>
                <a:path w="11563350" h="1171575">
                  <a:moveTo>
                    <a:pt x="11563350" y="781050"/>
                  </a:moveTo>
                  <a:lnTo>
                    <a:pt x="9610725" y="781050"/>
                  </a:lnTo>
                  <a:lnTo>
                    <a:pt x="6115050" y="781050"/>
                  </a:lnTo>
                  <a:lnTo>
                    <a:pt x="3581400" y="781050"/>
                  </a:lnTo>
                  <a:lnTo>
                    <a:pt x="0" y="781050"/>
                  </a:lnTo>
                  <a:lnTo>
                    <a:pt x="0" y="1171575"/>
                  </a:lnTo>
                  <a:lnTo>
                    <a:pt x="3581400" y="1171575"/>
                  </a:lnTo>
                  <a:lnTo>
                    <a:pt x="6115050" y="1171575"/>
                  </a:lnTo>
                  <a:lnTo>
                    <a:pt x="9610725" y="1171575"/>
                  </a:lnTo>
                  <a:lnTo>
                    <a:pt x="11563350" y="1171575"/>
                  </a:lnTo>
                  <a:lnTo>
                    <a:pt x="11563350" y="781050"/>
                  </a:lnTo>
                  <a:close/>
                </a:path>
                <a:path w="11563350" h="1171575">
                  <a:moveTo>
                    <a:pt x="11563350" y="0"/>
                  </a:moveTo>
                  <a:lnTo>
                    <a:pt x="9610725" y="0"/>
                  </a:lnTo>
                  <a:lnTo>
                    <a:pt x="6115050" y="0"/>
                  </a:lnTo>
                  <a:lnTo>
                    <a:pt x="3581400" y="0"/>
                  </a:lnTo>
                  <a:lnTo>
                    <a:pt x="0" y="0"/>
                  </a:lnTo>
                  <a:lnTo>
                    <a:pt x="0" y="390525"/>
                  </a:lnTo>
                  <a:lnTo>
                    <a:pt x="3581400" y="390525"/>
                  </a:lnTo>
                  <a:lnTo>
                    <a:pt x="6115050" y="390525"/>
                  </a:lnTo>
                  <a:lnTo>
                    <a:pt x="9610725" y="390525"/>
                  </a:lnTo>
                  <a:lnTo>
                    <a:pt x="11563350" y="390525"/>
                  </a:lnTo>
                  <a:lnTo>
                    <a:pt x="1156335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4312" y="5438774"/>
              <a:ext cx="11563350" cy="1181100"/>
            </a:xfrm>
            <a:custGeom>
              <a:avLst/>
              <a:gdLst/>
              <a:ahLst/>
              <a:cxnLst/>
              <a:rect l="l" t="t" r="r" b="b"/>
              <a:pathLst>
                <a:path w="11563350" h="1181100">
                  <a:moveTo>
                    <a:pt x="11563350" y="1171575"/>
                  </a:moveTo>
                  <a:lnTo>
                    <a:pt x="9610725" y="1171575"/>
                  </a:lnTo>
                  <a:lnTo>
                    <a:pt x="6115050" y="1171575"/>
                  </a:lnTo>
                  <a:lnTo>
                    <a:pt x="3581400" y="1171575"/>
                  </a:lnTo>
                  <a:lnTo>
                    <a:pt x="0" y="1171575"/>
                  </a:lnTo>
                  <a:lnTo>
                    <a:pt x="0" y="1181100"/>
                  </a:lnTo>
                  <a:lnTo>
                    <a:pt x="3581400" y="1181100"/>
                  </a:lnTo>
                  <a:lnTo>
                    <a:pt x="6115050" y="1181100"/>
                  </a:lnTo>
                  <a:lnTo>
                    <a:pt x="9610725" y="1181100"/>
                  </a:lnTo>
                  <a:lnTo>
                    <a:pt x="11563350" y="1181100"/>
                  </a:lnTo>
                  <a:lnTo>
                    <a:pt x="11563350" y="1171575"/>
                  </a:lnTo>
                  <a:close/>
                </a:path>
                <a:path w="11563350" h="1181100">
                  <a:moveTo>
                    <a:pt x="11563350" y="781050"/>
                  </a:moveTo>
                  <a:lnTo>
                    <a:pt x="9610725" y="781050"/>
                  </a:lnTo>
                  <a:lnTo>
                    <a:pt x="6115050" y="781050"/>
                  </a:lnTo>
                  <a:lnTo>
                    <a:pt x="3581400" y="781050"/>
                  </a:lnTo>
                  <a:lnTo>
                    <a:pt x="0" y="781050"/>
                  </a:lnTo>
                  <a:lnTo>
                    <a:pt x="0" y="790575"/>
                  </a:lnTo>
                  <a:lnTo>
                    <a:pt x="3581400" y="790575"/>
                  </a:lnTo>
                  <a:lnTo>
                    <a:pt x="6115050" y="790575"/>
                  </a:lnTo>
                  <a:lnTo>
                    <a:pt x="9610725" y="790575"/>
                  </a:lnTo>
                  <a:lnTo>
                    <a:pt x="11563350" y="790575"/>
                  </a:lnTo>
                  <a:lnTo>
                    <a:pt x="11563350" y="781050"/>
                  </a:lnTo>
                  <a:close/>
                </a:path>
                <a:path w="11563350" h="1181100">
                  <a:moveTo>
                    <a:pt x="11563350" y="390525"/>
                  </a:moveTo>
                  <a:lnTo>
                    <a:pt x="9610725" y="390525"/>
                  </a:lnTo>
                  <a:lnTo>
                    <a:pt x="6115050" y="390525"/>
                  </a:lnTo>
                  <a:lnTo>
                    <a:pt x="3581400" y="390525"/>
                  </a:lnTo>
                  <a:lnTo>
                    <a:pt x="0" y="390525"/>
                  </a:lnTo>
                  <a:lnTo>
                    <a:pt x="0" y="400050"/>
                  </a:lnTo>
                  <a:lnTo>
                    <a:pt x="3581400" y="400050"/>
                  </a:lnTo>
                  <a:lnTo>
                    <a:pt x="6115050" y="400050"/>
                  </a:lnTo>
                  <a:lnTo>
                    <a:pt x="9610725" y="400050"/>
                  </a:lnTo>
                  <a:lnTo>
                    <a:pt x="11563350" y="400050"/>
                  </a:lnTo>
                  <a:lnTo>
                    <a:pt x="11563350" y="390525"/>
                  </a:lnTo>
                  <a:close/>
                </a:path>
                <a:path w="11563350" h="1181100">
                  <a:moveTo>
                    <a:pt x="11563350" y="0"/>
                  </a:moveTo>
                  <a:lnTo>
                    <a:pt x="9610725" y="0"/>
                  </a:lnTo>
                  <a:lnTo>
                    <a:pt x="6115050" y="0"/>
                  </a:lnTo>
                  <a:lnTo>
                    <a:pt x="35814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581400" y="9525"/>
                  </a:lnTo>
                  <a:lnTo>
                    <a:pt x="6115050" y="9525"/>
                  </a:lnTo>
                  <a:lnTo>
                    <a:pt x="9610725" y="9525"/>
                  </a:lnTo>
                  <a:lnTo>
                    <a:pt x="11563350" y="9525"/>
                  </a:lnTo>
                  <a:lnTo>
                    <a:pt x="11563350" y="0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304799" y="1238249"/>
            <a:ext cx="3009900" cy="2705100"/>
            <a:chOff x="304799" y="1238249"/>
            <a:chExt cx="3009900" cy="2705100"/>
          </a:xfrm>
        </p:grpSpPr>
        <p:sp>
          <p:nvSpPr>
            <p:cNvPr id="11" name="object 11" descr=""/>
            <p:cNvSpPr/>
            <p:nvPr/>
          </p:nvSpPr>
          <p:spPr>
            <a:xfrm>
              <a:off x="304799" y="1238249"/>
              <a:ext cx="3009900" cy="2705100"/>
            </a:xfrm>
            <a:custGeom>
              <a:avLst/>
              <a:gdLst/>
              <a:ahLst/>
              <a:cxnLst/>
              <a:rect l="l" t="t" r="r" b="b"/>
              <a:pathLst>
                <a:path w="3009900" h="2705100">
                  <a:moveTo>
                    <a:pt x="2938703" y="2705099"/>
                  </a:moveTo>
                  <a:lnTo>
                    <a:pt x="71196" y="2705099"/>
                  </a:lnTo>
                  <a:lnTo>
                    <a:pt x="66241" y="2704611"/>
                  </a:lnTo>
                  <a:lnTo>
                    <a:pt x="29705" y="2689477"/>
                  </a:lnTo>
                  <a:lnTo>
                    <a:pt x="3885" y="2653437"/>
                  </a:lnTo>
                  <a:lnTo>
                    <a:pt x="0" y="2633902"/>
                  </a:lnTo>
                  <a:lnTo>
                    <a:pt x="0" y="2628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938703" y="0"/>
                  </a:lnTo>
                  <a:lnTo>
                    <a:pt x="2980193" y="15621"/>
                  </a:lnTo>
                  <a:lnTo>
                    <a:pt x="3006013" y="51661"/>
                  </a:lnTo>
                  <a:lnTo>
                    <a:pt x="3009899" y="71196"/>
                  </a:lnTo>
                  <a:lnTo>
                    <a:pt x="3009899" y="2633902"/>
                  </a:lnTo>
                  <a:lnTo>
                    <a:pt x="2994277" y="2675394"/>
                  </a:lnTo>
                  <a:lnTo>
                    <a:pt x="2958237" y="2701213"/>
                  </a:lnTo>
                  <a:lnTo>
                    <a:pt x="2943658" y="2704611"/>
                  </a:lnTo>
                  <a:lnTo>
                    <a:pt x="2938703" y="27050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9" y="1448990"/>
              <a:ext cx="171449" cy="15001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692149" y="1381493"/>
            <a:ext cx="24828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b="1">
                <a:solidFill>
                  <a:srgbClr val="374050"/>
                </a:solidFill>
                <a:latin typeface="Segoe UI"/>
                <a:cs typeface="Segoe UI"/>
              </a:rPr>
              <a:t>Before:</a:t>
            </a:r>
            <a:r>
              <a:rPr dirty="0" sz="1350" spc="-10" b="1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550" spc="-310">
                <a:solidFill>
                  <a:srgbClr val="374050"/>
                </a:solidFill>
                <a:latin typeface="Dotum"/>
                <a:cs typeface="Dotum"/>
              </a:rPr>
              <a:t>레거시</a:t>
            </a:r>
            <a:r>
              <a:rPr dirty="0" sz="1550" spc="-15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74050"/>
                </a:solidFill>
                <a:latin typeface="Dotum"/>
                <a:cs typeface="Dotum"/>
              </a:rPr>
              <a:t>모놀리식</a:t>
            </a:r>
            <a:r>
              <a:rPr dirty="0" sz="1550" spc="-15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50" spc="-330">
                <a:solidFill>
                  <a:srgbClr val="374050"/>
                </a:solidFill>
                <a:latin typeface="Dotum"/>
                <a:cs typeface="Dotum"/>
              </a:rPr>
              <a:t>아키텍처</a:t>
            </a:r>
            <a:endParaRPr sz="1550">
              <a:latin typeface="Dotum"/>
              <a:cs typeface="Dotum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85774" y="2000249"/>
            <a:ext cx="2333625" cy="1714500"/>
            <a:chOff x="485774" y="2000249"/>
            <a:chExt cx="2333625" cy="1714500"/>
          </a:xfrm>
        </p:grpSpPr>
        <p:sp>
          <p:nvSpPr>
            <p:cNvPr id="15" name="object 15" descr=""/>
            <p:cNvSpPr/>
            <p:nvPr/>
          </p:nvSpPr>
          <p:spPr>
            <a:xfrm>
              <a:off x="485762" y="3286124"/>
              <a:ext cx="47625" cy="428625"/>
            </a:xfrm>
            <a:custGeom>
              <a:avLst/>
              <a:gdLst/>
              <a:ahLst/>
              <a:cxnLst/>
              <a:rect l="l" t="t" r="r" b="b"/>
              <a:pathLst>
                <a:path w="47625" h="428625">
                  <a:moveTo>
                    <a:pt x="47625" y="401662"/>
                  </a:moveTo>
                  <a:lnTo>
                    <a:pt x="26974" y="381000"/>
                  </a:lnTo>
                  <a:lnTo>
                    <a:pt x="20662" y="381000"/>
                  </a:lnTo>
                  <a:lnTo>
                    <a:pt x="0" y="401662"/>
                  </a:lnTo>
                  <a:lnTo>
                    <a:pt x="0" y="407974"/>
                  </a:lnTo>
                  <a:lnTo>
                    <a:pt x="20662" y="428625"/>
                  </a:lnTo>
                  <a:lnTo>
                    <a:pt x="26974" y="428625"/>
                  </a:lnTo>
                  <a:lnTo>
                    <a:pt x="47625" y="407974"/>
                  </a:lnTo>
                  <a:lnTo>
                    <a:pt x="47625" y="404812"/>
                  </a:lnTo>
                  <a:lnTo>
                    <a:pt x="47625" y="401662"/>
                  </a:lnTo>
                  <a:close/>
                </a:path>
                <a:path w="47625" h="428625">
                  <a:moveTo>
                    <a:pt x="47625" y="211162"/>
                  </a:moveTo>
                  <a:lnTo>
                    <a:pt x="26974" y="190500"/>
                  </a:lnTo>
                  <a:lnTo>
                    <a:pt x="20662" y="190500"/>
                  </a:lnTo>
                  <a:lnTo>
                    <a:pt x="0" y="211162"/>
                  </a:lnTo>
                  <a:lnTo>
                    <a:pt x="0" y="217474"/>
                  </a:lnTo>
                  <a:lnTo>
                    <a:pt x="20662" y="238125"/>
                  </a:lnTo>
                  <a:lnTo>
                    <a:pt x="26974" y="238125"/>
                  </a:lnTo>
                  <a:lnTo>
                    <a:pt x="47625" y="217474"/>
                  </a:lnTo>
                  <a:lnTo>
                    <a:pt x="47625" y="214312"/>
                  </a:lnTo>
                  <a:lnTo>
                    <a:pt x="47625" y="211162"/>
                  </a:lnTo>
                  <a:close/>
                </a:path>
                <a:path w="47625" h="428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0099" y="2000249"/>
              <a:ext cx="2019300" cy="914400"/>
            </a:xfrm>
            <a:custGeom>
              <a:avLst/>
              <a:gdLst/>
              <a:ahLst/>
              <a:cxnLst/>
              <a:rect l="l" t="t" r="r" b="b"/>
              <a:pathLst>
                <a:path w="2019300" h="914400">
                  <a:moveTo>
                    <a:pt x="1948103" y="914399"/>
                  </a:moveTo>
                  <a:lnTo>
                    <a:pt x="71196" y="914399"/>
                  </a:lnTo>
                  <a:lnTo>
                    <a:pt x="66241" y="913911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948103" y="0"/>
                  </a:lnTo>
                  <a:lnTo>
                    <a:pt x="1989594" y="15621"/>
                  </a:lnTo>
                  <a:lnTo>
                    <a:pt x="2015413" y="51661"/>
                  </a:lnTo>
                  <a:lnTo>
                    <a:pt x="2019299" y="71196"/>
                  </a:lnTo>
                  <a:lnTo>
                    <a:pt x="2019299" y="843203"/>
                  </a:lnTo>
                  <a:lnTo>
                    <a:pt x="2003677" y="884693"/>
                  </a:lnTo>
                  <a:lnTo>
                    <a:pt x="1967637" y="910513"/>
                  </a:lnTo>
                  <a:lnTo>
                    <a:pt x="1953058" y="913911"/>
                  </a:lnTo>
                  <a:lnTo>
                    <a:pt x="1948103" y="914399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34999" y="3189262"/>
            <a:ext cx="1636395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50" spc="-375">
                <a:solidFill>
                  <a:srgbClr val="4A5462"/>
                </a:solidFill>
                <a:latin typeface="Dotum"/>
                <a:cs typeface="Dotum"/>
              </a:rPr>
              <a:t>단일</a:t>
            </a:r>
            <a:r>
              <a:rPr dirty="0" sz="1150" spc="2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70">
                <a:solidFill>
                  <a:srgbClr val="4A5462"/>
                </a:solidFill>
                <a:latin typeface="Dotum"/>
                <a:cs typeface="Dotum"/>
              </a:rPr>
              <a:t>코드베이스</a:t>
            </a:r>
            <a:r>
              <a:rPr dirty="0" sz="1050" spc="-17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1050" spc="1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375">
                <a:solidFill>
                  <a:srgbClr val="4A5462"/>
                </a:solidFill>
                <a:latin typeface="Dotum"/>
                <a:cs typeface="Dotum"/>
              </a:rPr>
              <a:t>강한</a:t>
            </a:r>
            <a:r>
              <a:rPr dirty="0" sz="1150" spc="2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04">
                <a:solidFill>
                  <a:srgbClr val="4A5462"/>
                </a:solidFill>
                <a:latin typeface="Dotum"/>
                <a:cs typeface="Dotum"/>
              </a:rPr>
              <a:t>결합도</a:t>
            </a:r>
            <a:r>
              <a:rPr dirty="0" sz="1150" spc="5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375">
                <a:solidFill>
                  <a:srgbClr val="4A5462"/>
                </a:solidFill>
                <a:latin typeface="Dotum"/>
                <a:cs typeface="Dotum"/>
              </a:rPr>
              <a:t>전체</a:t>
            </a:r>
            <a:r>
              <a:rPr dirty="0" sz="1150" spc="2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29">
                <a:solidFill>
                  <a:srgbClr val="4A5462"/>
                </a:solidFill>
                <a:latin typeface="Dotum"/>
                <a:cs typeface="Dotum"/>
              </a:rPr>
              <a:t>애플리케이션</a:t>
            </a:r>
            <a:r>
              <a:rPr dirty="0" sz="1150" spc="1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375">
                <a:solidFill>
                  <a:srgbClr val="4A5462"/>
                </a:solidFill>
                <a:latin typeface="Dotum"/>
                <a:cs typeface="Dotum"/>
              </a:rPr>
              <a:t>배포</a:t>
            </a:r>
            <a:r>
              <a:rPr dirty="0" sz="1150" spc="2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95">
                <a:solidFill>
                  <a:srgbClr val="4A5462"/>
                </a:solidFill>
                <a:latin typeface="Dotum"/>
                <a:cs typeface="Dotum"/>
              </a:rPr>
              <a:t>필요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확장성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제한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1050" spc="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단일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장애점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762749" y="1238249"/>
            <a:ext cx="5124450" cy="2705100"/>
            <a:chOff x="6762749" y="1238249"/>
            <a:chExt cx="5124450" cy="2705100"/>
          </a:xfrm>
        </p:grpSpPr>
        <p:sp>
          <p:nvSpPr>
            <p:cNvPr id="19" name="object 19" descr=""/>
            <p:cNvSpPr/>
            <p:nvPr/>
          </p:nvSpPr>
          <p:spPr>
            <a:xfrm>
              <a:off x="6762749" y="1238249"/>
              <a:ext cx="5124450" cy="2705100"/>
            </a:xfrm>
            <a:custGeom>
              <a:avLst/>
              <a:gdLst/>
              <a:ahLst/>
              <a:cxnLst/>
              <a:rect l="l" t="t" r="r" b="b"/>
              <a:pathLst>
                <a:path w="5124450" h="2705100">
                  <a:moveTo>
                    <a:pt x="5053253" y="2705099"/>
                  </a:moveTo>
                  <a:lnTo>
                    <a:pt x="71196" y="2705099"/>
                  </a:lnTo>
                  <a:lnTo>
                    <a:pt x="66241" y="2704611"/>
                  </a:lnTo>
                  <a:lnTo>
                    <a:pt x="29705" y="2689477"/>
                  </a:lnTo>
                  <a:lnTo>
                    <a:pt x="3885" y="2653437"/>
                  </a:lnTo>
                  <a:lnTo>
                    <a:pt x="0" y="2633902"/>
                  </a:lnTo>
                  <a:lnTo>
                    <a:pt x="0" y="2628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053253" y="0"/>
                  </a:lnTo>
                  <a:lnTo>
                    <a:pt x="5094742" y="15621"/>
                  </a:lnTo>
                  <a:lnTo>
                    <a:pt x="5120563" y="51661"/>
                  </a:lnTo>
                  <a:lnTo>
                    <a:pt x="5124449" y="71196"/>
                  </a:lnTo>
                  <a:lnTo>
                    <a:pt x="5124449" y="2633902"/>
                  </a:lnTo>
                  <a:lnTo>
                    <a:pt x="5108826" y="2675394"/>
                  </a:lnTo>
                  <a:lnTo>
                    <a:pt x="5072787" y="2701213"/>
                  </a:lnTo>
                  <a:lnTo>
                    <a:pt x="5058207" y="2704611"/>
                  </a:lnTo>
                  <a:lnTo>
                    <a:pt x="5053253" y="2705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5150" y="1437906"/>
              <a:ext cx="192914" cy="172387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171233" y="1381493"/>
            <a:ext cx="232537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b="1">
                <a:solidFill>
                  <a:srgbClr val="1C4ED8"/>
                </a:solidFill>
                <a:latin typeface="Segoe UI"/>
                <a:cs typeface="Segoe UI"/>
              </a:rPr>
              <a:t>After:</a:t>
            </a:r>
            <a:r>
              <a:rPr dirty="0" sz="1350" spc="30" b="1">
                <a:solidFill>
                  <a:srgbClr val="1C4ED8"/>
                </a:solidFill>
                <a:latin typeface="Segoe UI"/>
                <a:cs typeface="Segoe UI"/>
              </a:rPr>
              <a:t> </a:t>
            </a: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마이크로서비스</a:t>
            </a:r>
            <a:r>
              <a:rPr dirty="0" sz="1550" spc="-114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30">
                <a:solidFill>
                  <a:srgbClr val="1C4ED8"/>
                </a:solidFill>
                <a:latin typeface="Dotum"/>
                <a:cs typeface="Dotum"/>
              </a:rPr>
              <a:t>아키텍처</a:t>
            </a:r>
            <a:endParaRPr sz="1550">
              <a:latin typeface="Dotum"/>
              <a:cs typeface="Dotum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553323" y="2114549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1100426" y="304799"/>
                </a:moveTo>
                <a:lnTo>
                  <a:pt x="33047" y="304799"/>
                </a:lnTo>
                <a:lnTo>
                  <a:pt x="28187" y="303832"/>
                </a:lnTo>
                <a:lnTo>
                  <a:pt x="966" y="276612"/>
                </a:lnTo>
                <a:lnTo>
                  <a:pt x="0" y="271752"/>
                </a:lnTo>
                <a:lnTo>
                  <a:pt x="0" y="2666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0426" y="0"/>
                </a:lnTo>
                <a:lnTo>
                  <a:pt x="1132508" y="28187"/>
                </a:lnTo>
                <a:lnTo>
                  <a:pt x="1133474" y="33047"/>
                </a:lnTo>
                <a:lnTo>
                  <a:pt x="1133474" y="271752"/>
                </a:lnTo>
                <a:lnTo>
                  <a:pt x="1105287" y="303832"/>
                </a:lnTo>
                <a:lnTo>
                  <a:pt x="1100426" y="304799"/>
                </a:lnTo>
                <a:close/>
              </a:path>
            </a:pathLst>
          </a:custGeom>
          <a:solidFill>
            <a:srgbClr val="BEDA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775922" y="2172716"/>
            <a:ext cx="68770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사용자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55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000">
              <a:latin typeface="Dotum"/>
              <a:cs typeface="Dotum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762998" y="2114549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1090902" y="304799"/>
                </a:moveTo>
                <a:lnTo>
                  <a:pt x="33047" y="304799"/>
                </a:lnTo>
                <a:lnTo>
                  <a:pt x="28187" y="303832"/>
                </a:lnTo>
                <a:lnTo>
                  <a:pt x="966" y="276612"/>
                </a:lnTo>
                <a:lnTo>
                  <a:pt x="0" y="271752"/>
                </a:lnTo>
                <a:lnTo>
                  <a:pt x="0" y="2666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90902" y="0"/>
                </a:lnTo>
                <a:lnTo>
                  <a:pt x="1122983" y="28187"/>
                </a:lnTo>
                <a:lnTo>
                  <a:pt x="1123949" y="33047"/>
                </a:lnTo>
                <a:lnTo>
                  <a:pt x="1123949" y="271752"/>
                </a:lnTo>
                <a:lnTo>
                  <a:pt x="1095761" y="303832"/>
                </a:lnTo>
                <a:lnTo>
                  <a:pt x="1090902" y="304799"/>
                </a:lnTo>
                <a:close/>
              </a:path>
            </a:pathLst>
          </a:custGeom>
          <a:solidFill>
            <a:srgbClr val="93C4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9033371" y="2172716"/>
            <a:ext cx="58293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주문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55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000">
              <a:latin typeface="Dotum"/>
              <a:cs typeface="Dotum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9963148" y="2114549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1100428" y="304799"/>
                </a:moveTo>
                <a:lnTo>
                  <a:pt x="33047" y="304799"/>
                </a:lnTo>
                <a:lnTo>
                  <a:pt x="28187" y="303832"/>
                </a:lnTo>
                <a:lnTo>
                  <a:pt x="966" y="276612"/>
                </a:lnTo>
                <a:lnTo>
                  <a:pt x="0" y="271752"/>
                </a:lnTo>
                <a:lnTo>
                  <a:pt x="1" y="2666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0428" y="0"/>
                </a:lnTo>
                <a:lnTo>
                  <a:pt x="1132507" y="28187"/>
                </a:lnTo>
                <a:lnTo>
                  <a:pt x="1133474" y="33047"/>
                </a:lnTo>
                <a:lnTo>
                  <a:pt x="1133474" y="271752"/>
                </a:lnTo>
                <a:lnTo>
                  <a:pt x="1105287" y="303832"/>
                </a:lnTo>
                <a:lnTo>
                  <a:pt x="1100428" y="304799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0238282" y="2172716"/>
            <a:ext cx="58293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상품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55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000">
              <a:latin typeface="Dotum"/>
              <a:cs typeface="Dotum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7553323" y="2495549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1100426" y="304799"/>
                </a:moveTo>
                <a:lnTo>
                  <a:pt x="33047" y="304799"/>
                </a:lnTo>
                <a:lnTo>
                  <a:pt x="28187" y="303833"/>
                </a:lnTo>
                <a:lnTo>
                  <a:pt x="966" y="276612"/>
                </a:lnTo>
                <a:lnTo>
                  <a:pt x="0" y="271752"/>
                </a:lnTo>
                <a:lnTo>
                  <a:pt x="0" y="2666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0426" y="0"/>
                </a:lnTo>
                <a:lnTo>
                  <a:pt x="1132508" y="28187"/>
                </a:lnTo>
                <a:lnTo>
                  <a:pt x="1133474" y="33047"/>
                </a:lnTo>
                <a:lnTo>
                  <a:pt x="1133474" y="271752"/>
                </a:lnTo>
                <a:lnTo>
                  <a:pt x="1105287" y="303833"/>
                </a:lnTo>
                <a:lnTo>
                  <a:pt x="1100426" y="3047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7828458" y="2553716"/>
            <a:ext cx="58293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FFFFFF"/>
                </a:solidFill>
                <a:latin typeface="Dotum"/>
                <a:cs typeface="Dotum"/>
              </a:rPr>
              <a:t>결제</a:t>
            </a:r>
            <a:r>
              <a:rPr dirty="0" sz="1000" spc="-9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5">
                <a:solidFill>
                  <a:srgbClr val="FFFFFF"/>
                </a:solidFill>
                <a:latin typeface="Dotum"/>
                <a:cs typeface="Dotum"/>
              </a:rPr>
              <a:t>서비스</a:t>
            </a:r>
            <a:endParaRPr sz="1000">
              <a:latin typeface="Dotum"/>
              <a:cs typeface="Dotum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8762998" y="2495549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1090902" y="304799"/>
                </a:moveTo>
                <a:lnTo>
                  <a:pt x="33047" y="304799"/>
                </a:lnTo>
                <a:lnTo>
                  <a:pt x="28187" y="303833"/>
                </a:lnTo>
                <a:lnTo>
                  <a:pt x="966" y="276612"/>
                </a:lnTo>
                <a:lnTo>
                  <a:pt x="0" y="271752"/>
                </a:lnTo>
                <a:lnTo>
                  <a:pt x="0" y="2666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90902" y="0"/>
                </a:lnTo>
                <a:lnTo>
                  <a:pt x="1122983" y="28187"/>
                </a:lnTo>
                <a:lnTo>
                  <a:pt x="1123949" y="33047"/>
                </a:lnTo>
                <a:lnTo>
                  <a:pt x="1123949" y="271752"/>
                </a:lnTo>
                <a:lnTo>
                  <a:pt x="1095761" y="303833"/>
                </a:lnTo>
                <a:lnTo>
                  <a:pt x="1090902" y="3047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9033371" y="2553716"/>
            <a:ext cx="58293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FFFFFF"/>
                </a:solidFill>
                <a:latin typeface="Dotum"/>
                <a:cs typeface="Dotum"/>
              </a:rPr>
              <a:t>알림</a:t>
            </a:r>
            <a:r>
              <a:rPr dirty="0" sz="1000" spc="-9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5">
                <a:solidFill>
                  <a:srgbClr val="FFFFFF"/>
                </a:solidFill>
                <a:latin typeface="Dotum"/>
                <a:cs typeface="Dotum"/>
              </a:rPr>
              <a:t>서비스</a:t>
            </a:r>
            <a:endParaRPr sz="1000">
              <a:latin typeface="Dotum"/>
              <a:cs typeface="Dotum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963148" y="2495549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1100428" y="304799"/>
                </a:moveTo>
                <a:lnTo>
                  <a:pt x="33047" y="304799"/>
                </a:lnTo>
                <a:lnTo>
                  <a:pt x="28187" y="303833"/>
                </a:lnTo>
                <a:lnTo>
                  <a:pt x="966" y="276612"/>
                </a:lnTo>
                <a:lnTo>
                  <a:pt x="0" y="271752"/>
                </a:lnTo>
                <a:lnTo>
                  <a:pt x="1" y="2666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0428" y="0"/>
                </a:lnTo>
                <a:lnTo>
                  <a:pt x="1132507" y="28187"/>
                </a:lnTo>
                <a:lnTo>
                  <a:pt x="1133474" y="33047"/>
                </a:lnTo>
                <a:lnTo>
                  <a:pt x="1133474" y="271752"/>
                </a:lnTo>
                <a:lnTo>
                  <a:pt x="1105287" y="303833"/>
                </a:lnTo>
                <a:lnTo>
                  <a:pt x="1100428" y="304799"/>
                </a:lnTo>
                <a:close/>
              </a:path>
            </a:pathLst>
          </a:custGeom>
          <a:solidFill>
            <a:srgbClr val="1C4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0238282" y="2553716"/>
            <a:ext cx="58293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FFFFFF"/>
                </a:solidFill>
                <a:latin typeface="Dotum"/>
                <a:cs typeface="Dotum"/>
              </a:rPr>
              <a:t>분석</a:t>
            </a:r>
            <a:r>
              <a:rPr dirty="0" sz="1000" spc="-9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5">
                <a:solidFill>
                  <a:srgbClr val="FFFFFF"/>
                </a:solidFill>
                <a:latin typeface="Dotum"/>
                <a:cs typeface="Dotum"/>
              </a:rPr>
              <a:t>서비스</a:t>
            </a:r>
            <a:endParaRPr sz="1000">
              <a:latin typeface="Dotum"/>
              <a:cs typeface="Dotum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6943712" y="3286124"/>
            <a:ext cx="47625" cy="428625"/>
          </a:xfrm>
          <a:custGeom>
            <a:avLst/>
            <a:gdLst/>
            <a:ahLst/>
            <a:cxnLst/>
            <a:rect l="l" t="t" r="r" b="b"/>
            <a:pathLst>
              <a:path w="47625" h="428625">
                <a:moveTo>
                  <a:pt x="47625" y="401662"/>
                </a:moveTo>
                <a:lnTo>
                  <a:pt x="26974" y="381000"/>
                </a:lnTo>
                <a:lnTo>
                  <a:pt x="20662" y="381000"/>
                </a:lnTo>
                <a:lnTo>
                  <a:pt x="0" y="401662"/>
                </a:lnTo>
                <a:lnTo>
                  <a:pt x="0" y="407974"/>
                </a:lnTo>
                <a:lnTo>
                  <a:pt x="20662" y="428625"/>
                </a:lnTo>
                <a:lnTo>
                  <a:pt x="26974" y="428625"/>
                </a:lnTo>
                <a:lnTo>
                  <a:pt x="47625" y="407974"/>
                </a:lnTo>
                <a:lnTo>
                  <a:pt x="47625" y="404812"/>
                </a:lnTo>
                <a:lnTo>
                  <a:pt x="47625" y="401662"/>
                </a:lnTo>
                <a:close/>
              </a:path>
              <a:path w="47625" h="428625">
                <a:moveTo>
                  <a:pt x="47625" y="211162"/>
                </a:moveTo>
                <a:lnTo>
                  <a:pt x="26974" y="190500"/>
                </a:lnTo>
                <a:lnTo>
                  <a:pt x="20662" y="190500"/>
                </a:lnTo>
                <a:lnTo>
                  <a:pt x="0" y="211162"/>
                </a:lnTo>
                <a:lnTo>
                  <a:pt x="0" y="217474"/>
                </a:lnTo>
                <a:lnTo>
                  <a:pt x="20662" y="238125"/>
                </a:lnTo>
                <a:lnTo>
                  <a:pt x="26974" y="238125"/>
                </a:lnTo>
                <a:lnTo>
                  <a:pt x="47625" y="217474"/>
                </a:lnTo>
                <a:lnTo>
                  <a:pt x="47625" y="214312"/>
                </a:lnTo>
                <a:lnTo>
                  <a:pt x="47625" y="211162"/>
                </a:lnTo>
                <a:close/>
              </a:path>
              <a:path w="47625" h="42862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092652" y="3189262"/>
            <a:ext cx="1513840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독립적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4A5462"/>
                </a:solidFill>
                <a:latin typeface="Dotum"/>
                <a:cs typeface="Dotum"/>
              </a:rPr>
              <a:t>서비스</a:t>
            </a:r>
            <a:r>
              <a:rPr dirty="0" sz="1050" spc="-145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1050" spc="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느슨한</a:t>
            </a:r>
            <a:r>
              <a:rPr dirty="0" sz="115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0">
                <a:solidFill>
                  <a:srgbClr val="4A5462"/>
                </a:solidFill>
                <a:latin typeface="Dotum"/>
                <a:cs typeface="Dotum"/>
              </a:rPr>
              <a:t>결합</a:t>
            </a:r>
            <a:r>
              <a:rPr dirty="0" sz="1150" spc="5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개별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서비스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배포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가능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탄력적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확장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1050" spc="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장애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격리</a:t>
            </a:r>
            <a:endParaRPr sz="1150">
              <a:latin typeface="Dotum"/>
              <a:cs typeface="Dotum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92099" y="4150486"/>
            <a:ext cx="198882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핵심</a:t>
            </a:r>
            <a:r>
              <a:rPr dirty="0" sz="1700" spc="-15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성과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지표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예상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변화</a:t>
            </a:r>
            <a:endParaRPr sz="1700">
              <a:latin typeface="Dotum"/>
              <a:cs typeface="Dotum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54025" y="4698974"/>
            <a:ext cx="62865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성과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FFFFFF"/>
                </a:solidFill>
                <a:latin typeface="Dotum"/>
                <a:cs typeface="Dotum"/>
              </a:rPr>
              <a:t>지표</a:t>
            </a:r>
            <a:endParaRPr sz="1350">
              <a:latin typeface="Dotum"/>
              <a:cs typeface="Dotum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895724" y="4698974"/>
            <a:ext cx="602932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46379">
              <a:lnSpc>
                <a:spcPct val="100000"/>
              </a:lnSpc>
              <a:spcBef>
                <a:spcPts val="125"/>
              </a:spcBef>
              <a:tabLst>
                <a:tab pos="2786380" algn="l"/>
              </a:tabLst>
            </a:pPr>
            <a:r>
              <a:rPr dirty="0" sz="1200" b="1">
                <a:solidFill>
                  <a:srgbClr val="FFFFFF"/>
                </a:solidFill>
                <a:latin typeface="Segoe UI"/>
                <a:cs typeface="Segoe UI"/>
              </a:rPr>
              <a:t>Before</a:t>
            </a:r>
            <a:r>
              <a:rPr dirty="0" sz="1200" spc="-4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Segoe UI"/>
                <a:cs typeface="Segoe UI"/>
              </a:rPr>
              <a:t>(</a:t>
            </a:r>
            <a:r>
              <a:rPr dirty="0" sz="1350" spc="-20">
                <a:solidFill>
                  <a:srgbClr val="FFFFFF"/>
                </a:solidFill>
                <a:latin typeface="Dotum"/>
                <a:cs typeface="Dotum"/>
              </a:rPr>
              <a:t>현재</a:t>
            </a:r>
            <a:r>
              <a:rPr dirty="0" sz="1200" spc="-20" b="1">
                <a:solidFill>
                  <a:srgbClr val="FFFFFF"/>
                </a:solidFill>
                <a:latin typeface="Segoe UI"/>
                <a:cs typeface="Segoe UI"/>
              </a:rPr>
              <a:t>)</a:t>
            </a:r>
            <a:r>
              <a:rPr dirty="0" sz="1200" b="1">
                <a:solidFill>
                  <a:srgbClr val="FFFFFF"/>
                </a:solidFill>
                <a:latin typeface="Segoe UI"/>
                <a:cs typeface="Segoe UI"/>
              </a:rPr>
              <a:t>	After</a:t>
            </a:r>
            <a:r>
              <a:rPr dirty="0" sz="1200" spc="-1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Segoe UI"/>
                <a:cs typeface="Segoe UI"/>
              </a:rPr>
              <a:t>(MSA</a:t>
            </a:r>
            <a:r>
              <a:rPr dirty="0" sz="1200" spc="-1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도입</a:t>
            </a:r>
            <a:r>
              <a:rPr dirty="0" sz="1350" spc="-12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Dotum"/>
                <a:cs typeface="Dotum"/>
              </a:rPr>
              <a:t>후</a:t>
            </a:r>
            <a:r>
              <a:rPr dirty="0" sz="1200" spc="-25" b="1">
                <a:solidFill>
                  <a:srgbClr val="FFFFFF"/>
                </a:solidFill>
                <a:latin typeface="Segoe UI"/>
                <a:cs typeface="Segoe UI"/>
              </a:rPr>
              <a:t>)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586689" y="4698974"/>
            <a:ext cx="62865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개선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FFFFFF"/>
                </a:solidFill>
                <a:latin typeface="Dotum"/>
                <a:cs typeface="Dotum"/>
              </a:rPr>
              <a:t>효과</a:t>
            </a:r>
            <a:endParaRPr sz="1350">
              <a:latin typeface="Dotum"/>
              <a:cs typeface="Dotum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92099" y="5118074"/>
            <a:ext cx="11585575" cy="2386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25"/>
              </a:spcBef>
              <a:tabLst>
                <a:tab pos="4554855" algn="l"/>
                <a:tab pos="7611745" algn="l"/>
                <a:tab pos="10293350" algn="l"/>
              </a:tabLst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신규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기능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개발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기간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평균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12</a:t>
            </a:r>
            <a:r>
              <a:rPr dirty="0" sz="1350" spc="-25">
                <a:solidFill>
                  <a:srgbClr val="333333"/>
                </a:solidFill>
                <a:latin typeface="Dotum"/>
                <a:cs typeface="Dotum"/>
              </a:rPr>
              <a:t>주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평균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6</a:t>
            </a:r>
            <a:r>
              <a:rPr dirty="0" sz="1350" spc="-25">
                <a:solidFill>
                  <a:srgbClr val="333333"/>
                </a:solidFill>
                <a:latin typeface="Dotum"/>
                <a:cs typeface="Dotum"/>
              </a:rPr>
              <a:t>주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 b="1">
                <a:solidFill>
                  <a:srgbClr val="049569"/>
                </a:solidFill>
                <a:latin typeface="Segoe UI"/>
                <a:cs typeface="Segoe UI"/>
              </a:rPr>
              <a:t>50%</a:t>
            </a:r>
            <a:r>
              <a:rPr dirty="0" sz="1200" spc="-10" b="1">
                <a:solidFill>
                  <a:srgbClr val="049569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049569"/>
                </a:solidFill>
                <a:latin typeface="Dotum"/>
                <a:cs typeface="Dotum"/>
              </a:rPr>
              <a:t>단축</a:t>
            </a:r>
            <a:endParaRPr sz="1350">
              <a:latin typeface="Dotum"/>
              <a:cs typeface="Dotum"/>
            </a:endParaRPr>
          </a:p>
          <a:p>
            <a:pPr marL="173990">
              <a:lnSpc>
                <a:spcPct val="100000"/>
              </a:lnSpc>
              <a:spcBef>
                <a:spcPts val="1455"/>
              </a:spcBef>
              <a:tabLst>
                <a:tab pos="4608195" algn="l"/>
                <a:tab pos="7624445" algn="l"/>
                <a:tab pos="10293350" algn="l"/>
              </a:tabLst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발생률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월</a:t>
            </a:r>
            <a:r>
              <a:rPr dirty="0" sz="1350" spc="-12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Segoe UI"/>
                <a:cs typeface="Segoe UI"/>
              </a:rPr>
              <a:t>5.2</a:t>
            </a:r>
            <a:r>
              <a:rPr dirty="0" sz="1350" spc="-20">
                <a:solidFill>
                  <a:srgbClr val="333333"/>
                </a:solidFill>
                <a:latin typeface="Dotum"/>
                <a:cs typeface="Dotum"/>
              </a:rPr>
              <a:t>건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월</a:t>
            </a:r>
            <a:r>
              <a:rPr dirty="0" sz="1350" spc="-12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Segoe UI"/>
                <a:cs typeface="Segoe UI"/>
              </a:rPr>
              <a:t>1.0</a:t>
            </a:r>
            <a:r>
              <a:rPr dirty="0" sz="1350" spc="-20">
                <a:solidFill>
                  <a:srgbClr val="333333"/>
                </a:solidFill>
                <a:latin typeface="Dotum"/>
                <a:cs typeface="Dotum"/>
              </a:rPr>
              <a:t>건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 b="1">
                <a:solidFill>
                  <a:srgbClr val="049569"/>
                </a:solidFill>
                <a:latin typeface="Segoe UI"/>
                <a:cs typeface="Segoe UI"/>
              </a:rPr>
              <a:t>80%</a:t>
            </a:r>
            <a:r>
              <a:rPr dirty="0" sz="1200" spc="-10" b="1">
                <a:solidFill>
                  <a:srgbClr val="049569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049569"/>
                </a:solidFill>
                <a:latin typeface="Dotum"/>
                <a:cs typeface="Dotum"/>
              </a:rPr>
              <a:t>감소</a:t>
            </a:r>
            <a:endParaRPr sz="1350">
              <a:latin typeface="Dotum"/>
              <a:cs typeface="Dotum"/>
            </a:endParaRPr>
          </a:p>
          <a:p>
            <a:pPr marL="173990">
              <a:lnSpc>
                <a:spcPct val="100000"/>
              </a:lnSpc>
              <a:spcBef>
                <a:spcPts val="1455"/>
              </a:spcBef>
              <a:tabLst>
                <a:tab pos="4594225" algn="l"/>
                <a:tab pos="7610475" algn="l"/>
                <a:tab pos="10333355" algn="l"/>
              </a:tabLst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배포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주기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월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1-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r>
              <a:rPr dirty="0" sz="1350" spc="-25">
                <a:solidFill>
                  <a:srgbClr val="333333"/>
                </a:solidFill>
                <a:latin typeface="Dotum"/>
                <a:cs typeface="Dotum"/>
              </a:rPr>
              <a:t>회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주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2-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350" spc="-25">
                <a:solidFill>
                  <a:srgbClr val="333333"/>
                </a:solidFill>
                <a:latin typeface="Dotum"/>
                <a:cs typeface="Dotum"/>
              </a:rPr>
              <a:t>회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 spc="-135" b="1">
                <a:solidFill>
                  <a:srgbClr val="049569"/>
                </a:solidFill>
                <a:latin typeface="Segoe UI"/>
                <a:cs typeface="Segoe UI"/>
              </a:rPr>
              <a:t>7</a:t>
            </a:r>
            <a:r>
              <a:rPr dirty="0" sz="1350" spc="-135">
                <a:solidFill>
                  <a:srgbClr val="049569"/>
                </a:solidFill>
                <a:latin typeface="Dotum"/>
                <a:cs typeface="Dotum"/>
              </a:rPr>
              <a:t>배</a:t>
            </a:r>
            <a:r>
              <a:rPr dirty="0" sz="1350" spc="-110">
                <a:solidFill>
                  <a:srgbClr val="049569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049569"/>
                </a:solidFill>
                <a:latin typeface="Dotum"/>
                <a:cs typeface="Dotum"/>
              </a:rPr>
              <a:t>향상</a:t>
            </a:r>
            <a:endParaRPr sz="1350">
              <a:latin typeface="Dotum"/>
              <a:cs typeface="Dotum"/>
            </a:endParaRPr>
          </a:p>
          <a:p>
            <a:pPr marL="173990">
              <a:lnSpc>
                <a:spcPct val="100000"/>
              </a:lnSpc>
              <a:spcBef>
                <a:spcPts val="1455"/>
              </a:spcBef>
              <a:tabLst>
                <a:tab pos="4467860" algn="l"/>
                <a:tab pos="7484109" algn="l"/>
                <a:tab pos="10293350" algn="l"/>
              </a:tabLst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복구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10">
                <a:solidFill>
                  <a:srgbClr val="333333"/>
                </a:solidFill>
                <a:latin typeface="Dotum"/>
                <a:cs typeface="Dotum"/>
              </a:rPr>
              <a:t>시간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(MTTR)</a:t>
            </a: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평균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8.5</a:t>
            </a:r>
            <a:r>
              <a:rPr dirty="0" sz="1350" spc="-10">
                <a:solidFill>
                  <a:srgbClr val="333333"/>
                </a:solidFill>
                <a:latin typeface="Dotum"/>
                <a:cs typeface="Dotum"/>
              </a:rPr>
              <a:t>시간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평균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1.7</a:t>
            </a:r>
            <a:r>
              <a:rPr dirty="0" sz="1350" spc="-10">
                <a:solidFill>
                  <a:srgbClr val="333333"/>
                </a:solidFill>
                <a:latin typeface="Dotum"/>
                <a:cs typeface="Dotum"/>
              </a:rPr>
              <a:t>시간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 b="1">
                <a:solidFill>
                  <a:srgbClr val="049569"/>
                </a:solidFill>
                <a:latin typeface="Segoe UI"/>
                <a:cs typeface="Segoe UI"/>
              </a:rPr>
              <a:t>80%</a:t>
            </a:r>
            <a:r>
              <a:rPr dirty="0" sz="1200" spc="-10" b="1">
                <a:solidFill>
                  <a:srgbClr val="049569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049569"/>
                </a:solidFill>
                <a:latin typeface="Dotum"/>
                <a:cs typeface="Dotum"/>
              </a:rPr>
              <a:t>단축</a:t>
            </a:r>
            <a:endParaRPr sz="1350">
              <a:latin typeface="Dotum"/>
              <a:cs typeface="Dotum"/>
            </a:endParaRPr>
          </a:p>
          <a:p>
            <a:pPr marL="173990">
              <a:lnSpc>
                <a:spcPct val="100000"/>
              </a:lnSpc>
              <a:spcBef>
                <a:spcPts val="1455"/>
              </a:spcBef>
              <a:tabLst>
                <a:tab pos="4562475" algn="l"/>
                <a:tab pos="7578725" algn="l"/>
                <a:tab pos="10293350" algn="l"/>
              </a:tabLst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리소스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효율성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60%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활용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85%</a:t>
            </a:r>
            <a:r>
              <a:rPr dirty="0"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활용</a:t>
            </a:r>
            <a:r>
              <a:rPr dirty="0" sz="1350">
                <a:solidFill>
                  <a:srgbClr val="333333"/>
                </a:solidFill>
                <a:latin typeface="Dotum"/>
                <a:cs typeface="Dotum"/>
              </a:rPr>
              <a:t>	</a:t>
            </a:r>
            <a:r>
              <a:rPr dirty="0" sz="1200" b="1">
                <a:solidFill>
                  <a:srgbClr val="049569"/>
                </a:solidFill>
                <a:latin typeface="Segoe UI"/>
                <a:cs typeface="Segoe UI"/>
              </a:rPr>
              <a:t>42%</a:t>
            </a:r>
            <a:r>
              <a:rPr dirty="0" sz="1200" spc="-10" b="1">
                <a:solidFill>
                  <a:srgbClr val="049569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049569"/>
                </a:solidFill>
                <a:latin typeface="Dotum"/>
                <a:cs typeface="Dotum"/>
              </a:rPr>
              <a:t>향상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333333"/>
                </a:solidFill>
                <a:latin typeface="Segoe UI"/>
                <a:cs typeface="Segoe UI"/>
              </a:rPr>
              <a:t>MSA</a:t>
            </a:r>
            <a:r>
              <a:rPr dirty="0" sz="1500" spc="5" b="1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도입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후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00" spc="-170" b="1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700" spc="-170">
                <a:solidFill>
                  <a:srgbClr val="333333"/>
                </a:solidFill>
                <a:latin typeface="Dotum"/>
                <a:cs typeface="Dotum"/>
              </a:rPr>
              <a:t>년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예상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추이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799" y="9667874"/>
            <a:ext cx="133349" cy="133349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463550" y="9618788"/>
            <a:ext cx="15557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100">
                <a:solidFill>
                  <a:srgbClr val="1C4ED8"/>
                </a:solidFill>
                <a:latin typeface="Segoe UI"/>
                <a:cs typeface="Segoe UI"/>
              </a:rPr>
              <a:t>3</a:t>
            </a:r>
            <a:r>
              <a:rPr dirty="0" sz="1150" spc="-100">
                <a:solidFill>
                  <a:srgbClr val="1C4ED8"/>
                </a:solidFill>
                <a:latin typeface="Dotum"/>
                <a:cs typeface="Dotum"/>
              </a:rPr>
              <a:t>년 </a:t>
            </a:r>
            <a:r>
              <a:rPr dirty="0" sz="1150" spc="-190">
                <a:solidFill>
                  <a:srgbClr val="1C4ED8"/>
                </a:solidFill>
                <a:latin typeface="Dotum"/>
                <a:cs typeface="Dotum"/>
              </a:rPr>
              <a:t>내</a:t>
            </a:r>
            <a:r>
              <a:rPr dirty="0" sz="1150" spc="-95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1C4ED8"/>
                </a:solidFill>
                <a:latin typeface="Segoe UI"/>
                <a:cs typeface="Segoe UI"/>
              </a:rPr>
              <a:t>ROI</a:t>
            </a:r>
            <a:r>
              <a:rPr dirty="0" sz="1050" spc="5">
                <a:solidFill>
                  <a:srgbClr val="1C4ED8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1C4ED8"/>
                </a:solidFill>
                <a:latin typeface="Segoe UI"/>
                <a:cs typeface="Segoe UI"/>
              </a:rPr>
              <a:t>320%</a:t>
            </a:r>
            <a:r>
              <a:rPr dirty="0" sz="1050" spc="5">
                <a:solidFill>
                  <a:srgbClr val="1C4ED8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1C4ED8"/>
                </a:solidFill>
                <a:latin typeface="Dotum"/>
                <a:cs typeface="Dotum"/>
              </a:rPr>
              <a:t>달성</a:t>
            </a:r>
            <a:r>
              <a:rPr dirty="0" sz="1150" spc="-10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150" spc="-150">
                <a:solidFill>
                  <a:srgbClr val="1C4ED8"/>
                </a:solidFill>
                <a:latin typeface="Dotum"/>
                <a:cs typeface="Dotum"/>
              </a:rPr>
              <a:t>예상</a:t>
            </a:r>
            <a:endParaRPr sz="1150">
              <a:latin typeface="Dotum"/>
              <a:cs typeface="Dotum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9349" y="9667874"/>
            <a:ext cx="150018" cy="133350"/>
          </a:xfrm>
          <a:prstGeom prst="rect">
            <a:avLst/>
          </a:prstGeom>
        </p:spPr>
      </p:pic>
      <p:sp>
        <p:nvSpPr>
          <p:cNvPr id="44" name="object 44" descr=""/>
          <p:cNvSpPr txBox="1"/>
          <p:nvPr/>
        </p:nvSpPr>
        <p:spPr>
          <a:xfrm>
            <a:off x="1165125" y="2265489"/>
            <a:ext cx="12890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모놀리식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85">
                <a:solidFill>
                  <a:srgbClr val="333333"/>
                </a:solidFill>
                <a:latin typeface="Dotum"/>
                <a:cs typeface="Dotum"/>
              </a:rPr>
              <a:t>애플리케이션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800099" y="2514599"/>
            <a:ext cx="2019300" cy="400050"/>
            <a:chOff x="800099" y="2514599"/>
            <a:chExt cx="2019300" cy="400050"/>
          </a:xfrm>
        </p:grpSpPr>
        <p:pic>
          <p:nvPicPr>
            <p:cNvPr id="46" name="object 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0199" y="2514599"/>
              <a:ext cx="114300" cy="114299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599" y="2514599"/>
              <a:ext cx="114300" cy="114299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4999" y="2514599"/>
              <a:ext cx="114300" cy="114299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800099" y="2686049"/>
              <a:ext cx="2019300" cy="228600"/>
            </a:xfrm>
            <a:custGeom>
              <a:avLst/>
              <a:gdLst/>
              <a:ahLst/>
              <a:cxnLst/>
              <a:rect l="l" t="t" r="r" b="b"/>
              <a:pathLst>
                <a:path w="2019300" h="228600">
                  <a:moveTo>
                    <a:pt x="20192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2019299" y="0"/>
                  </a:lnTo>
                  <a:lnTo>
                    <a:pt x="2019299" y="228599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800099" y="2706116"/>
            <a:ext cx="20193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7277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공유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20">
                <a:solidFill>
                  <a:srgbClr val="333333"/>
                </a:solidFill>
                <a:latin typeface="Dotum"/>
                <a:cs typeface="Dotum"/>
              </a:rPr>
              <a:t>데이터베이스</a:t>
            </a:r>
            <a:endParaRPr sz="1000">
              <a:latin typeface="Dotum"/>
              <a:cs typeface="Dotum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" y="7658100"/>
            <a:ext cx="11582399" cy="1904999"/>
          </a:xfrm>
          <a:prstGeom prst="rect">
            <a:avLst/>
          </a:prstGeom>
        </p:spPr>
      </p:pic>
      <p:grpSp>
        <p:nvGrpSpPr>
          <p:cNvPr id="52" name="object 52" descr=""/>
          <p:cNvGrpSpPr/>
          <p:nvPr/>
        </p:nvGrpSpPr>
        <p:grpSpPr>
          <a:xfrm>
            <a:off x="10658474" y="9620249"/>
            <a:ext cx="1343025" cy="323850"/>
            <a:chOff x="10658474" y="9620249"/>
            <a:chExt cx="1343025" cy="323850"/>
          </a:xfrm>
        </p:grpSpPr>
        <p:sp>
          <p:nvSpPr>
            <p:cNvPr id="53" name="object 53" descr=""/>
            <p:cNvSpPr/>
            <p:nvPr/>
          </p:nvSpPr>
          <p:spPr>
            <a:xfrm>
              <a:off x="10658474" y="9620249"/>
              <a:ext cx="1343025" cy="323850"/>
            </a:xfrm>
            <a:custGeom>
              <a:avLst/>
              <a:gdLst/>
              <a:ahLst/>
              <a:cxnLst/>
              <a:rect l="l" t="t" r="r" b="b"/>
              <a:pathLst>
                <a:path w="1343025" h="323850">
                  <a:moveTo>
                    <a:pt x="13099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09977" y="0"/>
                  </a:lnTo>
                  <a:lnTo>
                    <a:pt x="1342057" y="28187"/>
                  </a:lnTo>
                  <a:lnTo>
                    <a:pt x="1343024" y="33047"/>
                  </a:lnTo>
                  <a:lnTo>
                    <a:pt x="1343024" y="290802"/>
                  </a:lnTo>
                  <a:lnTo>
                    <a:pt x="1314837" y="322883"/>
                  </a:lnTo>
                  <a:lnTo>
                    <a:pt x="13099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72774" y="9715499"/>
              <a:ext cx="133349" cy="133349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10186689" y="9618788"/>
            <a:ext cx="173863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150" spc="-190">
                <a:solidFill>
                  <a:srgbClr val="1C4ED8"/>
                </a:solidFill>
                <a:latin typeface="Dotum"/>
                <a:cs typeface="Dotum"/>
              </a:rPr>
              <a:t>업계</a:t>
            </a:r>
            <a:r>
              <a:rPr dirty="0" sz="1150" spc="-9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1C4ED8"/>
                </a:solidFill>
                <a:latin typeface="Dotum"/>
                <a:cs typeface="Dotum"/>
              </a:rPr>
              <a:t>상위</a:t>
            </a:r>
            <a:r>
              <a:rPr dirty="0" sz="1150" spc="-9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050" spc="-50">
                <a:solidFill>
                  <a:srgbClr val="1C4ED8"/>
                </a:solidFill>
                <a:latin typeface="Segoe UI"/>
                <a:cs typeface="Segoe UI"/>
              </a:rPr>
              <a:t>25</a:t>
            </a:r>
            <a:r>
              <a:rPr dirty="0" sz="1050" spc="-690">
                <a:solidFill>
                  <a:srgbClr val="1C4ED8"/>
                </a:solidFill>
                <a:latin typeface="Segoe UI"/>
                <a:cs typeface="Segoe UI"/>
              </a:rPr>
              <a:t>%</a:t>
            </a:r>
            <a:r>
              <a:rPr dirty="0" baseline="-24691" sz="1350" spc="-75">
                <a:solidFill>
                  <a:srgbClr val="FFFFFF"/>
                </a:solidFill>
                <a:latin typeface="Segoe UI"/>
                <a:cs typeface="Segoe UI"/>
              </a:rPr>
              <a:t>G</a:t>
            </a:r>
            <a:r>
              <a:rPr dirty="0" baseline="-24691" sz="1350" spc="-345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dirty="0" sz="1150" spc="-1000">
                <a:solidFill>
                  <a:srgbClr val="1C4ED8"/>
                </a:solidFill>
                <a:latin typeface="Dotum"/>
                <a:cs typeface="Dotum"/>
              </a:rPr>
              <a:t>성</a:t>
            </a:r>
            <a:r>
              <a:rPr dirty="0" baseline="-24691" sz="1350" spc="-75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r>
              <a:rPr dirty="0" baseline="-24691" sz="1350" spc="-232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dirty="0" sz="1150" spc="-1090">
                <a:solidFill>
                  <a:srgbClr val="1C4ED8"/>
                </a:solidFill>
                <a:latin typeface="Dotum"/>
                <a:cs typeface="Dotum"/>
              </a:rPr>
              <a:t>능</a:t>
            </a:r>
            <a:r>
              <a:rPr dirty="0" baseline="-24691" sz="1350" spc="-75">
                <a:solidFill>
                  <a:srgbClr val="FFFFFF"/>
                </a:solidFill>
                <a:latin typeface="Segoe UI"/>
                <a:cs typeface="Segoe UI"/>
              </a:rPr>
              <a:t>pa</a:t>
            </a:r>
            <a:r>
              <a:rPr dirty="0" baseline="-24691" sz="1350" spc="-300">
                <a:solidFill>
                  <a:srgbClr val="FFFFFF"/>
                </a:solidFill>
                <a:latin typeface="Segoe UI"/>
                <a:cs typeface="Segoe UI"/>
              </a:rPr>
              <a:t>r</a:t>
            </a:r>
            <a:r>
              <a:rPr dirty="0" sz="1150" spc="-1035">
                <a:solidFill>
                  <a:srgbClr val="1C4ED8"/>
                </a:solidFill>
                <a:latin typeface="Dotum"/>
                <a:cs typeface="Dotum"/>
              </a:rPr>
              <a:t>지</a:t>
            </a:r>
            <a:r>
              <a:rPr dirty="0" baseline="-24691" sz="1350" spc="-75">
                <a:solidFill>
                  <a:srgbClr val="FFFFFF"/>
                </a:solidFill>
                <a:latin typeface="Segoe UI"/>
                <a:cs typeface="Segoe UI"/>
              </a:rPr>
              <a:t>k</a:t>
            </a:r>
            <a:r>
              <a:rPr dirty="0" baseline="-22222" sz="1500" spc="-922">
                <a:solidFill>
                  <a:srgbClr val="FFFFFF"/>
                </a:solidFill>
                <a:latin typeface="Dotum"/>
                <a:cs typeface="Dotum"/>
              </a:rPr>
              <a:t>로</a:t>
            </a:r>
            <a:r>
              <a:rPr dirty="0" sz="1150" spc="-370">
                <a:solidFill>
                  <a:srgbClr val="1C4ED8"/>
                </a:solidFill>
                <a:latin typeface="Dotum"/>
                <a:cs typeface="Dotum"/>
              </a:rPr>
              <a:t>표</a:t>
            </a:r>
            <a:r>
              <a:rPr dirty="0" baseline="-22222" sz="1500" spc="-592">
                <a:solidFill>
                  <a:srgbClr val="FFFFFF"/>
                </a:solidFill>
                <a:latin typeface="Dotum"/>
                <a:cs typeface="Dotum"/>
              </a:rPr>
              <a:t>제</a:t>
            </a:r>
            <a:r>
              <a:rPr dirty="0" sz="1150" spc="-875">
                <a:solidFill>
                  <a:srgbClr val="1C4ED8"/>
                </a:solidFill>
                <a:latin typeface="Dotum"/>
                <a:cs typeface="Dotum"/>
              </a:rPr>
              <a:t>달</a:t>
            </a:r>
            <a:r>
              <a:rPr dirty="0" baseline="-22222" sz="1500" spc="-337">
                <a:solidFill>
                  <a:srgbClr val="FFFFFF"/>
                </a:solidFill>
                <a:latin typeface="Dotum"/>
                <a:cs typeface="Dotum"/>
              </a:rPr>
              <a:t>작</a:t>
            </a:r>
            <a:r>
              <a:rPr dirty="0" sz="1150" spc="-1040">
                <a:solidFill>
                  <a:srgbClr val="1C4ED8"/>
                </a:solidFill>
                <a:latin typeface="Dotum"/>
                <a:cs typeface="Dotum"/>
              </a:rPr>
              <a:t>성</a:t>
            </a:r>
            <a:r>
              <a:rPr dirty="0" baseline="-22222" sz="1500" spc="-75">
                <a:solidFill>
                  <a:srgbClr val="FFFFFF"/>
                </a:solidFill>
                <a:latin typeface="Dotum"/>
                <a:cs typeface="Dotum"/>
              </a:rPr>
              <a:t>됨</a:t>
            </a:r>
            <a:endParaRPr baseline="-22222" sz="15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Strategic</a:t>
            </a:r>
            <a:r>
              <a:rPr dirty="0" spc="-125"/>
              <a:t> </a:t>
            </a:r>
            <a:r>
              <a:rPr dirty="0" spc="-10"/>
              <a:t>Approach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 spc="-225" b="0">
                <a:latin typeface="Dotum"/>
                <a:cs typeface="Dotum"/>
              </a:rPr>
              <a:t>기술</a:t>
            </a:r>
            <a:r>
              <a:rPr dirty="0" sz="1500" spc="-225" b="0">
                <a:latin typeface="Segoe UI"/>
                <a:cs typeface="Segoe UI"/>
              </a:rPr>
              <a:t>-</a:t>
            </a:r>
            <a:r>
              <a:rPr dirty="0" sz="1700" spc="-225" b="0">
                <a:latin typeface="Dotum"/>
                <a:cs typeface="Dotum"/>
              </a:rPr>
              <a:t>조직</a:t>
            </a:r>
            <a:r>
              <a:rPr dirty="0" sz="1500" spc="-225" b="0">
                <a:latin typeface="Segoe UI"/>
                <a:cs typeface="Segoe UI"/>
              </a:rPr>
              <a:t>-</a:t>
            </a:r>
            <a:r>
              <a:rPr dirty="0" sz="1700" spc="-325" b="0">
                <a:latin typeface="Dotum"/>
                <a:cs typeface="Dotum"/>
              </a:rPr>
              <a:t>프로세스</a:t>
            </a:r>
            <a:r>
              <a:rPr dirty="0" sz="1700" spc="-135" b="0">
                <a:latin typeface="Dotum"/>
                <a:cs typeface="Dotum"/>
              </a:rPr>
              <a:t> </a:t>
            </a:r>
            <a:r>
              <a:rPr dirty="0" sz="1500" spc="-175" b="0">
                <a:latin typeface="Segoe UI"/>
                <a:cs typeface="Segoe UI"/>
              </a:rPr>
              <a:t>3</a:t>
            </a:r>
            <a:r>
              <a:rPr dirty="0" sz="1700" spc="-175" b="0">
                <a:latin typeface="Dotum"/>
                <a:cs typeface="Dotum"/>
              </a:rPr>
              <a:t>축</a:t>
            </a:r>
            <a:r>
              <a:rPr dirty="0" sz="1700" spc="-13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실행</a:t>
            </a:r>
            <a:r>
              <a:rPr dirty="0" sz="1700" spc="-135" b="0">
                <a:latin typeface="Dotum"/>
                <a:cs typeface="Dotum"/>
              </a:rPr>
              <a:t> </a:t>
            </a:r>
            <a:r>
              <a:rPr dirty="0" sz="1700" spc="-350" b="0">
                <a:latin typeface="Dotum"/>
                <a:cs typeface="Dotum"/>
              </a:rPr>
              <a:t>전략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6496049"/>
            <a:ext cx="11696699" cy="1524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9962" y="1509712"/>
            <a:ext cx="5172074" cy="154781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42841" y="1885090"/>
            <a:ext cx="696595" cy="5835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550" spc="-335">
                <a:solidFill>
                  <a:srgbClr val="0078D4"/>
                </a:solidFill>
                <a:latin typeface="Dotum"/>
                <a:cs typeface="Dotum"/>
              </a:rPr>
              <a:t>기술</a:t>
            </a:r>
            <a:endParaRPr sz="15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050" spc="-10">
                <a:solidFill>
                  <a:srgbClr val="0078D4"/>
                </a:solidFill>
                <a:latin typeface="Segoe UI"/>
                <a:cs typeface="Segoe UI"/>
              </a:rPr>
              <a:t>Technology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72806" y="1885090"/>
            <a:ext cx="1246505" cy="5835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통합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45">
                <a:solidFill>
                  <a:srgbClr val="333333"/>
                </a:solidFill>
                <a:latin typeface="Dotum"/>
                <a:cs typeface="Dotum"/>
              </a:rPr>
              <a:t>접근</a:t>
            </a:r>
            <a:endParaRPr sz="15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Integrated </a:t>
            </a: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08044" y="1885090"/>
            <a:ext cx="786130" cy="5835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550" spc="-335">
                <a:solidFill>
                  <a:srgbClr val="0F7C40"/>
                </a:solidFill>
                <a:latin typeface="Dotum"/>
                <a:cs typeface="Dotum"/>
              </a:rPr>
              <a:t>조직</a:t>
            </a:r>
            <a:endParaRPr sz="15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050" spc="-10">
                <a:solidFill>
                  <a:srgbClr val="0F7C40"/>
                </a:solidFill>
                <a:latin typeface="Segoe UI"/>
                <a:cs typeface="Segoe UI"/>
              </a:rPr>
              <a:t>Organization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02758" y="2765399"/>
            <a:ext cx="58674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80">
                <a:solidFill>
                  <a:srgbClr val="7718AA"/>
                </a:solidFill>
                <a:latin typeface="Dotum"/>
                <a:cs typeface="Dotum"/>
              </a:rPr>
              <a:t>프로세스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04799" y="3371849"/>
            <a:ext cx="3705225" cy="2895600"/>
            <a:chOff x="304799" y="3371849"/>
            <a:chExt cx="3705225" cy="2895600"/>
          </a:xfrm>
        </p:grpSpPr>
        <p:sp>
          <p:nvSpPr>
            <p:cNvPr id="10" name="object 10" descr=""/>
            <p:cNvSpPr/>
            <p:nvPr/>
          </p:nvSpPr>
          <p:spPr>
            <a:xfrm>
              <a:off x="323849" y="3371849"/>
              <a:ext cx="3686175" cy="2895600"/>
            </a:xfrm>
            <a:custGeom>
              <a:avLst/>
              <a:gdLst/>
              <a:ahLst/>
              <a:cxnLst/>
              <a:rect l="l" t="t" r="r" b="b"/>
              <a:pathLst>
                <a:path w="3686175" h="2895600">
                  <a:moveTo>
                    <a:pt x="3614977" y="2895599"/>
                  </a:moveTo>
                  <a:lnTo>
                    <a:pt x="53397" y="2895599"/>
                  </a:lnTo>
                  <a:lnTo>
                    <a:pt x="49681" y="2895111"/>
                  </a:lnTo>
                  <a:lnTo>
                    <a:pt x="14085" y="2869743"/>
                  </a:lnTo>
                  <a:lnTo>
                    <a:pt x="366" y="2829357"/>
                  </a:lnTo>
                  <a:lnTo>
                    <a:pt x="0" y="2824402"/>
                  </a:lnTo>
                  <a:lnTo>
                    <a:pt x="0" y="2819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3614977" y="0"/>
                  </a:lnTo>
                  <a:lnTo>
                    <a:pt x="3656468" y="15621"/>
                  </a:lnTo>
                  <a:lnTo>
                    <a:pt x="3682288" y="51661"/>
                  </a:lnTo>
                  <a:lnTo>
                    <a:pt x="3686174" y="71196"/>
                  </a:lnTo>
                  <a:lnTo>
                    <a:pt x="3686174" y="2824402"/>
                  </a:lnTo>
                  <a:lnTo>
                    <a:pt x="3670552" y="2865894"/>
                  </a:lnTo>
                  <a:lnTo>
                    <a:pt x="3634512" y="2891712"/>
                  </a:lnTo>
                  <a:lnTo>
                    <a:pt x="3619933" y="2895111"/>
                  </a:lnTo>
                  <a:lnTo>
                    <a:pt x="3614977" y="2895599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4799" y="3372127"/>
              <a:ext cx="70485" cy="2895600"/>
            </a:xfrm>
            <a:custGeom>
              <a:avLst/>
              <a:gdLst/>
              <a:ahLst/>
              <a:cxnLst/>
              <a:rect l="l" t="t" r="r" b="b"/>
              <a:pathLst>
                <a:path w="70485" h="2895600">
                  <a:moveTo>
                    <a:pt x="70450" y="2895044"/>
                  </a:moveTo>
                  <a:lnTo>
                    <a:pt x="33857" y="2882490"/>
                  </a:lnTo>
                  <a:lnTo>
                    <a:pt x="5800" y="2848282"/>
                  </a:lnTo>
                  <a:lnTo>
                    <a:pt x="0" y="2819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2819122"/>
                  </a:lnTo>
                  <a:lnTo>
                    <a:pt x="44515" y="2861464"/>
                  </a:lnTo>
                  <a:lnTo>
                    <a:pt x="66287" y="2893388"/>
                  </a:lnTo>
                  <a:lnTo>
                    <a:pt x="70450" y="28950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399" y="3600449"/>
              <a:ext cx="190499" cy="19049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87399" y="3540886"/>
            <a:ext cx="779145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0078D4"/>
                </a:solidFill>
                <a:latin typeface="Dotum"/>
                <a:cs typeface="Dotum"/>
              </a:rPr>
              <a:t>기술</a:t>
            </a:r>
            <a:r>
              <a:rPr dirty="0" sz="1700" spc="-155">
                <a:solidFill>
                  <a:srgbClr val="0078D4"/>
                </a:solidFill>
                <a:latin typeface="Dotum"/>
                <a:cs typeface="Dotum"/>
              </a:rPr>
              <a:t> </a:t>
            </a:r>
            <a:r>
              <a:rPr dirty="0" sz="1700" spc="-360">
                <a:solidFill>
                  <a:srgbClr val="0078D4"/>
                </a:solidFill>
                <a:latin typeface="Dotum"/>
                <a:cs typeface="Dotum"/>
              </a:rPr>
              <a:t>전략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33399" y="3943350"/>
            <a:ext cx="476250" cy="2000250"/>
            <a:chOff x="533399" y="3943350"/>
            <a:chExt cx="476250" cy="2000250"/>
          </a:xfrm>
        </p:grpSpPr>
        <p:sp>
          <p:nvSpPr>
            <p:cNvPr id="15" name="object 15" descr=""/>
            <p:cNvSpPr/>
            <p:nvPr/>
          </p:nvSpPr>
          <p:spPr>
            <a:xfrm>
              <a:off x="533399" y="39433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0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50" y="230326"/>
                  </a:lnTo>
                  <a:lnTo>
                    <a:pt x="476250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" y="4104947"/>
              <a:ext cx="171479" cy="15323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33399" y="47053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8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50" y="230326"/>
                  </a:lnTo>
                  <a:lnTo>
                    <a:pt x="476250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4" y="475868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6274" y="4876799"/>
              <a:ext cx="190499" cy="13334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33399" y="54673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8"/>
                  </a:moveTo>
                  <a:lnTo>
                    <a:pt x="230326" y="476248"/>
                  </a:lnTo>
                  <a:lnTo>
                    <a:pt x="222546" y="475866"/>
                  </a:lnTo>
                  <a:lnTo>
                    <a:pt x="184020" y="470151"/>
                  </a:lnTo>
                  <a:lnTo>
                    <a:pt x="139793" y="455138"/>
                  </a:lnTo>
                  <a:lnTo>
                    <a:pt x="99345" y="431784"/>
                  </a:lnTo>
                  <a:lnTo>
                    <a:pt x="64230" y="400988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8"/>
                  </a:lnTo>
                  <a:lnTo>
                    <a:pt x="21110" y="139792"/>
                  </a:lnTo>
                  <a:lnTo>
                    <a:pt x="44464" y="99343"/>
                  </a:lnTo>
                  <a:lnTo>
                    <a:pt x="75259" y="64229"/>
                  </a:lnTo>
                  <a:lnTo>
                    <a:pt x="112314" y="35797"/>
                  </a:lnTo>
                  <a:lnTo>
                    <a:pt x="154203" y="15140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09"/>
                  </a:lnTo>
                  <a:lnTo>
                    <a:pt x="376904" y="44462"/>
                  </a:lnTo>
                  <a:lnTo>
                    <a:pt x="412019" y="75258"/>
                  </a:lnTo>
                  <a:lnTo>
                    <a:pt x="440451" y="112312"/>
                  </a:lnTo>
                  <a:lnTo>
                    <a:pt x="461108" y="154202"/>
                  </a:lnTo>
                  <a:lnTo>
                    <a:pt x="473195" y="199316"/>
                  </a:lnTo>
                  <a:lnTo>
                    <a:pt x="476250" y="230325"/>
                  </a:lnTo>
                  <a:lnTo>
                    <a:pt x="476250" y="238124"/>
                  </a:lnTo>
                  <a:lnTo>
                    <a:pt x="476250" y="245923"/>
                  </a:lnTo>
                  <a:lnTo>
                    <a:pt x="470152" y="292228"/>
                  </a:lnTo>
                  <a:lnTo>
                    <a:pt x="455139" y="336455"/>
                  </a:lnTo>
                  <a:lnTo>
                    <a:pt x="431785" y="376903"/>
                  </a:lnTo>
                  <a:lnTo>
                    <a:pt x="400990" y="412018"/>
                  </a:lnTo>
                  <a:lnTo>
                    <a:pt x="363935" y="440450"/>
                  </a:lnTo>
                  <a:lnTo>
                    <a:pt x="322046" y="461107"/>
                  </a:lnTo>
                  <a:lnTo>
                    <a:pt x="276931" y="473194"/>
                  </a:lnTo>
                  <a:lnTo>
                    <a:pt x="253704" y="475866"/>
                  </a:lnTo>
                  <a:lnTo>
                    <a:pt x="245923" y="476248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057" y="5629274"/>
              <a:ext cx="142934" cy="152161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139825" y="3910748"/>
            <a:ext cx="2012314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모듈화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비즈니스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도메인별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독립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33333"/>
                </a:solidFill>
                <a:latin typeface="Dotum"/>
                <a:cs typeface="Dotum"/>
              </a:rPr>
              <a:t>설계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Char char="•"/>
              <a:tabLst>
                <a:tab pos="90805" algn="l"/>
              </a:tabLst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DDD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기반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바운디드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컨텍스트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정의</a:t>
            </a:r>
            <a:endParaRPr sz="1000">
              <a:latin typeface="Dotum"/>
              <a:cs typeface="Dot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39825" y="4672747"/>
            <a:ext cx="1693545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클라우드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네이티브</a:t>
            </a:r>
            <a:r>
              <a:rPr dirty="0" sz="1350" spc="-10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설계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컨테이너화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85">
                <a:solidFill>
                  <a:srgbClr val="333333"/>
                </a:solidFill>
                <a:latin typeface="Dotum"/>
                <a:cs typeface="Dotum"/>
              </a:rPr>
              <a:t>오케스트레이션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Char char="•"/>
              <a:tabLst>
                <a:tab pos="90805" algn="l"/>
              </a:tabLst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Kubernetes,</a:t>
            </a:r>
            <a:r>
              <a:rPr dirty="0" sz="900" spc="-5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서비스메시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도입</a:t>
            </a:r>
            <a:endParaRPr sz="1000">
              <a:latin typeface="Dotum"/>
              <a:cs typeface="Dot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39825" y="5434748"/>
            <a:ext cx="1452880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격리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95">
                <a:solidFill>
                  <a:srgbClr val="333333"/>
                </a:solidFill>
                <a:latin typeface="Dotum"/>
                <a:cs typeface="Dotum"/>
              </a:rPr>
              <a:t>패턴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회복성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패턴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Dotum"/>
                <a:cs typeface="Dotum"/>
              </a:rPr>
              <a:t>적용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SzPct val="90000"/>
              <a:buFont typeface="Segoe UI"/>
              <a:buChar char="•"/>
              <a:tabLst>
                <a:tab pos="90805" algn="l"/>
              </a:tabLst>
            </a:pPr>
            <a:r>
              <a:rPr dirty="0" sz="1000" spc="-165">
                <a:solidFill>
                  <a:srgbClr val="4A5462"/>
                </a:solidFill>
                <a:latin typeface="Dotum"/>
                <a:cs typeface="Dotum"/>
              </a:rPr>
              <a:t>서킷브레이커</a:t>
            </a:r>
            <a:r>
              <a:rPr dirty="0" sz="900" spc="-165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 spc="3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백프레셔</a:t>
            </a:r>
            <a:r>
              <a:rPr dirty="0" sz="1000" spc="-5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14">
                <a:solidFill>
                  <a:srgbClr val="4A5462"/>
                </a:solidFill>
                <a:latin typeface="Dotum"/>
                <a:cs typeface="Dotum"/>
              </a:rPr>
              <a:t>패턴</a:t>
            </a:r>
            <a:endParaRPr sz="1000">
              <a:latin typeface="Dotum"/>
              <a:cs typeface="Dotum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38624" y="3371849"/>
            <a:ext cx="3714749" cy="2895599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4771975" y="3540886"/>
            <a:ext cx="2029460" cy="1022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0F7C40"/>
                </a:solidFill>
                <a:latin typeface="Dotum"/>
                <a:cs typeface="Dotum"/>
              </a:rPr>
              <a:t>조직</a:t>
            </a:r>
            <a:r>
              <a:rPr dirty="0" sz="1700" spc="-155">
                <a:solidFill>
                  <a:srgbClr val="0F7C40"/>
                </a:solidFill>
                <a:latin typeface="Dotum"/>
                <a:cs typeface="Dotum"/>
              </a:rPr>
              <a:t> </a:t>
            </a:r>
            <a:r>
              <a:rPr dirty="0" sz="1700" spc="-360">
                <a:solidFill>
                  <a:srgbClr val="0F7C40"/>
                </a:solidFill>
                <a:latin typeface="Dotum"/>
                <a:cs typeface="Dotum"/>
              </a:rPr>
              <a:t>전략</a:t>
            </a:r>
            <a:endParaRPr sz="1700">
              <a:latin typeface="Dotum"/>
              <a:cs typeface="Dotum"/>
            </a:endParaRPr>
          </a:p>
          <a:p>
            <a:pPr marL="316865">
              <a:lnSpc>
                <a:spcPct val="100000"/>
              </a:lnSpc>
              <a:spcBef>
                <a:spcPts val="1010"/>
              </a:spcBef>
            </a:pPr>
            <a:r>
              <a:rPr dirty="0" sz="1200" spc="-10" b="1">
                <a:solidFill>
                  <a:srgbClr val="333333"/>
                </a:solidFill>
                <a:latin typeface="Segoe UI"/>
                <a:cs typeface="Segoe UI"/>
              </a:rPr>
              <a:t>Cross-</a:t>
            </a:r>
            <a:r>
              <a:rPr dirty="0" sz="1200" b="1">
                <a:solidFill>
                  <a:srgbClr val="333333"/>
                </a:solidFill>
                <a:latin typeface="Segoe UI"/>
                <a:cs typeface="Segoe UI"/>
              </a:rPr>
              <a:t>Functional</a:t>
            </a:r>
            <a:r>
              <a:rPr dirty="0" sz="1200" spc="25" b="1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팀</a:t>
            </a:r>
            <a:r>
              <a:rPr dirty="0" sz="13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구성</a:t>
            </a:r>
            <a:endParaRPr sz="1350">
              <a:latin typeface="Dotum"/>
              <a:cs typeface="Dotum"/>
            </a:endParaRPr>
          </a:p>
          <a:p>
            <a:pPr marL="316865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서비스별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독립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팀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endParaRPr sz="1150">
              <a:latin typeface="Dotum"/>
              <a:cs typeface="Dotum"/>
            </a:endParaRPr>
          </a:p>
          <a:p>
            <a:pPr marL="394970" indent="-78105">
              <a:lnSpc>
                <a:spcPct val="100000"/>
              </a:lnSpc>
              <a:spcBef>
                <a:spcPts val="420"/>
              </a:spcBef>
              <a:buSzPct val="90000"/>
              <a:buFont typeface="Segoe UI"/>
              <a:buChar char="•"/>
              <a:tabLst>
                <a:tab pos="394970" algn="l"/>
              </a:tabLst>
            </a:pPr>
            <a:r>
              <a:rPr dirty="0" sz="1000" spc="-120">
                <a:solidFill>
                  <a:srgbClr val="4A5462"/>
                </a:solidFill>
                <a:latin typeface="Dotum"/>
                <a:cs typeface="Dotum"/>
              </a:rPr>
              <a:t>개발</a:t>
            </a:r>
            <a:r>
              <a:rPr dirty="0" sz="900" spc="-120">
                <a:solidFill>
                  <a:srgbClr val="4A5462"/>
                </a:solidFill>
                <a:latin typeface="Segoe UI"/>
                <a:cs typeface="Segoe UI"/>
              </a:rPr>
              <a:t>-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QA-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운영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통합</a:t>
            </a:r>
            <a:r>
              <a:rPr dirty="0" sz="10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조직</a:t>
            </a:r>
            <a:endParaRPr sz="1000">
              <a:latin typeface="Dotum"/>
              <a:cs typeface="Dot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076775" y="4672747"/>
            <a:ext cx="1579245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역량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강화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0">
                <a:solidFill>
                  <a:srgbClr val="333333"/>
                </a:solidFill>
                <a:latin typeface="Dotum"/>
                <a:cs typeface="Dotum"/>
              </a:rPr>
              <a:t>프로그램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MSA</a:t>
            </a:r>
            <a:r>
              <a:rPr dirty="0" sz="10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기술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교육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CoP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60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SzPct val="90000"/>
              <a:buFont typeface="Segoe UI"/>
              <a:buChar char="•"/>
              <a:tabLst>
                <a:tab pos="90805" algn="l"/>
              </a:tabLst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내부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전문가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양성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0">
                <a:solidFill>
                  <a:srgbClr val="4A5462"/>
                </a:solidFill>
                <a:latin typeface="Dotum"/>
                <a:cs typeface="Dotum"/>
              </a:rPr>
              <a:t>프로그램</a:t>
            </a:r>
            <a:endParaRPr sz="1000">
              <a:latin typeface="Dotum"/>
              <a:cs typeface="Dot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076775" y="5434748"/>
            <a:ext cx="1622425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성과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측정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95">
                <a:solidFill>
                  <a:srgbClr val="333333"/>
                </a:solidFill>
                <a:latin typeface="Dotum"/>
                <a:cs typeface="Dotum"/>
              </a:rPr>
              <a:t>체계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단위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목표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KPI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65">
                <a:solidFill>
                  <a:srgbClr val="333333"/>
                </a:solidFill>
                <a:latin typeface="Dotum"/>
                <a:cs typeface="Dotum"/>
              </a:rPr>
              <a:t>설정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Char char="•"/>
              <a:tabLst>
                <a:tab pos="90805" algn="l"/>
              </a:tabLst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DORA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지표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도입</a:t>
            </a:r>
            <a:endParaRPr sz="1000">
              <a:latin typeface="Dotum"/>
              <a:cs typeface="Dotum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81974" y="3371849"/>
            <a:ext cx="3705223" cy="2895599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8708925" y="3540886"/>
            <a:ext cx="1823085" cy="1022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7718AA"/>
                </a:solidFill>
                <a:latin typeface="Dotum"/>
                <a:cs typeface="Dotum"/>
              </a:rPr>
              <a:t>프로세스</a:t>
            </a:r>
            <a:r>
              <a:rPr dirty="0" sz="1700" spc="-150">
                <a:solidFill>
                  <a:srgbClr val="7718AA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7718AA"/>
                </a:solidFill>
                <a:latin typeface="Dotum"/>
                <a:cs typeface="Dotum"/>
              </a:rPr>
              <a:t>전략</a:t>
            </a:r>
            <a:endParaRPr sz="1700">
              <a:latin typeface="Dotum"/>
              <a:cs typeface="Dotum"/>
            </a:endParaRPr>
          </a:p>
          <a:p>
            <a:pPr marL="316865">
              <a:lnSpc>
                <a:spcPct val="100000"/>
              </a:lnSpc>
              <a:spcBef>
                <a:spcPts val="1010"/>
              </a:spcBef>
            </a:pPr>
            <a:r>
              <a:rPr dirty="0" sz="1200" b="1">
                <a:solidFill>
                  <a:srgbClr val="333333"/>
                </a:solidFill>
                <a:latin typeface="Segoe UI"/>
                <a:cs typeface="Segoe UI"/>
              </a:rPr>
              <a:t>CI/CD</a:t>
            </a:r>
            <a:r>
              <a:rPr dirty="0" sz="1200" spc="-20" b="1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파이프라인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구축</a:t>
            </a:r>
            <a:endParaRPr sz="1350">
              <a:latin typeface="Dotum"/>
              <a:cs typeface="Dotum"/>
            </a:endParaRPr>
          </a:p>
          <a:p>
            <a:pPr marL="316865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자동화된</a:t>
            </a:r>
            <a:r>
              <a:rPr dirty="0" sz="1150" spc="-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35">
                <a:solidFill>
                  <a:srgbClr val="333333"/>
                </a:solidFill>
                <a:latin typeface="Dotum"/>
                <a:cs typeface="Dotum"/>
              </a:rPr>
              <a:t>빌드</a:t>
            </a:r>
            <a:r>
              <a:rPr dirty="0" sz="1050" spc="-135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dirty="0" sz="1150" spc="-150">
                <a:solidFill>
                  <a:srgbClr val="333333"/>
                </a:solidFill>
                <a:latin typeface="Dotum"/>
                <a:cs typeface="Dotum"/>
              </a:rPr>
              <a:t>테스트</a:t>
            </a:r>
            <a:r>
              <a:rPr dirty="0" sz="1050" spc="-1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dirty="0" sz="1150" spc="-160">
                <a:solidFill>
                  <a:srgbClr val="333333"/>
                </a:solidFill>
                <a:latin typeface="Dotum"/>
                <a:cs typeface="Dotum"/>
              </a:rPr>
              <a:t>배포</a:t>
            </a:r>
            <a:endParaRPr sz="1150">
              <a:latin typeface="Dotum"/>
              <a:cs typeface="Dotum"/>
            </a:endParaRPr>
          </a:p>
          <a:p>
            <a:pPr marL="394970" indent="-78105">
              <a:lnSpc>
                <a:spcPct val="100000"/>
              </a:lnSpc>
              <a:spcBef>
                <a:spcPts val="420"/>
              </a:spcBef>
              <a:buSzPct val="90000"/>
              <a:buFont typeface="Segoe UI"/>
              <a:buChar char="•"/>
              <a:tabLst>
                <a:tab pos="394970" algn="l"/>
              </a:tabLst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테스트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자동화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80%</a:t>
            </a:r>
            <a:r>
              <a:rPr dirty="0" sz="900" spc="-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이상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35">
                <a:solidFill>
                  <a:srgbClr val="4A5462"/>
                </a:solidFill>
                <a:latin typeface="Dotum"/>
                <a:cs typeface="Dotum"/>
              </a:rPr>
              <a:t>달성</a:t>
            </a:r>
            <a:endParaRPr sz="1000">
              <a:latin typeface="Dotum"/>
              <a:cs typeface="Dotum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49234" y="7769708"/>
            <a:ext cx="951230" cy="1778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r>
              <a:rPr dirty="0" sz="1000" spc="-30">
                <a:solidFill>
                  <a:srgbClr val="FFFFFF"/>
                </a:solidFill>
                <a:latin typeface="Dotum"/>
                <a:cs typeface="Dotum"/>
              </a:rPr>
              <a:t>로</a:t>
            </a:r>
            <a:r>
              <a:rPr dirty="0" sz="1000" spc="-4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0">
                <a:solidFill>
                  <a:srgbClr val="FFFFFF"/>
                </a:solidFill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013725" y="4672747"/>
            <a:ext cx="1362075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모니터링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관측성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통합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모니터링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체계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33333"/>
                </a:solidFill>
                <a:latin typeface="Dotum"/>
                <a:cs typeface="Dotum"/>
              </a:rPr>
              <a:t>구축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SzPct val="90000"/>
              <a:buFont typeface="Segoe UI"/>
              <a:buChar char="•"/>
              <a:tabLst>
                <a:tab pos="90805" algn="l"/>
              </a:tabLst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분산</a:t>
            </a:r>
            <a:r>
              <a:rPr dirty="0" sz="10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30">
                <a:solidFill>
                  <a:srgbClr val="4A5462"/>
                </a:solidFill>
                <a:latin typeface="Dotum"/>
                <a:cs typeface="Dotum"/>
              </a:rPr>
              <a:t>추적</a:t>
            </a:r>
            <a:r>
              <a:rPr dirty="0" sz="900" spc="-13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로그</a:t>
            </a:r>
            <a:r>
              <a:rPr dirty="0" sz="10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중앙화</a:t>
            </a:r>
            <a:endParaRPr sz="1000">
              <a:latin typeface="Dotum"/>
              <a:cs typeface="Dot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013725" y="5434748"/>
            <a:ext cx="1752600" cy="6527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200" b="1">
                <a:solidFill>
                  <a:srgbClr val="333333"/>
                </a:solidFill>
                <a:latin typeface="Segoe UI"/>
                <a:cs typeface="Segoe UI"/>
              </a:rPr>
              <a:t>Agile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개발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0">
                <a:solidFill>
                  <a:srgbClr val="333333"/>
                </a:solidFill>
                <a:latin typeface="Dotum"/>
                <a:cs typeface="Dotum"/>
              </a:rPr>
              <a:t>프로세스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r>
              <a:rPr dirty="0" sz="1150" spc="-100">
                <a:solidFill>
                  <a:srgbClr val="333333"/>
                </a:solidFill>
                <a:latin typeface="Dotum"/>
                <a:cs typeface="Dotum"/>
              </a:rPr>
              <a:t>주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단위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스프린트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지속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55">
                <a:solidFill>
                  <a:srgbClr val="333333"/>
                </a:solidFill>
                <a:latin typeface="Dotum"/>
                <a:cs typeface="Dotum"/>
              </a:rPr>
              <a:t>배포</a:t>
            </a:r>
            <a:endParaRPr sz="1150">
              <a:latin typeface="Dotum"/>
              <a:cs typeface="Dotum"/>
            </a:endParaRPr>
          </a:p>
          <a:p>
            <a:pPr marL="90805" indent="-78105">
              <a:lnSpc>
                <a:spcPct val="100000"/>
              </a:lnSpc>
              <a:spcBef>
                <a:spcPts val="420"/>
              </a:spcBef>
              <a:buSzPct val="90000"/>
              <a:buFont typeface="Segoe UI"/>
              <a:buChar char="•"/>
              <a:tabLst>
                <a:tab pos="90805" algn="l"/>
              </a:tabLst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기능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플래그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기반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점진적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출시</a:t>
            </a:r>
            <a:endParaRPr sz="1000">
              <a:latin typeface="Dotum"/>
              <a:cs typeface="Dot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828232" y="6639293"/>
            <a:ext cx="253555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b="1">
                <a:solidFill>
                  <a:srgbClr val="333333"/>
                </a:solidFill>
                <a:latin typeface="Segoe UI"/>
                <a:cs typeface="Segoe UI"/>
              </a:rPr>
              <a:t>MSA</a:t>
            </a:r>
            <a:r>
              <a:rPr dirty="0" sz="1350" spc="-30" b="1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성공을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위한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통합적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접근</a:t>
            </a:r>
            <a:endParaRPr sz="1550">
              <a:latin typeface="Dotum"/>
              <a:cs typeface="Dot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219001" y="7540205"/>
            <a:ext cx="6756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점진적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04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endParaRPr sz="1200">
              <a:latin typeface="Dotum"/>
              <a:cs typeface="Dotum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418085" y="7540205"/>
            <a:ext cx="6756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경영진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04">
                <a:solidFill>
                  <a:srgbClr val="333333"/>
                </a:solidFill>
                <a:latin typeface="Dotum"/>
                <a:cs typeface="Dotum"/>
              </a:rPr>
              <a:t>지원</a:t>
            </a:r>
            <a:endParaRPr sz="1200">
              <a:latin typeface="Dotum"/>
              <a:cs typeface="Dotum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617169" y="7540205"/>
            <a:ext cx="6756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투명한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04">
                <a:solidFill>
                  <a:srgbClr val="333333"/>
                </a:solidFill>
                <a:latin typeface="Dotum"/>
                <a:cs typeface="Dotum"/>
              </a:rPr>
              <a:t>소통</a:t>
            </a:r>
            <a:endParaRPr sz="1200">
              <a:latin typeface="Dotum"/>
              <a:cs typeface="Dotum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816254" y="7540205"/>
            <a:ext cx="6756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지속적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04">
                <a:solidFill>
                  <a:srgbClr val="333333"/>
                </a:solidFill>
                <a:latin typeface="Dotum"/>
                <a:cs typeface="Dotum"/>
              </a:rPr>
              <a:t>학습</a:t>
            </a:r>
            <a:endParaRPr sz="1200">
              <a:latin typeface="Dotum"/>
              <a:cs typeface="Dotum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0015338" y="7540205"/>
            <a:ext cx="9575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측정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가능한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90">
                <a:solidFill>
                  <a:srgbClr val="333333"/>
                </a:solidFill>
                <a:latin typeface="Dotum"/>
                <a:cs typeface="Dotum"/>
              </a:rPr>
              <a:t>성과</a:t>
            </a:r>
            <a:endParaRPr sz="12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87186"/>
            <a:ext cx="2338070" cy="702310"/>
          </a:xfrm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Phased </a:t>
            </a:r>
            <a:r>
              <a:rPr dirty="0" spc="-10"/>
              <a:t>Roadmap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 spc="-325" b="0">
                <a:latin typeface="Dotum"/>
                <a:cs typeface="Dotum"/>
              </a:rPr>
              <a:t>단계별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안전한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전환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50" b="0">
                <a:latin typeface="Dotum"/>
                <a:cs typeface="Dotum"/>
              </a:rPr>
              <a:t>방안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1276350"/>
            <a:ext cx="228600" cy="2286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34999" y="1211224"/>
            <a:ext cx="2404745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b="1">
                <a:solidFill>
                  <a:srgbClr val="333333"/>
                </a:solidFill>
                <a:latin typeface="Segoe UI"/>
                <a:cs typeface="Segoe UI"/>
              </a:rPr>
              <a:t>MSA</a:t>
            </a:r>
            <a:r>
              <a:rPr dirty="0" sz="1800" spc="-40" b="1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단계별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333333"/>
                </a:solidFill>
                <a:latin typeface="Dotum"/>
                <a:cs typeface="Dotum"/>
              </a:rPr>
              <a:t>로드맵</a:t>
            </a:r>
            <a:endParaRPr sz="2050">
              <a:latin typeface="Dotum"/>
              <a:cs typeface="Dot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04799" y="3028950"/>
            <a:ext cx="2781300" cy="1371600"/>
            <a:chOff x="304799" y="3028950"/>
            <a:chExt cx="2781300" cy="1371600"/>
          </a:xfrm>
        </p:grpSpPr>
        <p:sp>
          <p:nvSpPr>
            <p:cNvPr id="6" name="object 6" descr=""/>
            <p:cNvSpPr/>
            <p:nvPr/>
          </p:nvSpPr>
          <p:spPr>
            <a:xfrm>
              <a:off x="304799" y="3028950"/>
              <a:ext cx="2781300" cy="1371600"/>
            </a:xfrm>
            <a:custGeom>
              <a:avLst/>
              <a:gdLst/>
              <a:ahLst/>
              <a:cxnLst/>
              <a:rect l="l" t="t" r="r" b="b"/>
              <a:pathLst>
                <a:path w="2781300" h="1371600">
                  <a:moveTo>
                    <a:pt x="2710103" y="1371599"/>
                  </a:moveTo>
                  <a:lnTo>
                    <a:pt x="71196" y="1371599"/>
                  </a:lnTo>
                  <a:lnTo>
                    <a:pt x="66241" y="1371111"/>
                  </a:lnTo>
                  <a:lnTo>
                    <a:pt x="29705" y="1355977"/>
                  </a:lnTo>
                  <a:lnTo>
                    <a:pt x="3885" y="1319937"/>
                  </a:lnTo>
                  <a:lnTo>
                    <a:pt x="0" y="1300402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710103" y="0"/>
                  </a:lnTo>
                  <a:lnTo>
                    <a:pt x="2751594" y="15621"/>
                  </a:lnTo>
                  <a:lnTo>
                    <a:pt x="2777413" y="51661"/>
                  </a:lnTo>
                  <a:lnTo>
                    <a:pt x="2781299" y="71196"/>
                  </a:lnTo>
                  <a:lnTo>
                    <a:pt x="2781299" y="1300402"/>
                  </a:lnTo>
                  <a:lnTo>
                    <a:pt x="2765677" y="1341893"/>
                  </a:lnTo>
                  <a:lnTo>
                    <a:pt x="2729637" y="1367713"/>
                  </a:lnTo>
                  <a:lnTo>
                    <a:pt x="2715058" y="1371111"/>
                  </a:lnTo>
                  <a:lnTo>
                    <a:pt x="2710103" y="13715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57187" y="3552836"/>
              <a:ext cx="47625" cy="619125"/>
            </a:xfrm>
            <a:custGeom>
              <a:avLst/>
              <a:gdLst/>
              <a:ahLst/>
              <a:cxnLst/>
              <a:rect l="l" t="t" r="r" b="b"/>
              <a:pathLst>
                <a:path w="47625" h="619125">
                  <a:moveTo>
                    <a:pt x="47625" y="592150"/>
                  </a:moveTo>
                  <a:lnTo>
                    <a:pt x="26974" y="571500"/>
                  </a:lnTo>
                  <a:lnTo>
                    <a:pt x="20662" y="571500"/>
                  </a:lnTo>
                  <a:lnTo>
                    <a:pt x="0" y="592150"/>
                  </a:lnTo>
                  <a:lnTo>
                    <a:pt x="0" y="598462"/>
                  </a:lnTo>
                  <a:lnTo>
                    <a:pt x="20662" y="619112"/>
                  </a:lnTo>
                  <a:lnTo>
                    <a:pt x="26974" y="619112"/>
                  </a:lnTo>
                  <a:lnTo>
                    <a:pt x="47625" y="598462"/>
                  </a:lnTo>
                  <a:lnTo>
                    <a:pt x="47625" y="595312"/>
                  </a:lnTo>
                  <a:lnTo>
                    <a:pt x="47625" y="592150"/>
                  </a:lnTo>
                  <a:close/>
                </a:path>
                <a:path w="47625" h="619125">
                  <a:moveTo>
                    <a:pt x="47625" y="401650"/>
                  </a:moveTo>
                  <a:lnTo>
                    <a:pt x="26974" y="381000"/>
                  </a:lnTo>
                  <a:lnTo>
                    <a:pt x="20662" y="381000"/>
                  </a:lnTo>
                  <a:lnTo>
                    <a:pt x="0" y="401650"/>
                  </a:lnTo>
                  <a:lnTo>
                    <a:pt x="0" y="407962"/>
                  </a:lnTo>
                  <a:lnTo>
                    <a:pt x="20662" y="428612"/>
                  </a:lnTo>
                  <a:lnTo>
                    <a:pt x="26974" y="428612"/>
                  </a:lnTo>
                  <a:lnTo>
                    <a:pt x="47625" y="407962"/>
                  </a:lnTo>
                  <a:lnTo>
                    <a:pt x="47625" y="404812"/>
                  </a:lnTo>
                  <a:lnTo>
                    <a:pt x="47625" y="401650"/>
                  </a:lnTo>
                  <a:close/>
                </a:path>
                <a:path w="47625" h="619125">
                  <a:moveTo>
                    <a:pt x="47625" y="211150"/>
                  </a:moveTo>
                  <a:lnTo>
                    <a:pt x="26974" y="190500"/>
                  </a:lnTo>
                  <a:lnTo>
                    <a:pt x="20662" y="190500"/>
                  </a:lnTo>
                  <a:lnTo>
                    <a:pt x="0" y="211150"/>
                  </a:lnTo>
                  <a:lnTo>
                    <a:pt x="0" y="217462"/>
                  </a:lnTo>
                  <a:lnTo>
                    <a:pt x="20662" y="238112"/>
                  </a:lnTo>
                  <a:lnTo>
                    <a:pt x="26974" y="238112"/>
                  </a:lnTo>
                  <a:lnTo>
                    <a:pt x="47625" y="217462"/>
                  </a:lnTo>
                  <a:lnTo>
                    <a:pt x="47625" y="214312"/>
                  </a:lnTo>
                  <a:lnTo>
                    <a:pt x="47625" y="211150"/>
                  </a:lnTo>
                  <a:close/>
                </a:path>
                <a:path w="47625" h="6191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44500" y="3060429"/>
            <a:ext cx="1301750" cy="11830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준비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74050"/>
                </a:solidFill>
                <a:latin typeface="Dotum"/>
                <a:cs typeface="Dotum"/>
              </a:rPr>
              <a:t>단계</a:t>
            </a:r>
            <a:endParaRPr sz="1350">
              <a:latin typeface="Dotum"/>
              <a:cs typeface="Dotum"/>
            </a:endParaRPr>
          </a:p>
          <a:p>
            <a:pPr marL="202565" marR="5080">
              <a:lnSpc>
                <a:spcPct val="108700"/>
              </a:lnSpc>
              <a:spcBef>
                <a:spcPts val="635"/>
              </a:spcBef>
            </a:pP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MSA</a:t>
            </a:r>
            <a:r>
              <a:rPr dirty="0" sz="105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아키텍처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04">
                <a:solidFill>
                  <a:srgbClr val="4A5462"/>
                </a:solidFill>
                <a:latin typeface="Dotum"/>
                <a:cs typeface="Dotum"/>
              </a:rPr>
              <a:t>설계</a:t>
            </a:r>
            <a:r>
              <a:rPr dirty="0" sz="1150" spc="5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기술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스택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35">
                <a:solidFill>
                  <a:srgbClr val="4A5462"/>
                </a:solidFill>
                <a:latin typeface="Dotum"/>
                <a:cs typeface="Dotum"/>
              </a:rPr>
              <a:t>선정</a:t>
            </a:r>
            <a:endParaRPr sz="1150">
              <a:latin typeface="Dotum"/>
              <a:cs typeface="Dotum"/>
            </a:endParaRPr>
          </a:p>
          <a:p>
            <a:pPr marL="202565" marR="64135">
              <a:lnSpc>
                <a:spcPct val="108700"/>
              </a:lnSpc>
            </a:pP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DevOps</a:t>
            </a:r>
            <a:r>
              <a:rPr dirty="0" sz="1050" spc="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환경</a:t>
            </a:r>
            <a:r>
              <a:rPr dirty="0" sz="115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04">
                <a:solidFill>
                  <a:srgbClr val="4A5462"/>
                </a:solidFill>
                <a:latin typeface="Dotum"/>
                <a:cs typeface="Dotum"/>
              </a:rPr>
              <a:t>구축</a:t>
            </a:r>
            <a:r>
              <a:rPr dirty="0" sz="1150" spc="5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팀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역량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강화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교육</a:t>
            </a:r>
            <a:endParaRPr sz="1150">
              <a:latin typeface="Dotum"/>
              <a:cs typeface="Dot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238499" y="3028950"/>
            <a:ext cx="2781300" cy="1371600"/>
          </a:xfrm>
          <a:custGeom>
            <a:avLst/>
            <a:gdLst/>
            <a:ahLst/>
            <a:cxnLst/>
            <a:rect l="l" t="t" r="r" b="b"/>
            <a:pathLst>
              <a:path w="2781300" h="1371600">
                <a:moveTo>
                  <a:pt x="2710102" y="1371599"/>
                </a:moveTo>
                <a:lnTo>
                  <a:pt x="71196" y="1371599"/>
                </a:lnTo>
                <a:lnTo>
                  <a:pt x="66241" y="1371111"/>
                </a:lnTo>
                <a:lnTo>
                  <a:pt x="29705" y="1355977"/>
                </a:lnTo>
                <a:lnTo>
                  <a:pt x="3885" y="1319937"/>
                </a:lnTo>
                <a:lnTo>
                  <a:pt x="0" y="1300402"/>
                </a:lnTo>
                <a:lnTo>
                  <a:pt x="0" y="1295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710102" y="0"/>
                </a:lnTo>
                <a:lnTo>
                  <a:pt x="2751593" y="15621"/>
                </a:lnTo>
                <a:lnTo>
                  <a:pt x="2777413" y="51661"/>
                </a:lnTo>
                <a:lnTo>
                  <a:pt x="2781299" y="71196"/>
                </a:lnTo>
                <a:lnTo>
                  <a:pt x="2781299" y="1300402"/>
                </a:lnTo>
                <a:lnTo>
                  <a:pt x="2765676" y="1341893"/>
                </a:lnTo>
                <a:lnTo>
                  <a:pt x="2729636" y="1367713"/>
                </a:lnTo>
                <a:lnTo>
                  <a:pt x="2715057" y="1371111"/>
                </a:lnTo>
                <a:lnTo>
                  <a:pt x="2710102" y="1371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378200" y="3165449"/>
            <a:ext cx="76898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1C4ED8"/>
                </a:solidFill>
                <a:latin typeface="Dotum"/>
                <a:cs typeface="Dotum"/>
              </a:rPr>
              <a:t>파일럿</a:t>
            </a:r>
            <a:r>
              <a:rPr dirty="0" sz="1350" spc="-11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1C4ED8"/>
                </a:solidFill>
                <a:latin typeface="Dotum"/>
                <a:cs typeface="Dotum"/>
              </a:rPr>
              <a:t>단계</a:t>
            </a:r>
            <a:endParaRPr sz="1350">
              <a:latin typeface="Dotum"/>
              <a:cs typeface="Dotum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390887" y="3552837"/>
            <a:ext cx="47625" cy="619125"/>
          </a:xfrm>
          <a:custGeom>
            <a:avLst/>
            <a:gdLst/>
            <a:ahLst/>
            <a:cxnLst/>
            <a:rect l="l" t="t" r="r" b="b"/>
            <a:pathLst>
              <a:path w="47625" h="619125">
                <a:moveTo>
                  <a:pt x="47625" y="592150"/>
                </a:moveTo>
                <a:lnTo>
                  <a:pt x="26974" y="571500"/>
                </a:lnTo>
                <a:lnTo>
                  <a:pt x="20662" y="571500"/>
                </a:lnTo>
                <a:lnTo>
                  <a:pt x="0" y="592150"/>
                </a:lnTo>
                <a:lnTo>
                  <a:pt x="0" y="598462"/>
                </a:lnTo>
                <a:lnTo>
                  <a:pt x="20662" y="619112"/>
                </a:lnTo>
                <a:lnTo>
                  <a:pt x="26974" y="619112"/>
                </a:lnTo>
                <a:lnTo>
                  <a:pt x="47625" y="598462"/>
                </a:lnTo>
                <a:lnTo>
                  <a:pt x="47625" y="595312"/>
                </a:lnTo>
                <a:lnTo>
                  <a:pt x="47625" y="592150"/>
                </a:lnTo>
                <a:close/>
              </a:path>
              <a:path w="47625" h="619125">
                <a:moveTo>
                  <a:pt x="47625" y="401650"/>
                </a:moveTo>
                <a:lnTo>
                  <a:pt x="26974" y="381000"/>
                </a:lnTo>
                <a:lnTo>
                  <a:pt x="20662" y="381000"/>
                </a:lnTo>
                <a:lnTo>
                  <a:pt x="0" y="401650"/>
                </a:lnTo>
                <a:lnTo>
                  <a:pt x="0" y="407962"/>
                </a:lnTo>
                <a:lnTo>
                  <a:pt x="20662" y="428612"/>
                </a:lnTo>
                <a:lnTo>
                  <a:pt x="26974" y="428612"/>
                </a:lnTo>
                <a:lnTo>
                  <a:pt x="47625" y="407962"/>
                </a:lnTo>
                <a:lnTo>
                  <a:pt x="47625" y="404812"/>
                </a:lnTo>
                <a:lnTo>
                  <a:pt x="47625" y="401650"/>
                </a:lnTo>
                <a:close/>
              </a:path>
              <a:path w="47625" h="619125">
                <a:moveTo>
                  <a:pt x="47625" y="211150"/>
                </a:moveTo>
                <a:lnTo>
                  <a:pt x="26974" y="190500"/>
                </a:lnTo>
                <a:lnTo>
                  <a:pt x="20662" y="190500"/>
                </a:lnTo>
                <a:lnTo>
                  <a:pt x="0" y="211150"/>
                </a:lnTo>
                <a:lnTo>
                  <a:pt x="0" y="217462"/>
                </a:lnTo>
                <a:lnTo>
                  <a:pt x="20662" y="238112"/>
                </a:lnTo>
                <a:lnTo>
                  <a:pt x="26974" y="238112"/>
                </a:lnTo>
                <a:lnTo>
                  <a:pt x="47625" y="217462"/>
                </a:lnTo>
                <a:lnTo>
                  <a:pt x="47625" y="214312"/>
                </a:lnTo>
                <a:lnTo>
                  <a:pt x="47625" y="211150"/>
                </a:lnTo>
                <a:close/>
              </a:path>
              <a:path w="47625" h="619125">
                <a:moveTo>
                  <a:pt x="47625" y="20650"/>
                </a:moveTo>
                <a:lnTo>
                  <a:pt x="26974" y="0"/>
                </a:lnTo>
                <a:lnTo>
                  <a:pt x="20662" y="0"/>
                </a:lnTo>
                <a:lnTo>
                  <a:pt x="0" y="20650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568700" y="3455961"/>
            <a:ext cx="1303655" cy="787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우선순위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서비스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전환 </a:t>
            </a: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CI/CD</a:t>
            </a:r>
            <a:r>
              <a:rPr dirty="0" sz="1050" spc="-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파이프라인</a:t>
            </a:r>
            <a:r>
              <a:rPr dirty="0" sz="1150" spc="-1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5">
                <a:solidFill>
                  <a:srgbClr val="4A5462"/>
                </a:solidFill>
                <a:latin typeface="Dotum"/>
                <a:cs typeface="Dotum"/>
              </a:rPr>
              <a:t>구축</a:t>
            </a:r>
            <a:r>
              <a:rPr dirty="0" sz="1150" spc="5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모니터링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체계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테스트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초기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성과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측정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및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00">
                <a:solidFill>
                  <a:srgbClr val="4A5462"/>
                </a:solidFill>
                <a:latin typeface="Dotum"/>
                <a:cs typeface="Dotum"/>
              </a:rPr>
              <a:t>검증</a:t>
            </a:r>
            <a:endParaRPr sz="1150">
              <a:latin typeface="Dotum"/>
              <a:cs typeface="Dotum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172199" y="3028950"/>
            <a:ext cx="2781300" cy="1371600"/>
          </a:xfrm>
          <a:custGeom>
            <a:avLst/>
            <a:gdLst/>
            <a:ahLst/>
            <a:cxnLst/>
            <a:rect l="l" t="t" r="r" b="b"/>
            <a:pathLst>
              <a:path w="2781300" h="1371600">
                <a:moveTo>
                  <a:pt x="2710102" y="1371599"/>
                </a:moveTo>
                <a:lnTo>
                  <a:pt x="71196" y="1371599"/>
                </a:lnTo>
                <a:lnTo>
                  <a:pt x="66241" y="1371111"/>
                </a:lnTo>
                <a:lnTo>
                  <a:pt x="29705" y="1355977"/>
                </a:lnTo>
                <a:lnTo>
                  <a:pt x="3885" y="1319937"/>
                </a:lnTo>
                <a:lnTo>
                  <a:pt x="0" y="1300402"/>
                </a:lnTo>
                <a:lnTo>
                  <a:pt x="0" y="1295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710102" y="0"/>
                </a:lnTo>
                <a:lnTo>
                  <a:pt x="2751593" y="15621"/>
                </a:lnTo>
                <a:lnTo>
                  <a:pt x="2777413" y="51661"/>
                </a:lnTo>
                <a:lnTo>
                  <a:pt x="2781299" y="71196"/>
                </a:lnTo>
                <a:lnTo>
                  <a:pt x="2781299" y="1300402"/>
                </a:lnTo>
                <a:lnTo>
                  <a:pt x="2765676" y="1341893"/>
                </a:lnTo>
                <a:lnTo>
                  <a:pt x="2729636" y="1367713"/>
                </a:lnTo>
                <a:lnTo>
                  <a:pt x="2715057" y="1371111"/>
                </a:lnTo>
                <a:lnTo>
                  <a:pt x="2710102" y="1371599"/>
                </a:lnTo>
                <a:close/>
              </a:path>
            </a:pathLst>
          </a:custGeom>
          <a:solidFill>
            <a:srgbClr val="D0F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311899" y="3165449"/>
            <a:ext cx="62865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047857"/>
                </a:solidFill>
                <a:latin typeface="Dotum"/>
                <a:cs typeface="Dotum"/>
              </a:rPr>
              <a:t>확산</a:t>
            </a:r>
            <a:r>
              <a:rPr dirty="0" sz="1350" spc="-114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047857"/>
                </a:solidFill>
                <a:latin typeface="Dotum"/>
                <a:cs typeface="Dotum"/>
              </a:rPr>
              <a:t>단계</a:t>
            </a:r>
            <a:endParaRPr sz="1350">
              <a:latin typeface="Dotum"/>
              <a:cs typeface="Dotum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324587" y="3552837"/>
            <a:ext cx="47625" cy="619125"/>
          </a:xfrm>
          <a:custGeom>
            <a:avLst/>
            <a:gdLst/>
            <a:ahLst/>
            <a:cxnLst/>
            <a:rect l="l" t="t" r="r" b="b"/>
            <a:pathLst>
              <a:path w="47625" h="619125">
                <a:moveTo>
                  <a:pt x="47625" y="592150"/>
                </a:moveTo>
                <a:lnTo>
                  <a:pt x="26974" y="571500"/>
                </a:lnTo>
                <a:lnTo>
                  <a:pt x="20662" y="571500"/>
                </a:lnTo>
                <a:lnTo>
                  <a:pt x="0" y="592150"/>
                </a:lnTo>
                <a:lnTo>
                  <a:pt x="0" y="598462"/>
                </a:lnTo>
                <a:lnTo>
                  <a:pt x="20662" y="619112"/>
                </a:lnTo>
                <a:lnTo>
                  <a:pt x="26974" y="619112"/>
                </a:lnTo>
                <a:lnTo>
                  <a:pt x="47625" y="598462"/>
                </a:lnTo>
                <a:lnTo>
                  <a:pt x="47625" y="595312"/>
                </a:lnTo>
                <a:lnTo>
                  <a:pt x="47625" y="592150"/>
                </a:lnTo>
                <a:close/>
              </a:path>
              <a:path w="47625" h="619125">
                <a:moveTo>
                  <a:pt x="47625" y="401650"/>
                </a:moveTo>
                <a:lnTo>
                  <a:pt x="26974" y="381000"/>
                </a:lnTo>
                <a:lnTo>
                  <a:pt x="20662" y="381000"/>
                </a:lnTo>
                <a:lnTo>
                  <a:pt x="0" y="401650"/>
                </a:lnTo>
                <a:lnTo>
                  <a:pt x="0" y="407962"/>
                </a:lnTo>
                <a:lnTo>
                  <a:pt x="20662" y="428612"/>
                </a:lnTo>
                <a:lnTo>
                  <a:pt x="26974" y="428612"/>
                </a:lnTo>
                <a:lnTo>
                  <a:pt x="47625" y="407962"/>
                </a:lnTo>
                <a:lnTo>
                  <a:pt x="47625" y="404812"/>
                </a:lnTo>
                <a:lnTo>
                  <a:pt x="47625" y="401650"/>
                </a:lnTo>
                <a:close/>
              </a:path>
              <a:path w="47625" h="619125">
                <a:moveTo>
                  <a:pt x="47625" y="211150"/>
                </a:moveTo>
                <a:lnTo>
                  <a:pt x="26974" y="190500"/>
                </a:lnTo>
                <a:lnTo>
                  <a:pt x="20662" y="190500"/>
                </a:lnTo>
                <a:lnTo>
                  <a:pt x="0" y="211150"/>
                </a:lnTo>
                <a:lnTo>
                  <a:pt x="0" y="217462"/>
                </a:lnTo>
                <a:lnTo>
                  <a:pt x="20662" y="238112"/>
                </a:lnTo>
                <a:lnTo>
                  <a:pt x="26974" y="238112"/>
                </a:lnTo>
                <a:lnTo>
                  <a:pt x="47625" y="217462"/>
                </a:lnTo>
                <a:lnTo>
                  <a:pt x="47625" y="214312"/>
                </a:lnTo>
                <a:lnTo>
                  <a:pt x="47625" y="211150"/>
                </a:lnTo>
                <a:close/>
              </a:path>
              <a:path w="47625" h="619125">
                <a:moveTo>
                  <a:pt x="47625" y="20650"/>
                </a:moveTo>
                <a:lnTo>
                  <a:pt x="26974" y="0"/>
                </a:lnTo>
                <a:lnTo>
                  <a:pt x="20662" y="0"/>
                </a:lnTo>
                <a:lnTo>
                  <a:pt x="0" y="20650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502399" y="3455961"/>
            <a:ext cx="1484630" cy="787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전체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서비스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순차적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전환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레거시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시스템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단계적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0">
                <a:solidFill>
                  <a:srgbClr val="4A5462"/>
                </a:solidFill>
                <a:latin typeface="Dotum"/>
                <a:cs typeface="Dotum"/>
              </a:rPr>
              <a:t>폐기</a:t>
            </a:r>
            <a:r>
              <a:rPr dirty="0" sz="1150" spc="50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조직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구조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재편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완료</a:t>
            </a:r>
            <a:endParaRPr sz="11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DevOps</a:t>
            </a:r>
            <a:r>
              <a:rPr dirty="0" sz="1050" spc="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문화</a:t>
            </a:r>
            <a:r>
              <a:rPr dirty="0" sz="115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정착</a:t>
            </a:r>
            <a:endParaRPr sz="1150">
              <a:latin typeface="Dotum"/>
              <a:cs typeface="Dotum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105898" y="3028950"/>
            <a:ext cx="2781300" cy="1371600"/>
          </a:xfrm>
          <a:custGeom>
            <a:avLst/>
            <a:gdLst/>
            <a:ahLst/>
            <a:cxnLst/>
            <a:rect l="l" t="t" r="r" b="b"/>
            <a:pathLst>
              <a:path w="2781300" h="1371600">
                <a:moveTo>
                  <a:pt x="2710103" y="1371599"/>
                </a:moveTo>
                <a:lnTo>
                  <a:pt x="71196" y="1371599"/>
                </a:lnTo>
                <a:lnTo>
                  <a:pt x="66241" y="1371111"/>
                </a:lnTo>
                <a:lnTo>
                  <a:pt x="29705" y="1355977"/>
                </a:lnTo>
                <a:lnTo>
                  <a:pt x="3885" y="1319937"/>
                </a:lnTo>
                <a:lnTo>
                  <a:pt x="0" y="1300402"/>
                </a:lnTo>
                <a:lnTo>
                  <a:pt x="0" y="1295399"/>
                </a:lnTo>
                <a:lnTo>
                  <a:pt x="0" y="71196"/>
                </a:lnTo>
                <a:lnTo>
                  <a:pt x="15622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710103" y="0"/>
                </a:lnTo>
                <a:lnTo>
                  <a:pt x="2751592" y="15621"/>
                </a:lnTo>
                <a:lnTo>
                  <a:pt x="2777413" y="51661"/>
                </a:lnTo>
                <a:lnTo>
                  <a:pt x="2781299" y="71196"/>
                </a:lnTo>
                <a:lnTo>
                  <a:pt x="2781299" y="1300402"/>
                </a:lnTo>
                <a:lnTo>
                  <a:pt x="2765676" y="1341893"/>
                </a:lnTo>
                <a:lnTo>
                  <a:pt x="2729637" y="1367713"/>
                </a:lnTo>
                <a:lnTo>
                  <a:pt x="2715057" y="1371111"/>
                </a:lnTo>
                <a:lnTo>
                  <a:pt x="2710103" y="1371599"/>
                </a:lnTo>
                <a:close/>
              </a:path>
            </a:pathLst>
          </a:custGeom>
          <a:solidFill>
            <a:srgbClr val="ECE8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9245600" y="3165449"/>
            <a:ext cx="76898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6D28D9"/>
                </a:solidFill>
                <a:latin typeface="Dotum"/>
                <a:cs typeface="Dotum"/>
              </a:rPr>
              <a:t>안정화</a:t>
            </a:r>
            <a:r>
              <a:rPr dirty="0" sz="1350" spc="-110">
                <a:solidFill>
                  <a:srgbClr val="6D28D9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6D28D9"/>
                </a:solidFill>
                <a:latin typeface="Dotum"/>
                <a:cs typeface="Dotum"/>
              </a:rPr>
              <a:t>단계</a:t>
            </a:r>
            <a:endParaRPr sz="1350">
              <a:latin typeface="Dotum"/>
              <a:cs typeface="Dotum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258287" y="3552837"/>
            <a:ext cx="47625" cy="619125"/>
          </a:xfrm>
          <a:custGeom>
            <a:avLst/>
            <a:gdLst/>
            <a:ahLst/>
            <a:cxnLst/>
            <a:rect l="l" t="t" r="r" b="b"/>
            <a:pathLst>
              <a:path w="47625" h="619125">
                <a:moveTo>
                  <a:pt x="47625" y="592150"/>
                </a:moveTo>
                <a:lnTo>
                  <a:pt x="26974" y="571500"/>
                </a:lnTo>
                <a:lnTo>
                  <a:pt x="20662" y="571500"/>
                </a:lnTo>
                <a:lnTo>
                  <a:pt x="0" y="592150"/>
                </a:lnTo>
                <a:lnTo>
                  <a:pt x="0" y="598462"/>
                </a:lnTo>
                <a:lnTo>
                  <a:pt x="20662" y="619112"/>
                </a:lnTo>
                <a:lnTo>
                  <a:pt x="26974" y="619112"/>
                </a:lnTo>
                <a:lnTo>
                  <a:pt x="47625" y="598462"/>
                </a:lnTo>
                <a:lnTo>
                  <a:pt x="47625" y="595312"/>
                </a:lnTo>
                <a:lnTo>
                  <a:pt x="47625" y="592150"/>
                </a:lnTo>
                <a:close/>
              </a:path>
              <a:path w="47625" h="619125">
                <a:moveTo>
                  <a:pt x="47625" y="401650"/>
                </a:moveTo>
                <a:lnTo>
                  <a:pt x="26974" y="381000"/>
                </a:lnTo>
                <a:lnTo>
                  <a:pt x="20662" y="381000"/>
                </a:lnTo>
                <a:lnTo>
                  <a:pt x="0" y="401650"/>
                </a:lnTo>
                <a:lnTo>
                  <a:pt x="0" y="407962"/>
                </a:lnTo>
                <a:lnTo>
                  <a:pt x="20662" y="428612"/>
                </a:lnTo>
                <a:lnTo>
                  <a:pt x="26974" y="428612"/>
                </a:lnTo>
                <a:lnTo>
                  <a:pt x="47625" y="407962"/>
                </a:lnTo>
                <a:lnTo>
                  <a:pt x="47625" y="404812"/>
                </a:lnTo>
                <a:lnTo>
                  <a:pt x="47625" y="401650"/>
                </a:lnTo>
                <a:close/>
              </a:path>
              <a:path w="47625" h="619125">
                <a:moveTo>
                  <a:pt x="47625" y="211150"/>
                </a:moveTo>
                <a:lnTo>
                  <a:pt x="26974" y="190500"/>
                </a:lnTo>
                <a:lnTo>
                  <a:pt x="20662" y="190500"/>
                </a:lnTo>
                <a:lnTo>
                  <a:pt x="0" y="211150"/>
                </a:lnTo>
                <a:lnTo>
                  <a:pt x="0" y="217462"/>
                </a:lnTo>
                <a:lnTo>
                  <a:pt x="20662" y="238112"/>
                </a:lnTo>
                <a:lnTo>
                  <a:pt x="26974" y="238112"/>
                </a:lnTo>
                <a:lnTo>
                  <a:pt x="47625" y="217462"/>
                </a:lnTo>
                <a:lnTo>
                  <a:pt x="47625" y="214312"/>
                </a:lnTo>
                <a:lnTo>
                  <a:pt x="47625" y="211150"/>
                </a:lnTo>
                <a:close/>
              </a:path>
              <a:path w="47625" h="619125">
                <a:moveTo>
                  <a:pt x="47625" y="20650"/>
                </a:moveTo>
                <a:lnTo>
                  <a:pt x="26974" y="0"/>
                </a:lnTo>
                <a:lnTo>
                  <a:pt x="20662" y="0"/>
                </a:lnTo>
                <a:lnTo>
                  <a:pt x="0" y="20650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50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9436099" y="3455961"/>
            <a:ext cx="1398905" cy="7874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성능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최적화</a:t>
            </a:r>
            <a:endParaRPr sz="1150">
              <a:latin typeface="Dotum"/>
              <a:cs typeface="Dotum"/>
            </a:endParaRPr>
          </a:p>
          <a:p>
            <a:pPr marL="12700" marR="5080">
              <a:lnSpc>
                <a:spcPct val="108700"/>
              </a:lnSpc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운영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모니터링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고도화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장애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대응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체계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강화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사후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평가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및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개선점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0">
                <a:solidFill>
                  <a:srgbClr val="4A5462"/>
                </a:solidFill>
                <a:latin typeface="Dotum"/>
                <a:cs typeface="Dotum"/>
              </a:rPr>
              <a:t>도출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04799" y="4705349"/>
            <a:ext cx="11582400" cy="4371975"/>
            <a:chOff x="304799" y="4705349"/>
            <a:chExt cx="11582400" cy="4371975"/>
          </a:xfrm>
        </p:grpSpPr>
        <p:sp>
          <p:nvSpPr>
            <p:cNvPr id="22" name="object 22" descr=""/>
            <p:cNvSpPr/>
            <p:nvPr/>
          </p:nvSpPr>
          <p:spPr>
            <a:xfrm>
              <a:off x="314324" y="4714874"/>
              <a:ext cx="11563350" cy="4352925"/>
            </a:xfrm>
            <a:custGeom>
              <a:avLst/>
              <a:gdLst/>
              <a:ahLst/>
              <a:cxnLst/>
              <a:rect l="l" t="t" r="r" b="b"/>
              <a:pathLst>
                <a:path w="11563350" h="4352925">
                  <a:moveTo>
                    <a:pt x="11465453" y="4352923"/>
                  </a:moveTo>
                  <a:lnTo>
                    <a:pt x="97895" y="4352923"/>
                  </a:lnTo>
                  <a:lnTo>
                    <a:pt x="91081" y="4352252"/>
                  </a:lnTo>
                  <a:lnTo>
                    <a:pt x="52285" y="4339087"/>
                  </a:lnTo>
                  <a:lnTo>
                    <a:pt x="21479" y="4312078"/>
                  </a:lnTo>
                  <a:lnTo>
                    <a:pt x="3355" y="4275336"/>
                  </a:lnTo>
                  <a:lnTo>
                    <a:pt x="0" y="4255028"/>
                  </a:lnTo>
                  <a:lnTo>
                    <a:pt x="0" y="4248149"/>
                  </a:lnTo>
                  <a:lnTo>
                    <a:pt x="0" y="97894"/>
                  </a:lnTo>
                  <a:lnTo>
                    <a:pt x="10608" y="58322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11465453" y="0"/>
                  </a:lnTo>
                  <a:lnTo>
                    <a:pt x="11505024" y="10607"/>
                  </a:lnTo>
                  <a:lnTo>
                    <a:pt x="11537525" y="35551"/>
                  </a:lnTo>
                  <a:lnTo>
                    <a:pt x="11558005" y="71034"/>
                  </a:lnTo>
                  <a:lnTo>
                    <a:pt x="11563347" y="97894"/>
                  </a:lnTo>
                  <a:lnTo>
                    <a:pt x="11563347" y="4255028"/>
                  </a:lnTo>
                  <a:lnTo>
                    <a:pt x="11552739" y="4294599"/>
                  </a:lnTo>
                  <a:lnTo>
                    <a:pt x="11527795" y="4327100"/>
                  </a:lnTo>
                  <a:lnTo>
                    <a:pt x="11492312" y="4347581"/>
                  </a:lnTo>
                  <a:lnTo>
                    <a:pt x="11472266" y="4352252"/>
                  </a:lnTo>
                  <a:lnTo>
                    <a:pt x="11465453" y="4352923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4324" y="4714874"/>
              <a:ext cx="11563350" cy="4352925"/>
            </a:xfrm>
            <a:custGeom>
              <a:avLst/>
              <a:gdLst/>
              <a:ahLst/>
              <a:cxnLst/>
              <a:rect l="l" t="t" r="r" b="b"/>
              <a:pathLst>
                <a:path w="11563350" h="4352925">
                  <a:moveTo>
                    <a:pt x="0" y="424814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3" y="35551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40844" y="21479"/>
                  </a:lnTo>
                  <a:lnTo>
                    <a:pt x="46565" y="17657"/>
                  </a:lnTo>
                  <a:lnTo>
                    <a:pt x="52285" y="13834"/>
                  </a:lnTo>
                  <a:lnTo>
                    <a:pt x="91081" y="671"/>
                  </a:lnTo>
                  <a:lnTo>
                    <a:pt x="104774" y="0"/>
                  </a:lnTo>
                  <a:lnTo>
                    <a:pt x="11458574" y="0"/>
                  </a:lnTo>
                  <a:lnTo>
                    <a:pt x="11498668" y="7975"/>
                  </a:lnTo>
                  <a:lnTo>
                    <a:pt x="11505024" y="10607"/>
                  </a:lnTo>
                  <a:lnTo>
                    <a:pt x="11511062" y="13834"/>
                  </a:lnTo>
                  <a:lnTo>
                    <a:pt x="11516782" y="17657"/>
                  </a:lnTo>
                  <a:lnTo>
                    <a:pt x="11522502" y="21479"/>
                  </a:lnTo>
                  <a:lnTo>
                    <a:pt x="11549511" y="52284"/>
                  </a:lnTo>
                  <a:lnTo>
                    <a:pt x="11555371" y="64678"/>
                  </a:lnTo>
                  <a:lnTo>
                    <a:pt x="11558005" y="71034"/>
                  </a:lnTo>
                  <a:lnTo>
                    <a:pt x="11559992" y="77586"/>
                  </a:lnTo>
                  <a:lnTo>
                    <a:pt x="11561334" y="84333"/>
                  </a:lnTo>
                  <a:lnTo>
                    <a:pt x="11562676" y="91081"/>
                  </a:lnTo>
                  <a:lnTo>
                    <a:pt x="11563347" y="97895"/>
                  </a:lnTo>
                  <a:lnTo>
                    <a:pt x="11563349" y="104774"/>
                  </a:lnTo>
                  <a:lnTo>
                    <a:pt x="11563349" y="4248149"/>
                  </a:lnTo>
                  <a:lnTo>
                    <a:pt x="11563347" y="4255028"/>
                  </a:lnTo>
                  <a:lnTo>
                    <a:pt x="11562676" y="4261842"/>
                  </a:lnTo>
                  <a:lnTo>
                    <a:pt x="11561334" y="4268589"/>
                  </a:lnTo>
                  <a:lnTo>
                    <a:pt x="11559992" y="4275336"/>
                  </a:lnTo>
                  <a:lnTo>
                    <a:pt x="11558005" y="4281887"/>
                  </a:lnTo>
                  <a:lnTo>
                    <a:pt x="11555371" y="4288243"/>
                  </a:lnTo>
                  <a:lnTo>
                    <a:pt x="11552739" y="4294599"/>
                  </a:lnTo>
                  <a:lnTo>
                    <a:pt x="11549511" y="4300638"/>
                  </a:lnTo>
                  <a:lnTo>
                    <a:pt x="11545688" y="4306358"/>
                  </a:lnTo>
                  <a:lnTo>
                    <a:pt x="11541867" y="4312078"/>
                  </a:lnTo>
                  <a:lnTo>
                    <a:pt x="11516782" y="4335265"/>
                  </a:lnTo>
                  <a:lnTo>
                    <a:pt x="11511062" y="4339087"/>
                  </a:lnTo>
                  <a:lnTo>
                    <a:pt x="11505024" y="4342315"/>
                  </a:lnTo>
                  <a:lnTo>
                    <a:pt x="11498668" y="4344948"/>
                  </a:lnTo>
                  <a:lnTo>
                    <a:pt x="11492312" y="4347581"/>
                  </a:lnTo>
                  <a:lnTo>
                    <a:pt x="11485760" y="4349568"/>
                  </a:lnTo>
                  <a:lnTo>
                    <a:pt x="11479013" y="4350910"/>
                  </a:lnTo>
                  <a:lnTo>
                    <a:pt x="11472266" y="4352253"/>
                  </a:lnTo>
                  <a:lnTo>
                    <a:pt x="11465453" y="4352924"/>
                  </a:lnTo>
                  <a:lnTo>
                    <a:pt x="11458574" y="4352924"/>
                  </a:lnTo>
                  <a:lnTo>
                    <a:pt x="104774" y="4352924"/>
                  </a:lnTo>
                  <a:lnTo>
                    <a:pt x="97895" y="4352924"/>
                  </a:lnTo>
                  <a:lnTo>
                    <a:pt x="91081" y="4352253"/>
                  </a:lnTo>
                  <a:lnTo>
                    <a:pt x="84334" y="4350910"/>
                  </a:lnTo>
                  <a:lnTo>
                    <a:pt x="77586" y="4349568"/>
                  </a:lnTo>
                  <a:lnTo>
                    <a:pt x="46565" y="4335265"/>
                  </a:lnTo>
                  <a:lnTo>
                    <a:pt x="40844" y="4331443"/>
                  </a:lnTo>
                  <a:lnTo>
                    <a:pt x="13835" y="4300638"/>
                  </a:lnTo>
                  <a:lnTo>
                    <a:pt x="2013" y="4268589"/>
                  </a:lnTo>
                  <a:lnTo>
                    <a:pt x="671" y="4261842"/>
                  </a:lnTo>
                  <a:lnTo>
                    <a:pt x="0" y="4255028"/>
                  </a:lnTo>
                  <a:lnTo>
                    <a:pt x="0" y="4248149"/>
                  </a:lnTo>
                  <a:close/>
                </a:path>
              </a:pathLst>
            </a:custGeom>
            <a:ln w="19049">
              <a:solidFill>
                <a:srgbClr val="8FCC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52449" y="7658099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11087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087099" y="0"/>
                  </a:lnTo>
                  <a:lnTo>
                    <a:pt x="11087099" y="9524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182" y="4991099"/>
              <a:ext cx="227135" cy="227330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882650" y="4925974"/>
            <a:ext cx="20447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1C4ED8"/>
                </a:solidFill>
                <a:latin typeface="Dotum"/>
                <a:cs typeface="Dotum"/>
              </a:rPr>
              <a:t>파일럿</a:t>
            </a:r>
            <a:r>
              <a:rPr dirty="0" sz="2050" spc="-19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1C4ED8"/>
                </a:solidFill>
                <a:latin typeface="Dotum"/>
                <a:cs typeface="Dotum"/>
              </a:rPr>
              <a:t>프로젝트</a:t>
            </a:r>
            <a:r>
              <a:rPr dirty="0" sz="2050" spc="-19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2050" spc="-445">
                <a:solidFill>
                  <a:srgbClr val="1C4ED8"/>
                </a:solidFill>
                <a:latin typeface="Dotum"/>
                <a:cs typeface="Dotum"/>
              </a:rPr>
              <a:t>상세</a:t>
            </a:r>
            <a:endParaRPr sz="2050">
              <a:latin typeface="Dotum"/>
              <a:cs typeface="Dot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52450" y="5410199"/>
            <a:ext cx="11087100" cy="2095500"/>
            <a:chOff x="552450" y="5410199"/>
            <a:chExt cx="11087100" cy="2095500"/>
          </a:xfrm>
        </p:grpSpPr>
        <p:sp>
          <p:nvSpPr>
            <p:cNvPr id="28" name="object 28" descr=""/>
            <p:cNvSpPr/>
            <p:nvPr/>
          </p:nvSpPr>
          <p:spPr>
            <a:xfrm>
              <a:off x="6086474" y="5410199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9524" y="2095499"/>
                  </a:moveTo>
                  <a:lnTo>
                    <a:pt x="0" y="20954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095499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" y="5829299"/>
              <a:ext cx="152399" cy="1523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" y="6134099"/>
              <a:ext cx="152399" cy="15239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" y="6438899"/>
              <a:ext cx="152399" cy="15239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" y="6743699"/>
              <a:ext cx="152399" cy="15239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248398" y="6972299"/>
              <a:ext cx="5391150" cy="533400"/>
            </a:xfrm>
            <a:custGeom>
              <a:avLst/>
              <a:gdLst/>
              <a:ahLst/>
              <a:cxnLst/>
              <a:rect l="l" t="t" r="r" b="b"/>
              <a:pathLst>
                <a:path w="5391150" h="533400">
                  <a:moveTo>
                    <a:pt x="5358102" y="533399"/>
                  </a:moveTo>
                  <a:lnTo>
                    <a:pt x="33047" y="533399"/>
                  </a:lnTo>
                  <a:lnTo>
                    <a:pt x="28187" y="532432"/>
                  </a:lnTo>
                  <a:lnTo>
                    <a:pt x="966" y="505211"/>
                  </a:lnTo>
                  <a:lnTo>
                    <a:pt x="0" y="500352"/>
                  </a:lnTo>
                  <a:lnTo>
                    <a:pt x="0" y="495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358102" y="0"/>
                  </a:lnTo>
                  <a:lnTo>
                    <a:pt x="5390182" y="28186"/>
                  </a:lnTo>
                  <a:lnTo>
                    <a:pt x="5391149" y="33047"/>
                  </a:lnTo>
                  <a:lnTo>
                    <a:pt x="5391149" y="500352"/>
                  </a:lnTo>
                  <a:lnTo>
                    <a:pt x="5362961" y="532432"/>
                  </a:lnTo>
                  <a:lnTo>
                    <a:pt x="5358102" y="5333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248398" y="5791199"/>
              <a:ext cx="3590925" cy="381000"/>
            </a:xfrm>
            <a:custGeom>
              <a:avLst/>
              <a:gdLst/>
              <a:ahLst/>
              <a:cxnLst/>
              <a:rect l="l" t="t" r="r" b="b"/>
              <a:pathLst>
                <a:path w="3590925" h="381000">
                  <a:moveTo>
                    <a:pt x="3519728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2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19728" y="0"/>
                  </a:lnTo>
                  <a:lnTo>
                    <a:pt x="3561217" y="15620"/>
                  </a:lnTo>
                  <a:lnTo>
                    <a:pt x="3587038" y="51661"/>
                  </a:lnTo>
                  <a:lnTo>
                    <a:pt x="3590925" y="71196"/>
                  </a:lnTo>
                  <a:lnTo>
                    <a:pt x="3590925" y="309802"/>
                  </a:lnTo>
                  <a:lnTo>
                    <a:pt x="3575301" y="351294"/>
                  </a:lnTo>
                  <a:lnTo>
                    <a:pt x="3539262" y="377113"/>
                  </a:lnTo>
                  <a:lnTo>
                    <a:pt x="3524682" y="380511"/>
                  </a:lnTo>
                  <a:lnTo>
                    <a:pt x="3519728" y="380999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539750" y="5401042"/>
            <a:ext cx="7035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핵심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45">
                <a:solidFill>
                  <a:srgbClr val="1C4ED8"/>
                </a:solidFill>
                <a:latin typeface="Dotum"/>
                <a:cs typeface="Dotum"/>
              </a:rPr>
              <a:t>목표</a:t>
            </a:r>
            <a:endParaRPr sz="1550">
              <a:latin typeface="Dotum"/>
              <a:cs typeface="Dotum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68349" y="5679591"/>
            <a:ext cx="16935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1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MSA</a:t>
            </a:r>
            <a:r>
              <a:rPr dirty="0" sz="12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아키텍처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검증</a:t>
            </a:r>
            <a:r>
              <a:rPr dirty="0" sz="1350" spc="50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기술적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위험요소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조기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파악</a:t>
            </a:r>
            <a:endParaRPr sz="1350">
              <a:latin typeface="Dotum"/>
              <a:cs typeface="Dotum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68349" y="6289192"/>
            <a:ext cx="1636395" cy="63500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팀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역량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경험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축적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200">
                <a:solidFill>
                  <a:srgbClr val="333333"/>
                </a:solidFill>
                <a:latin typeface="Segoe UI"/>
                <a:cs typeface="Segoe UI"/>
              </a:rPr>
              <a:t>ROI</a:t>
            </a:r>
            <a:r>
              <a:rPr dirty="0"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2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확장</a:t>
            </a:r>
            <a:r>
              <a:rPr dirty="0" sz="1350" spc="-12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전략</a:t>
            </a:r>
            <a:r>
              <a:rPr dirty="0" sz="1350" spc="-12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검증</a:t>
            </a:r>
            <a:endParaRPr sz="1350">
              <a:latin typeface="Dotum"/>
              <a:cs typeface="Dotum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235699" y="5401042"/>
            <a:ext cx="13817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파일럿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대상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1C4ED8"/>
                </a:solidFill>
                <a:latin typeface="Dotum"/>
                <a:cs typeface="Dotum"/>
              </a:rPr>
              <a:t>서비스</a:t>
            </a:r>
            <a:endParaRPr sz="1550">
              <a:latin typeface="Dotum"/>
              <a:cs typeface="Dotum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311899" y="5851499"/>
            <a:ext cx="141351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고객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정보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관리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324598" y="5924549"/>
            <a:ext cx="4800600" cy="819150"/>
            <a:chOff x="6324598" y="5924549"/>
            <a:chExt cx="4800600" cy="819150"/>
          </a:xfrm>
        </p:grpSpPr>
        <p:sp>
          <p:nvSpPr>
            <p:cNvPr id="41" name="object 41" descr=""/>
            <p:cNvSpPr/>
            <p:nvPr/>
          </p:nvSpPr>
          <p:spPr>
            <a:xfrm>
              <a:off x="6324587" y="6315074"/>
              <a:ext cx="47625" cy="428625"/>
            </a:xfrm>
            <a:custGeom>
              <a:avLst/>
              <a:gdLst/>
              <a:ahLst/>
              <a:cxnLst/>
              <a:rect l="l" t="t" r="r" b="b"/>
              <a:pathLst>
                <a:path w="47625" h="428625">
                  <a:moveTo>
                    <a:pt x="47625" y="401662"/>
                  </a:moveTo>
                  <a:lnTo>
                    <a:pt x="26974" y="381000"/>
                  </a:lnTo>
                  <a:lnTo>
                    <a:pt x="20662" y="381000"/>
                  </a:lnTo>
                  <a:lnTo>
                    <a:pt x="0" y="401662"/>
                  </a:lnTo>
                  <a:lnTo>
                    <a:pt x="0" y="407974"/>
                  </a:lnTo>
                  <a:lnTo>
                    <a:pt x="20662" y="428625"/>
                  </a:lnTo>
                  <a:lnTo>
                    <a:pt x="26974" y="428625"/>
                  </a:lnTo>
                  <a:lnTo>
                    <a:pt x="47625" y="407974"/>
                  </a:lnTo>
                  <a:lnTo>
                    <a:pt x="47625" y="404812"/>
                  </a:lnTo>
                  <a:lnTo>
                    <a:pt x="47625" y="401662"/>
                  </a:lnTo>
                  <a:close/>
                </a:path>
                <a:path w="47625" h="428625">
                  <a:moveTo>
                    <a:pt x="47625" y="211162"/>
                  </a:moveTo>
                  <a:lnTo>
                    <a:pt x="26974" y="190500"/>
                  </a:lnTo>
                  <a:lnTo>
                    <a:pt x="20662" y="190500"/>
                  </a:lnTo>
                  <a:lnTo>
                    <a:pt x="0" y="211162"/>
                  </a:lnTo>
                  <a:lnTo>
                    <a:pt x="0" y="217474"/>
                  </a:lnTo>
                  <a:lnTo>
                    <a:pt x="20662" y="238125"/>
                  </a:lnTo>
                  <a:lnTo>
                    <a:pt x="26974" y="238125"/>
                  </a:lnTo>
                  <a:lnTo>
                    <a:pt x="47625" y="217474"/>
                  </a:lnTo>
                  <a:lnTo>
                    <a:pt x="47625" y="214312"/>
                  </a:lnTo>
                  <a:lnTo>
                    <a:pt x="47625" y="211162"/>
                  </a:lnTo>
                  <a:close/>
                </a:path>
                <a:path w="47625" h="428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382249" y="5943599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361949" y="723899"/>
                  </a:moveTo>
                  <a:lnTo>
                    <a:pt x="317640" y="721177"/>
                  </a:lnTo>
                  <a:lnTo>
                    <a:pt x="274003" y="713052"/>
                  </a:lnTo>
                  <a:lnTo>
                    <a:pt x="231688" y="699646"/>
                  </a:lnTo>
                  <a:lnTo>
                    <a:pt x="191326" y="681160"/>
                  </a:lnTo>
                  <a:lnTo>
                    <a:pt x="153533" y="657872"/>
                  </a:lnTo>
                  <a:lnTo>
                    <a:pt x="118879" y="630137"/>
                  </a:lnTo>
                  <a:lnTo>
                    <a:pt x="87879" y="598367"/>
                  </a:lnTo>
                  <a:lnTo>
                    <a:pt x="60998" y="563037"/>
                  </a:lnTo>
                  <a:lnTo>
                    <a:pt x="38644" y="524683"/>
                  </a:lnTo>
                  <a:lnTo>
                    <a:pt x="21157" y="483886"/>
                  </a:lnTo>
                  <a:lnTo>
                    <a:pt x="8794" y="441255"/>
                  </a:lnTo>
                  <a:lnTo>
                    <a:pt x="1744" y="397426"/>
                  </a:lnTo>
                  <a:lnTo>
                    <a:pt x="0" y="361949"/>
                  </a:lnTo>
                  <a:lnTo>
                    <a:pt x="109" y="353064"/>
                  </a:lnTo>
                  <a:lnTo>
                    <a:pt x="3917" y="308840"/>
                  </a:lnTo>
                  <a:lnTo>
                    <a:pt x="13110" y="265414"/>
                  </a:lnTo>
                  <a:lnTo>
                    <a:pt x="27550" y="223436"/>
                  </a:lnTo>
                  <a:lnTo>
                    <a:pt x="47021" y="183542"/>
                  </a:lnTo>
                  <a:lnTo>
                    <a:pt x="71227" y="146335"/>
                  </a:lnTo>
                  <a:lnTo>
                    <a:pt x="99806" y="112372"/>
                  </a:lnTo>
                  <a:lnTo>
                    <a:pt x="132330" y="82158"/>
                  </a:lnTo>
                  <a:lnTo>
                    <a:pt x="168308" y="56153"/>
                  </a:lnTo>
                  <a:lnTo>
                    <a:pt x="207196" y="34750"/>
                  </a:lnTo>
                  <a:lnTo>
                    <a:pt x="248410" y="18269"/>
                  </a:lnTo>
                  <a:lnTo>
                    <a:pt x="291336" y="6954"/>
                  </a:lnTo>
                  <a:lnTo>
                    <a:pt x="335326" y="980"/>
                  </a:lnTo>
                  <a:lnTo>
                    <a:pt x="361949" y="0"/>
                  </a:lnTo>
                  <a:lnTo>
                    <a:pt x="370835" y="109"/>
                  </a:lnTo>
                  <a:lnTo>
                    <a:pt x="415058" y="3917"/>
                  </a:lnTo>
                  <a:lnTo>
                    <a:pt x="458483" y="13110"/>
                  </a:lnTo>
                  <a:lnTo>
                    <a:pt x="500461" y="27551"/>
                  </a:lnTo>
                  <a:lnTo>
                    <a:pt x="540356" y="47022"/>
                  </a:lnTo>
                  <a:lnTo>
                    <a:pt x="577562" y="71228"/>
                  </a:lnTo>
                  <a:lnTo>
                    <a:pt x="611526" y="99806"/>
                  </a:lnTo>
                  <a:lnTo>
                    <a:pt x="641741" y="132330"/>
                  </a:lnTo>
                  <a:lnTo>
                    <a:pt x="667745" y="168308"/>
                  </a:lnTo>
                  <a:lnTo>
                    <a:pt x="689148" y="207195"/>
                  </a:lnTo>
                  <a:lnTo>
                    <a:pt x="705632" y="248409"/>
                  </a:lnTo>
                  <a:lnTo>
                    <a:pt x="716945" y="291335"/>
                  </a:lnTo>
                  <a:lnTo>
                    <a:pt x="722919" y="335325"/>
                  </a:lnTo>
                  <a:lnTo>
                    <a:pt x="723899" y="361949"/>
                  </a:lnTo>
                  <a:lnTo>
                    <a:pt x="723790" y="370835"/>
                  </a:lnTo>
                  <a:lnTo>
                    <a:pt x="719983" y="415058"/>
                  </a:lnTo>
                  <a:lnTo>
                    <a:pt x="710790" y="458483"/>
                  </a:lnTo>
                  <a:lnTo>
                    <a:pt x="696346" y="500461"/>
                  </a:lnTo>
                  <a:lnTo>
                    <a:pt x="676876" y="540356"/>
                  </a:lnTo>
                  <a:lnTo>
                    <a:pt x="652670" y="577562"/>
                  </a:lnTo>
                  <a:lnTo>
                    <a:pt x="624092" y="611526"/>
                  </a:lnTo>
                  <a:lnTo>
                    <a:pt x="591568" y="641740"/>
                  </a:lnTo>
                  <a:lnTo>
                    <a:pt x="555589" y="667745"/>
                  </a:lnTo>
                  <a:lnTo>
                    <a:pt x="516702" y="689148"/>
                  </a:lnTo>
                  <a:lnTo>
                    <a:pt x="475489" y="705630"/>
                  </a:lnTo>
                  <a:lnTo>
                    <a:pt x="432561" y="716944"/>
                  </a:lnTo>
                  <a:lnTo>
                    <a:pt x="388573" y="722919"/>
                  </a:lnTo>
                  <a:lnTo>
                    <a:pt x="361949" y="723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382249" y="5943599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723899" y="361949"/>
                  </a:moveTo>
                  <a:lnTo>
                    <a:pt x="721177" y="406258"/>
                  </a:lnTo>
                  <a:lnTo>
                    <a:pt x="713053" y="449895"/>
                  </a:lnTo>
                  <a:lnTo>
                    <a:pt x="699647" y="492210"/>
                  </a:lnTo>
                  <a:lnTo>
                    <a:pt x="681161" y="532571"/>
                  </a:lnTo>
                  <a:lnTo>
                    <a:pt x="657872" y="570365"/>
                  </a:lnTo>
                  <a:lnTo>
                    <a:pt x="630136" y="605020"/>
                  </a:lnTo>
                  <a:lnTo>
                    <a:pt x="598367" y="636019"/>
                  </a:lnTo>
                  <a:lnTo>
                    <a:pt x="563037" y="662899"/>
                  </a:lnTo>
                  <a:lnTo>
                    <a:pt x="524684" y="685253"/>
                  </a:lnTo>
                  <a:lnTo>
                    <a:pt x="483886" y="702741"/>
                  </a:lnTo>
                  <a:lnTo>
                    <a:pt x="441255" y="715104"/>
                  </a:lnTo>
                  <a:lnTo>
                    <a:pt x="397426" y="722157"/>
                  </a:lnTo>
                  <a:lnTo>
                    <a:pt x="361949" y="723899"/>
                  </a:lnTo>
                  <a:lnTo>
                    <a:pt x="353064" y="723791"/>
                  </a:lnTo>
                  <a:lnTo>
                    <a:pt x="308840" y="719982"/>
                  </a:lnTo>
                  <a:lnTo>
                    <a:pt x="265416" y="710789"/>
                  </a:lnTo>
                  <a:lnTo>
                    <a:pt x="223437" y="696346"/>
                  </a:lnTo>
                  <a:lnTo>
                    <a:pt x="183542" y="676876"/>
                  </a:lnTo>
                  <a:lnTo>
                    <a:pt x="146336" y="652670"/>
                  </a:lnTo>
                  <a:lnTo>
                    <a:pt x="112372" y="624092"/>
                  </a:lnTo>
                  <a:lnTo>
                    <a:pt x="82157" y="591567"/>
                  </a:lnTo>
                  <a:lnTo>
                    <a:pt x="56152" y="555589"/>
                  </a:lnTo>
                  <a:lnTo>
                    <a:pt x="34749" y="516703"/>
                  </a:lnTo>
                  <a:lnTo>
                    <a:pt x="18267" y="475489"/>
                  </a:lnTo>
                  <a:lnTo>
                    <a:pt x="6954" y="432561"/>
                  </a:lnTo>
                  <a:lnTo>
                    <a:pt x="981" y="388573"/>
                  </a:lnTo>
                  <a:lnTo>
                    <a:pt x="0" y="361949"/>
                  </a:lnTo>
                  <a:lnTo>
                    <a:pt x="109" y="353064"/>
                  </a:lnTo>
                  <a:lnTo>
                    <a:pt x="3917" y="308840"/>
                  </a:lnTo>
                  <a:lnTo>
                    <a:pt x="13110" y="265414"/>
                  </a:lnTo>
                  <a:lnTo>
                    <a:pt x="27550" y="223436"/>
                  </a:lnTo>
                  <a:lnTo>
                    <a:pt x="47021" y="183542"/>
                  </a:lnTo>
                  <a:lnTo>
                    <a:pt x="71227" y="146335"/>
                  </a:lnTo>
                  <a:lnTo>
                    <a:pt x="99806" y="112372"/>
                  </a:lnTo>
                  <a:lnTo>
                    <a:pt x="132330" y="82158"/>
                  </a:lnTo>
                  <a:lnTo>
                    <a:pt x="168308" y="56153"/>
                  </a:lnTo>
                  <a:lnTo>
                    <a:pt x="207196" y="34750"/>
                  </a:lnTo>
                  <a:lnTo>
                    <a:pt x="248410" y="18269"/>
                  </a:lnTo>
                  <a:lnTo>
                    <a:pt x="291336" y="6954"/>
                  </a:lnTo>
                  <a:lnTo>
                    <a:pt x="335326" y="980"/>
                  </a:lnTo>
                  <a:lnTo>
                    <a:pt x="361949" y="0"/>
                  </a:lnTo>
                  <a:lnTo>
                    <a:pt x="370835" y="109"/>
                  </a:lnTo>
                  <a:lnTo>
                    <a:pt x="415058" y="3917"/>
                  </a:lnTo>
                  <a:lnTo>
                    <a:pt x="458483" y="13110"/>
                  </a:lnTo>
                  <a:lnTo>
                    <a:pt x="500461" y="27551"/>
                  </a:lnTo>
                  <a:lnTo>
                    <a:pt x="540356" y="47022"/>
                  </a:lnTo>
                  <a:lnTo>
                    <a:pt x="577562" y="71228"/>
                  </a:lnTo>
                  <a:lnTo>
                    <a:pt x="611526" y="99806"/>
                  </a:lnTo>
                  <a:lnTo>
                    <a:pt x="641741" y="132330"/>
                  </a:lnTo>
                  <a:lnTo>
                    <a:pt x="667745" y="168308"/>
                  </a:lnTo>
                  <a:lnTo>
                    <a:pt x="689148" y="207195"/>
                  </a:lnTo>
                  <a:lnTo>
                    <a:pt x="705632" y="248409"/>
                  </a:lnTo>
                  <a:lnTo>
                    <a:pt x="716945" y="291335"/>
                  </a:lnTo>
                  <a:lnTo>
                    <a:pt x="722919" y="335325"/>
                  </a:lnTo>
                  <a:lnTo>
                    <a:pt x="723899" y="361949"/>
                  </a:lnTo>
                  <a:close/>
                </a:path>
              </a:pathLst>
            </a:custGeom>
            <a:ln w="38099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502399" y="6218211"/>
            <a:ext cx="1231900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비즈니스</a:t>
            </a:r>
            <a:r>
              <a:rPr dirty="0" sz="1150" spc="-7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374050"/>
                </a:solidFill>
                <a:latin typeface="Dotum"/>
                <a:cs typeface="Dotum"/>
              </a:rPr>
              <a:t>중요도</a:t>
            </a:r>
            <a:r>
              <a:rPr dirty="0" sz="1050" spc="-145">
                <a:solidFill>
                  <a:srgbClr val="374050"/>
                </a:solidFill>
                <a:latin typeface="Segoe UI"/>
                <a:cs typeface="Segoe UI"/>
              </a:rPr>
              <a:t>:</a:t>
            </a:r>
            <a:r>
              <a:rPr dirty="0" sz="1050" spc="2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210">
                <a:solidFill>
                  <a:srgbClr val="374050"/>
                </a:solidFill>
                <a:latin typeface="Dotum"/>
                <a:cs typeface="Dotum"/>
              </a:rPr>
              <a:t>중간</a:t>
            </a:r>
            <a:r>
              <a:rPr dirty="0" sz="1150" spc="50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기술적</a:t>
            </a:r>
            <a:r>
              <a:rPr dirty="0" sz="1150" spc="-8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374050"/>
                </a:solidFill>
                <a:latin typeface="Dotum"/>
                <a:cs typeface="Dotum"/>
              </a:rPr>
              <a:t>복잡도</a:t>
            </a:r>
            <a:r>
              <a:rPr dirty="0" sz="1050" spc="-145">
                <a:solidFill>
                  <a:srgbClr val="374050"/>
                </a:solidFill>
                <a:latin typeface="Segoe UI"/>
                <a:cs typeface="Segoe UI"/>
              </a:rPr>
              <a:t>:</a:t>
            </a:r>
            <a:r>
              <a:rPr dirty="0" sz="1050" spc="2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Dotum"/>
                <a:cs typeface="Dotum"/>
              </a:rPr>
              <a:t>낮음 </a:t>
            </a:r>
            <a:r>
              <a:rPr dirty="0" sz="1150" spc="-190">
                <a:solidFill>
                  <a:srgbClr val="374050"/>
                </a:solidFill>
                <a:latin typeface="Dotum"/>
                <a:cs typeface="Dotum"/>
              </a:rPr>
              <a:t>외부</a:t>
            </a:r>
            <a:r>
              <a:rPr dirty="0" sz="1150" spc="-8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374050"/>
                </a:solidFill>
                <a:latin typeface="Dotum"/>
                <a:cs typeface="Dotum"/>
              </a:rPr>
              <a:t>의존성</a:t>
            </a:r>
            <a:r>
              <a:rPr dirty="0" sz="1050" spc="-145">
                <a:solidFill>
                  <a:srgbClr val="374050"/>
                </a:solidFill>
                <a:latin typeface="Segoe UI"/>
                <a:cs typeface="Segoe UI"/>
              </a:rPr>
              <a:t>:</a:t>
            </a:r>
            <a:r>
              <a:rPr dirty="0" sz="1050" spc="2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Dotum"/>
                <a:cs typeface="Dotum"/>
              </a:rPr>
              <a:t>최소</a:t>
            </a:r>
            <a:endParaRPr sz="1150">
              <a:latin typeface="Dotum"/>
              <a:cs typeface="Dotum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0496797" y="6175349"/>
            <a:ext cx="4883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1C4ED8"/>
                </a:solidFill>
                <a:latin typeface="Dotum"/>
                <a:cs typeface="Dotum"/>
              </a:rPr>
              <a:t>첫</a:t>
            </a:r>
            <a:r>
              <a:rPr dirty="0" sz="1350" spc="-12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1C4ED8"/>
                </a:solidFill>
                <a:latin typeface="Dotum"/>
                <a:cs typeface="Dotum"/>
              </a:rPr>
              <a:t>대상</a:t>
            </a:r>
            <a:endParaRPr sz="1350">
              <a:latin typeface="Dotum"/>
              <a:cs typeface="Dotum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311899" y="7016474"/>
            <a:ext cx="4259580" cy="4083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00" spc="-240">
                <a:solidFill>
                  <a:srgbClr val="333333"/>
                </a:solidFill>
                <a:latin typeface="Dotum"/>
                <a:cs typeface="Dotum"/>
              </a:rPr>
              <a:t>선정</a:t>
            </a:r>
            <a:r>
              <a:rPr dirty="0" sz="120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Dotum"/>
                <a:cs typeface="Dotum"/>
              </a:rPr>
              <a:t>이유</a:t>
            </a:r>
            <a:r>
              <a:rPr dirty="0" sz="1050" spc="-25" b="1">
                <a:solidFill>
                  <a:srgbClr val="333333"/>
                </a:solidFill>
                <a:latin typeface="Segoe UI Semibold"/>
                <a:cs typeface="Segoe UI Semibold"/>
              </a:rPr>
              <a:t>:</a:t>
            </a:r>
            <a:endParaRPr sz="10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독립적인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특성으로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45">
                <a:solidFill>
                  <a:srgbClr val="333333"/>
                </a:solidFill>
                <a:latin typeface="Dotum"/>
                <a:cs typeface="Dotum"/>
              </a:rPr>
              <a:t>최소화</a:t>
            </a:r>
            <a:r>
              <a:rPr dirty="0" sz="1050" spc="-145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dirty="0" sz="10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빠른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성공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사례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창출로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내부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신뢰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확보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65">
                <a:solidFill>
                  <a:srgbClr val="333333"/>
                </a:solidFill>
                <a:latin typeface="Dotum"/>
                <a:cs typeface="Dotum"/>
              </a:rPr>
              <a:t>가능</a:t>
            </a:r>
            <a:endParaRPr sz="1150">
              <a:latin typeface="Dotum"/>
              <a:cs typeface="Dotum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39750" y="7810868"/>
            <a:ext cx="164020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파일럿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성공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지표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350" spc="-10" b="1">
                <a:solidFill>
                  <a:srgbClr val="1C4ED8"/>
                </a:solidFill>
                <a:latin typeface="Segoe UI Semibold"/>
                <a:cs typeface="Segoe UI Semibold"/>
              </a:rPr>
              <a:t>(KPI)</a:t>
            </a:r>
            <a:endParaRPr sz="1350">
              <a:latin typeface="Segoe UI Semibold"/>
              <a:cs typeface="Segoe UI Semibold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552449" y="8162924"/>
            <a:ext cx="2714625" cy="666750"/>
            <a:chOff x="552449" y="8162924"/>
            <a:chExt cx="2714625" cy="666750"/>
          </a:xfrm>
        </p:grpSpPr>
        <p:sp>
          <p:nvSpPr>
            <p:cNvPr id="49" name="object 49" descr=""/>
            <p:cNvSpPr/>
            <p:nvPr/>
          </p:nvSpPr>
          <p:spPr>
            <a:xfrm>
              <a:off x="557212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2676182" y="657224"/>
                  </a:moveTo>
                  <a:lnTo>
                    <a:pt x="28916" y="657224"/>
                  </a:lnTo>
                  <a:lnTo>
                    <a:pt x="24664" y="656378"/>
                  </a:lnTo>
                  <a:lnTo>
                    <a:pt x="0" y="628307"/>
                  </a:lnTo>
                  <a:lnTo>
                    <a:pt x="0" y="6238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676182" y="0"/>
                  </a:lnTo>
                  <a:lnTo>
                    <a:pt x="2705099" y="28916"/>
                  </a:lnTo>
                  <a:lnTo>
                    <a:pt x="2705099" y="628307"/>
                  </a:lnTo>
                  <a:lnTo>
                    <a:pt x="2680435" y="656378"/>
                  </a:lnTo>
                  <a:lnTo>
                    <a:pt x="2676182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57212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0" y="6238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671762" y="0"/>
                  </a:lnTo>
                  <a:lnTo>
                    <a:pt x="2676182" y="0"/>
                  </a:lnTo>
                  <a:lnTo>
                    <a:pt x="2680435" y="845"/>
                  </a:lnTo>
                  <a:lnTo>
                    <a:pt x="2702561" y="20578"/>
                  </a:lnTo>
                  <a:lnTo>
                    <a:pt x="2704253" y="24662"/>
                  </a:lnTo>
                  <a:lnTo>
                    <a:pt x="2705099" y="28916"/>
                  </a:lnTo>
                  <a:lnTo>
                    <a:pt x="2705099" y="33337"/>
                  </a:lnTo>
                  <a:lnTo>
                    <a:pt x="2705099" y="623887"/>
                  </a:lnTo>
                  <a:lnTo>
                    <a:pt x="2705099" y="628307"/>
                  </a:lnTo>
                  <a:lnTo>
                    <a:pt x="2704253" y="632559"/>
                  </a:lnTo>
                  <a:lnTo>
                    <a:pt x="2702561" y="636643"/>
                  </a:lnTo>
                  <a:lnTo>
                    <a:pt x="2700869" y="640727"/>
                  </a:lnTo>
                  <a:lnTo>
                    <a:pt x="2684519" y="654686"/>
                  </a:lnTo>
                  <a:lnTo>
                    <a:pt x="2680435" y="656378"/>
                  </a:lnTo>
                  <a:lnTo>
                    <a:pt x="2676182" y="657224"/>
                  </a:lnTo>
                  <a:lnTo>
                    <a:pt x="2671762" y="657224"/>
                  </a:lnTo>
                  <a:lnTo>
                    <a:pt x="33337" y="657224"/>
                  </a:lnTo>
                  <a:lnTo>
                    <a:pt x="28916" y="657224"/>
                  </a:lnTo>
                  <a:lnTo>
                    <a:pt x="24664" y="656378"/>
                  </a:lnTo>
                  <a:lnTo>
                    <a:pt x="20579" y="654686"/>
                  </a:lnTo>
                  <a:lnTo>
                    <a:pt x="16495" y="652994"/>
                  </a:lnTo>
                  <a:lnTo>
                    <a:pt x="2537" y="636643"/>
                  </a:lnTo>
                  <a:lnTo>
                    <a:pt x="845" y="632559"/>
                  </a:lnTo>
                  <a:lnTo>
                    <a:pt x="0" y="62830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503263" y="8221984"/>
            <a:ext cx="813435" cy="521334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dirty="0" sz="1350" spc="-260">
                <a:solidFill>
                  <a:srgbClr val="2562EB"/>
                </a:solidFill>
                <a:latin typeface="Dotum"/>
                <a:cs typeface="Dotum"/>
              </a:rPr>
              <a:t>개발</a:t>
            </a:r>
            <a:r>
              <a:rPr dirty="0" sz="1350" spc="-120">
                <a:solidFill>
                  <a:srgbClr val="2562EB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기간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b="1">
                <a:solidFill>
                  <a:srgbClr val="333333"/>
                </a:solidFill>
                <a:latin typeface="Segoe UI"/>
                <a:cs typeface="Segoe UI"/>
              </a:rPr>
              <a:t>30%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단축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3343274" y="8162924"/>
            <a:ext cx="2714625" cy="666750"/>
            <a:chOff x="3343274" y="8162924"/>
            <a:chExt cx="2714625" cy="666750"/>
          </a:xfrm>
        </p:grpSpPr>
        <p:sp>
          <p:nvSpPr>
            <p:cNvPr id="53" name="object 53" descr=""/>
            <p:cNvSpPr/>
            <p:nvPr/>
          </p:nvSpPr>
          <p:spPr>
            <a:xfrm>
              <a:off x="3348037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2676182" y="657224"/>
                  </a:moveTo>
                  <a:lnTo>
                    <a:pt x="28916" y="657224"/>
                  </a:lnTo>
                  <a:lnTo>
                    <a:pt x="24664" y="656378"/>
                  </a:lnTo>
                  <a:lnTo>
                    <a:pt x="0" y="628307"/>
                  </a:lnTo>
                  <a:lnTo>
                    <a:pt x="0" y="6238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676182" y="0"/>
                  </a:lnTo>
                  <a:lnTo>
                    <a:pt x="2705099" y="28916"/>
                  </a:lnTo>
                  <a:lnTo>
                    <a:pt x="2705099" y="628307"/>
                  </a:lnTo>
                  <a:lnTo>
                    <a:pt x="2680435" y="656378"/>
                  </a:lnTo>
                  <a:lnTo>
                    <a:pt x="2676182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348037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0" y="6238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671762" y="0"/>
                  </a:lnTo>
                  <a:lnTo>
                    <a:pt x="2676182" y="0"/>
                  </a:lnTo>
                  <a:lnTo>
                    <a:pt x="2680435" y="845"/>
                  </a:lnTo>
                  <a:lnTo>
                    <a:pt x="2684519" y="2537"/>
                  </a:lnTo>
                  <a:lnTo>
                    <a:pt x="2688603" y="4228"/>
                  </a:lnTo>
                  <a:lnTo>
                    <a:pt x="2692209" y="6637"/>
                  </a:lnTo>
                  <a:lnTo>
                    <a:pt x="2695334" y="9763"/>
                  </a:lnTo>
                  <a:lnTo>
                    <a:pt x="2698460" y="12889"/>
                  </a:lnTo>
                  <a:lnTo>
                    <a:pt x="2700869" y="16494"/>
                  </a:lnTo>
                  <a:lnTo>
                    <a:pt x="2702561" y="20578"/>
                  </a:lnTo>
                  <a:lnTo>
                    <a:pt x="2704253" y="24662"/>
                  </a:lnTo>
                  <a:lnTo>
                    <a:pt x="2705099" y="28916"/>
                  </a:lnTo>
                  <a:lnTo>
                    <a:pt x="2705100" y="33337"/>
                  </a:lnTo>
                  <a:lnTo>
                    <a:pt x="2705100" y="623887"/>
                  </a:lnTo>
                  <a:lnTo>
                    <a:pt x="2705099" y="628307"/>
                  </a:lnTo>
                  <a:lnTo>
                    <a:pt x="2704253" y="632559"/>
                  </a:lnTo>
                  <a:lnTo>
                    <a:pt x="2702561" y="636643"/>
                  </a:lnTo>
                  <a:lnTo>
                    <a:pt x="2700869" y="640727"/>
                  </a:lnTo>
                  <a:lnTo>
                    <a:pt x="2684519" y="654686"/>
                  </a:lnTo>
                  <a:lnTo>
                    <a:pt x="2680435" y="656378"/>
                  </a:lnTo>
                  <a:lnTo>
                    <a:pt x="2676182" y="657224"/>
                  </a:lnTo>
                  <a:lnTo>
                    <a:pt x="2671762" y="657224"/>
                  </a:lnTo>
                  <a:lnTo>
                    <a:pt x="33337" y="657224"/>
                  </a:lnTo>
                  <a:lnTo>
                    <a:pt x="28916" y="657224"/>
                  </a:lnTo>
                  <a:lnTo>
                    <a:pt x="24664" y="656378"/>
                  </a:lnTo>
                  <a:lnTo>
                    <a:pt x="20579" y="654686"/>
                  </a:lnTo>
                  <a:lnTo>
                    <a:pt x="16495" y="652994"/>
                  </a:lnTo>
                  <a:lnTo>
                    <a:pt x="12890" y="650585"/>
                  </a:lnTo>
                  <a:lnTo>
                    <a:pt x="9764" y="647459"/>
                  </a:lnTo>
                  <a:lnTo>
                    <a:pt x="6638" y="644333"/>
                  </a:lnTo>
                  <a:lnTo>
                    <a:pt x="4229" y="640727"/>
                  </a:lnTo>
                  <a:lnTo>
                    <a:pt x="2537" y="636643"/>
                  </a:lnTo>
                  <a:lnTo>
                    <a:pt x="845" y="632559"/>
                  </a:lnTo>
                  <a:lnTo>
                    <a:pt x="0" y="62830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4229943" y="8221984"/>
            <a:ext cx="941705" cy="521334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dirty="0" sz="1350" spc="-260">
                <a:solidFill>
                  <a:srgbClr val="2562EB"/>
                </a:solidFill>
                <a:latin typeface="Dotum"/>
                <a:cs typeface="Dotum"/>
              </a:rPr>
              <a:t>배포</a:t>
            </a:r>
            <a:r>
              <a:rPr dirty="0" sz="1350" spc="-120">
                <a:solidFill>
                  <a:srgbClr val="2562EB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주기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주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00" spc="-170" b="1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700" spc="-170">
                <a:solidFill>
                  <a:srgbClr val="333333"/>
                </a:solidFill>
                <a:latin typeface="Dotum"/>
                <a:cs typeface="Dotum"/>
              </a:rPr>
              <a:t>회</a:t>
            </a:r>
            <a:r>
              <a:rPr dirty="0" sz="1700" spc="-14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이상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6134099" y="8162924"/>
            <a:ext cx="2714625" cy="666750"/>
            <a:chOff x="6134099" y="8162924"/>
            <a:chExt cx="2714625" cy="666750"/>
          </a:xfrm>
        </p:grpSpPr>
        <p:sp>
          <p:nvSpPr>
            <p:cNvPr id="57" name="object 57" descr=""/>
            <p:cNvSpPr/>
            <p:nvPr/>
          </p:nvSpPr>
          <p:spPr>
            <a:xfrm>
              <a:off x="6138862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2676182" y="657224"/>
                  </a:moveTo>
                  <a:lnTo>
                    <a:pt x="28916" y="657224"/>
                  </a:lnTo>
                  <a:lnTo>
                    <a:pt x="24662" y="656378"/>
                  </a:lnTo>
                  <a:lnTo>
                    <a:pt x="0" y="628307"/>
                  </a:lnTo>
                  <a:lnTo>
                    <a:pt x="0" y="6238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676182" y="0"/>
                  </a:lnTo>
                  <a:lnTo>
                    <a:pt x="2705099" y="28916"/>
                  </a:lnTo>
                  <a:lnTo>
                    <a:pt x="2705099" y="628307"/>
                  </a:lnTo>
                  <a:lnTo>
                    <a:pt x="2680434" y="656378"/>
                  </a:lnTo>
                  <a:lnTo>
                    <a:pt x="2676182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138862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0" y="6238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3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2671762" y="0"/>
                  </a:lnTo>
                  <a:lnTo>
                    <a:pt x="2676182" y="0"/>
                  </a:lnTo>
                  <a:lnTo>
                    <a:pt x="2680434" y="845"/>
                  </a:lnTo>
                  <a:lnTo>
                    <a:pt x="2684519" y="2537"/>
                  </a:lnTo>
                  <a:lnTo>
                    <a:pt x="2688603" y="4228"/>
                  </a:lnTo>
                  <a:lnTo>
                    <a:pt x="2702560" y="20578"/>
                  </a:lnTo>
                  <a:lnTo>
                    <a:pt x="2704252" y="24662"/>
                  </a:lnTo>
                  <a:lnTo>
                    <a:pt x="2705099" y="28916"/>
                  </a:lnTo>
                  <a:lnTo>
                    <a:pt x="2705099" y="33337"/>
                  </a:lnTo>
                  <a:lnTo>
                    <a:pt x="2705099" y="623887"/>
                  </a:lnTo>
                  <a:lnTo>
                    <a:pt x="2705099" y="628307"/>
                  </a:lnTo>
                  <a:lnTo>
                    <a:pt x="2704252" y="632559"/>
                  </a:lnTo>
                  <a:lnTo>
                    <a:pt x="2702560" y="636643"/>
                  </a:lnTo>
                  <a:lnTo>
                    <a:pt x="2700868" y="640727"/>
                  </a:lnTo>
                  <a:lnTo>
                    <a:pt x="2684518" y="654686"/>
                  </a:lnTo>
                  <a:lnTo>
                    <a:pt x="2680434" y="656378"/>
                  </a:lnTo>
                  <a:lnTo>
                    <a:pt x="2676182" y="657224"/>
                  </a:lnTo>
                  <a:lnTo>
                    <a:pt x="2671762" y="657224"/>
                  </a:lnTo>
                  <a:lnTo>
                    <a:pt x="33337" y="657224"/>
                  </a:lnTo>
                  <a:lnTo>
                    <a:pt x="28916" y="657224"/>
                  </a:lnTo>
                  <a:lnTo>
                    <a:pt x="24662" y="656378"/>
                  </a:lnTo>
                  <a:lnTo>
                    <a:pt x="20578" y="654686"/>
                  </a:lnTo>
                  <a:lnTo>
                    <a:pt x="16494" y="652994"/>
                  </a:lnTo>
                  <a:lnTo>
                    <a:pt x="0" y="62830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7047110" y="8221984"/>
            <a:ext cx="889000" cy="521334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dirty="0" sz="1350" spc="-260">
                <a:solidFill>
                  <a:srgbClr val="2562EB"/>
                </a:solidFill>
                <a:latin typeface="Dotum"/>
                <a:cs typeface="Dotum"/>
              </a:rPr>
              <a:t>장애</a:t>
            </a:r>
            <a:r>
              <a:rPr dirty="0" sz="1350" spc="-120">
                <a:solidFill>
                  <a:srgbClr val="2562EB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복구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spc="-225" b="1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700" spc="-225">
                <a:solidFill>
                  <a:srgbClr val="333333"/>
                </a:solidFill>
                <a:latin typeface="Dotum"/>
                <a:cs typeface="Dotum"/>
              </a:rPr>
              <a:t>시간</a:t>
            </a:r>
            <a:r>
              <a:rPr dirty="0" sz="1700" spc="-13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이내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8924923" y="8162924"/>
            <a:ext cx="2714625" cy="666750"/>
            <a:chOff x="8924923" y="8162924"/>
            <a:chExt cx="2714625" cy="666750"/>
          </a:xfrm>
        </p:grpSpPr>
        <p:sp>
          <p:nvSpPr>
            <p:cNvPr id="61" name="object 61" descr=""/>
            <p:cNvSpPr/>
            <p:nvPr/>
          </p:nvSpPr>
          <p:spPr>
            <a:xfrm>
              <a:off x="8929685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2676182" y="657224"/>
                  </a:moveTo>
                  <a:lnTo>
                    <a:pt x="28916" y="657224"/>
                  </a:lnTo>
                  <a:lnTo>
                    <a:pt x="24663" y="656378"/>
                  </a:lnTo>
                  <a:lnTo>
                    <a:pt x="0" y="628307"/>
                  </a:lnTo>
                  <a:lnTo>
                    <a:pt x="0" y="6238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676182" y="0"/>
                  </a:lnTo>
                  <a:lnTo>
                    <a:pt x="2705100" y="28916"/>
                  </a:lnTo>
                  <a:lnTo>
                    <a:pt x="2705100" y="628307"/>
                  </a:lnTo>
                  <a:lnTo>
                    <a:pt x="2680434" y="656378"/>
                  </a:lnTo>
                  <a:lnTo>
                    <a:pt x="2676182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929685" y="8167686"/>
              <a:ext cx="2705100" cy="657225"/>
            </a:xfrm>
            <a:custGeom>
              <a:avLst/>
              <a:gdLst/>
              <a:ahLst/>
              <a:cxnLst/>
              <a:rect l="l" t="t" r="r" b="b"/>
              <a:pathLst>
                <a:path w="2705100" h="657225">
                  <a:moveTo>
                    <a:pt x="0" y="6238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671762" y="0"/>
                  </a:lnTo>
                  <a:lnTo>
                    <a:pt x="2676182" y="0"/>
                  </a:lnTo>
                  <a:lnTo>
                    <a:pt x="2680434" y="845"/>
                  </a:lnTo>
                  <a:lnTo>
                    <a:pt x="2684519" y="2537"/>
                  </a:lnTo>
                  <a:lnTo>
                    <a:pt x="2688603" y="4228"/>
                  </a:lnTo>
                  <a:lnTo>
                    <a:pt x="2705100" y="28916"/>
                  </a:lnTo>
                  <a:lnTo>
                    <a:pt x="2705100" y="33337"/>
                  </a:lnTo>
                  <a:lnTo>
                    <a:pt x="2705100" y="623887"/>
                  </a:lnTo>
                  <a:lnTo>
                    <a:pt x="2705100" y="628307"/>
                  </a:lnTo>
                  <a:lnTo>
                    <a:pt x="2704253" y="632559"/>
                  </a:lnTo>
                  <a:lnTo>
                    <a:pt x="2702562" y="636643"/>
                  </a:lnTo>
                  <a:lnTo>
                    <a:pt x="2700870" y="640727"/>
                  </a:lnTo>
                  <a:lnTo>
                    <a:pt x="2684519" y="654686"/>
                  </a:lnTo>
                  <a:lnTo>
                    <a:pt x="2680434" y="656378"/>
                  </a:lnTo>
                  <a:lnTo>
                    <a:pt x="2676182" y="657224"/>
                  </a:lnTo>
                  <a:lnTo>
                    <a:pt x="2671762" y="657224"/>
                  </a:lnTo>
                  <a:lnTo>
                    <a:pt x="33338" y="657224"/>
                  </a:lnTo>
                  <a:lnTo>
                    <a:pt x="28916" y="657224"/>
                  </a:lnTo>
                  <a:lnTo>
                    <a:pt x="24663" y="656378"/>
                  </a:lnTo>
                  <a:lnTo>
                    <a:pt x="20579" y="654686"/>
                  </a:lnTo>
                  <a:lnTo>
                    <a:pt x="16494" y="652994"/>
                  </a:lnTo>
                  <a:lnTo>
                    <a:pt x="12889" y="650585"/>
                  </a:lnTo>
                  <a:lnTo>
                    <a:pt x="9764" y="647459"/>
                  </a:lnTo>
                  <a:lnTo>
                    <a:pt x="6637" y="644333"/>
                  </a:lnTo>
                  <a:lnTo>
                    <a:pt x="4228" y="640727"/>
                  </a:lnTo>
                  <a:lnTo>
                    <a:pt x="2537" y="636643"/>
                  </a:lnTo>
                  <a:lnTo>
                    <a:pt x="845" y="632559"/>
                  </a:lnTo>
                  <a:lnTo>
                    <a:pt x="0" y="62830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9757717" y="8221984"/>
            <a:ext cx="1049020" cy="521334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dirty="0" sz="1350" spc="-260">
                <a:solidFill>
                  <a:srgbClr val="2562EB"/>
                </a:solidFill>
                <a:latin typeface="Dotum"/>
                <a:cs typeface="Dotum"/>
              </a:rPr>
              <a:t>테스트</a:t>
            </a:r>
            <a:r>
              <a:rPr dirty="0" sz="1350" spc="-114">
                <a:solidFill>
                  <a:srgbClr val="2562EB"/>
                </a:solidFill>
                <a:latin typeface="Dotum"/>
                <a:cs typeface="Dotum"/>
              </a:rPr>
              <a:t> </a:t>
            </a:r>
            <a:r>
              <a:rPr dirty="0" sz="1350" spc="-280">
                <a:solidFill>
                  <a:srgbClr val="2562EB"/>
                </a:solidFill>
                <a:latin typeface="Dotum"/>
                <a:cs typeface="Dotum"/>
              </a:rPr>
              <a:t>커버리지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b="1">
                <a:solidFill>
                  <a:srgbClr val="333333"/>
                </a:solidFill>
                <a:latin typeface="Segoe UI"/>
                <a:cs typeface="Segoe UI"/>
              </a:rPr>
              <a:t>80%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이상</a:t>
            </a:r>
            <a:endParaRPr sz="1700">
              <a:latin typeface="Dotum"/>
              <a:cs typeface="Dotum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800199" y="2424848"/>
            <a:ext cx="342900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254"/>
              </a:spcBef>
            </a:pP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준비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50" spc="-110">
                <a:solidFill>
                  <a:srgbClr val="4A5462"/>
                </a:solidFill>
                <a:latin typeface="Segoe UI"/>
                <a:cs typeface="Segoe UI"/>
              </a:rPr>
              <a:t>3</a:t>
            </a:r>
            <a:r>
              <a:rPr dirty="0" sz="1150" spc="-110">
                <a:solidFill>
                  <a:srgbClr val="4A5462"/>
                </a:solidFill>
                <a:latin typeface="Dotum"/>
                <a:cs typeface="Dotum"/>
              </a:rPr>
              <a:t>개월</a:t>
            </a:r>
            <a:endParaRPr sz="1150">
              <a:latin typeface="Dotum"/>
              <a:cs typeface="Dotum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4164756" y="2424848"/>
            <a:ext cx="446405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파일럿</a:t>
            </a:r>
            <a:endParaRPr sz="1350">
              <a:latin typeface="Dotum"/>
              <a:cs typeface="Dotum"/>
            </a:endParaRPr>
          </a:p>
          <a:p>
            <a:pPr marL="64135">
              <a:lnSpc>
                <a:spcPct val="100000"/>
              </a:lnSpc>
              <a:spcBef>
                <a:spcPts val="155"/>
              </a:spcBef>
            </a:pPr>
            <a:r>
              <a:rPr dirty="0" sz="1050" spc="-25">
                <a:solidFill>
                  <a:srgbClr val="4A5462"/>
                </a:solidFill>
                <a:latin typeface="Segoe UI"/>
                <a:cs typeface="Segoe UI"/>
              </a:rPr>
              <a:t>6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개월</a:t>
            </a:r>
            <a:endParaRPr sz="1150">
              <a:latin typeface="Dotum"/>
              <a:cs typeface="Dotum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7596882" y="2424848"/>
            <a:ext cx="414655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54"/>
              </a:spcBef>
            </a:pP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확산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50" spc="-85">
                <a:solidFill>
                  <a:srgbClr val="4A5462"/>
                </a:solidFill>
                <a:latin typeface="Segoe UI"/>
                <a:cs typeface="Segoe UI"/>
              </a:rPr>
              <a:t>12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개월</a:t>
            </a:r>
            <a:endParaRPr sz="1150">
              <a:latin typeface="Dotum"/>
              <a:cs typeface="Dotum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0997455" y="2424848"/>
            <a:ext cx="446405" cy="4470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안정화</a:t>
            </a:r>
            <a:endParaRPr sz="1350">
              <a:latin typeface="Dotum"/>
              <a:cs typeface="Dotum"/>
            </a:endParaRPr>
          </a:p>
          <a:p>
            <a:pPr marL="64135">
              <a:lnSpc>
                <a:spcPct val="100000"/>
              </a:lnSpc>
              <a:spcBef>
                <a:spcPts val="155"/>
              </a:spcBef>
            </a:pPr>
            <a:r>
              <a:rPr dirty="0" sz="1050" spc="-25">
                <a:solidFill>
                  <a:srgbClr val="4A5462"/>
                </a:solidFill>
                <a:latin typeface="Segoe UI"/>
                <a:cs typeface="Segoe UI"/>
              </a:rPr>
              <a:t>3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개월</a:t>
            </a:r>
            <a:endParaRPr sz="1150">
              <a:latin typeface="Dotum"/>
              <a:cs typeface="Dotum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1638299" y="2305049"/>
            <a:ext cx="2085975" cy="38100"/>
          </a:xfrm>
          <a:custGeom>
            <a:avLst/>
            <a:gdLst/>
            <a:ahLst/>
            <a:cxnLst/>
            <a:rect l="l" t="t" r="r" b="b"/>
            <a:pathLst>
              <a:path w="2085975" h="38100">
                <a:moveTo>
                  <a:pt x="2085974" y="38099"/>
                </a:moveTo>
                <a:lnTo>
                  <a:pt x="0" y="38099"/>
                </a:lnTo>
                <a:lnTo>
                  <a:pt x="0" y="0"/>
                </a:lnTo>
                <a:lnTo>
                  <a:pt x="2085974" y="0"/>
                </a:lnTo>
                <a:lnTo>
                  <a:pt x="2085974" y="38099"/>
                </a:lnTo>
                <a:close/>
              </a:path>
            </a:pathLst>
          </a:custGeom>
          <a:solidFill>
            <a:srgbClr val="CBD5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5057774" y="2305049"/>
            <a:ext cx="2076450" cy="38100"/>
          </a:xfrm>
          <a:custGeom>
            <a:avLst/>
            <a:gdLst/>
            <a:ahLst/>
            <a:cxnLst/>
            <a:rect l="l" t="t" r="r" b="b"/>
            <a:pathLst>
              <a:path w="2076450" h="38100">
                <a:moveTo>
                  <a:pt x="2076449" y="38099"/>
                </a:moveTo>
                <a:lnTo>
                  <a:pt x="0" y="38099"/>
                </a:lnTo>
                <a:lnTo>
                  <a:pt x="0" y="0"/>
                </a:lnTo>
                <a:lnTo>
                  <a:pt x="2076449" y="0"/>
                </a:lnTo>
                <a:lnTo>
                  <a:pt x="2076449" y="38099"/>
                </a:lnTo>
                <a:close/>
              </a:path>
            </a:pathLst>
          </a:custGeom>
          <a:solidFill>
            <a:srgbClr val="CBD5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8467724" y="2305049"/>
            <a:ext cx="2085975" cy="38100"/>
          </a:xfrm>
          <a:custGeom>
            <a:avLst/>
            <a:gdLst/>
            <a:ahLst/>
            <a:cxnLst/>
            <a:rect l="l" t="t" r="r" b="b"/>
            <a:pathLst>
              <a:path w="2085975" h="38100">
                <a:moveTo>
                  <a:pt x="2085974" y="38099"/>
                </a:moveTo>
                <a:lnTo>
                  <a:pt x="0" y="38099"/>
                </a:lnTo>
                <a:lnTo>
                  <a:pt x="0" y="0"/>
                </a:lnTo>
                <a:lnTo>
                  <a:pt x="2085974" y="0"/>
                </a:lnTo>
                <a:lnTo>
                  <a:pt x="2085974" y="38099"/>
                </a:lnTo>
                <a:close/>
              </a:path>
            </a:pathLst>
          </a:custGeom>
          <a:solidFill>
            <a:srgbClr val="CBD5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1" name="object 71" descr=""/>
          <p:cNvGrpSpPr/>
          <p:nvPr/>
        </p:nvGrpSpPr>
        <p:grpSpPr>
          <a:xfrm>
            <a:off x="685799" y="1771649"/>
            <a:ext cx="571500" cy="571500"/>
            <a:chOff x="685799" y="1771649"/>
            <a:chExt cx="571500" cy="571500"/>
          </a:xfrm>
        </p:grpSpPr>
        <p:sp>
          <p:nvSpPr>
            <p:cNvPr id="72" name="object 72" descr=""/>
            <p:cNvSpPr/>
            <p:nvPr/>
          </p:nvSpPr>
          <p:spPr>
            <a:xfrm>
              <a:off x="685799" y="17716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6A72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824" y="1943099"/>
              <a:ext cx="171450" cy="228600"/>
            </a:xfrm>
            <a:prstGeom prst="rect">
              <a:avLst/>
            </a:prstGeom>
          </p:spPr>
        </p:pic>
      </p:grpSp>
      <p:grpSp>
        <p:nvGrpSpPr>
          <p:cNvPr id="74" name="object 74" descr=""/>
          <p:cNvGrpSpPr/>
          <p:nvPr/>
        </p:nvGrpSpPr>
        <p:grpSpPr>
          <a:xfrm>
            <a:off x="4105274" y="1771649"/>
            <a:ext cx="571500" cy="571500"/>
            <a:chOff x="4105274" y="1771649"/>
            <a:chExt cx="571500" cy="571500"/>
          </a:xfrm>
        </p:grpSpPr>
        <p:sp>
          <p:nvSpPr>
            <p:cNvPr id="75" name="object 75" descr=""/>
            <p:cNvSpPr/>
            <p:nvPr/>
          </p:nvSpPr>
          <p:spPr>
            <a:xfrm>
              <a:off x="4105274" y="17716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6" y="544064"/>
                  </a:lnTo>
                  <a:lnTo>
                    <a:pt x="126995" y="523342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5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249" y="1943099"/>
              <a:ext cx="200025" cy="228600"/>
            </a:xfrm>
            <a:prstGeom prst="rect">
              <a:avLst/>
            </a:prstGeom>
          </p:spPr>
        </p:pic>
      </p:grpSp>
      <p:grpSp>
        <p:nvGrpSpPr>
          <p:cNvPr id="77" name="object 77" descr=""/>
          <p:cNvGrpSpPr/>
          <p:nvPr/>
        </p:nvGrpSpPr>
        <p:grpSpPr>
          <a:xfrm>
            <a:off x="7515224" y="1771649"/>
            <a:ext cx="571500" cy="571500"/>
            <a:chOff x="7515224" y="1771649"/>
            <a:chExt cx="571500" cy="571500"/>
          </a:xfrm>
        </p:grpSpPr>
        <p:sp>
          <p:nvSpPr>
            <p:cNvPr id="78" name="object 78" descr=""/>
            <p:cNvSpPr/>
            <p:nvPr/>
          </p:nvSpPr>
          <p:spPr>
            <a:xfrm>
              <a:off x="7515224" y="17716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2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5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0962" y="1957387"/>
              <a:ext cx="200025" cy="200025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10934699" y="1771649"/>
            <a:ext cx="571500" cy="571500"/>
            <a:chOff x="10934699" y="1771649"/>
            <a:chExt cx="571500" cy="571500"/>
          </a:xfrm>
        </p:grpSpPr>
        <p:sp>
          <p:nvSpPr>
            <p:cNvPr id="81" name="object 81" descr=""/>
            <p:cNvSpPr/>
            <p:nvPr/>
          </p:nvSpPr>
          <p:spPr>
            <a:xfrm>
              <a:off x="10934699" y="17716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4" y="523342"/>
                  </a:lnTo>
                  <a:lnTo>
                    <a:pt x="93851" y="497476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49" y="395101"/>
                  </a:lnTo>
                  <a:lnTo>
                    <a:pt x="8562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89" y="230002"/>
                  </a:lnTo>
                  <a:lnTo>
                    <a:pt x="16703" y="189483"/>
                  </a:lnTo>
                  <a:lnTo>
                    <a:pt x="33738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2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7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7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2" y="537758"/>
                  </a:lnTo>
                  <a:lnTo>
                    <a:pt x="382016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13293" y="1943099"/>
              <a:ext cx="214312" cy="228242"/>
            </a:xfrm>
            <a:prstGeom prst="rect">
              <a:avLst/>
            </a:prstGeom>
          </p:spPr>
        </p:pic>
      </p:grpSp>
      <p:grpSp>
        <p:nvGrpSpPr>
          <p:cNvPr id="83" name="object 83" descr=""/>
          <p:cNvGrpSpPr/>
          <p:nvPr/>
        </p:nvGrpSpPr>
        <p:grpSpPr>
          <a:xfrm>
            <a:off x="10658474" y="8867775"/>
            <a:ext cx="1343025" cy="323850"/>
            <a:chOff x="10658474" y="8867775"/>
            <a:chExt cx="1343025" cy="323850"/>
          </a:xfrm>
        </p:grpSpPr>
        <p:sp>
          <p:nvSpPr>
            <p:cNvPr id="84" name="object 84" descr=""/>
            <p:cNvSpPr/>
            <p:nvPr/>
          </p:nvSpPr>
          <p:spPr>
            <a:xfrm>
              <a:off x="10658474" y="8867775"/>
              <a:ext cx="1343025" cy="323850"/>
            </a:xfrm>
            <a:custGeom>
              <a:avLst/>
              <a:gdLst/>
              <a:ahLst/>
              <a:cxnLst/>
              <a:rect l="l" t="t" r="r" b="b"/>
              <a:pathLst>
                <a:path w="1343025" h="323850">
                  <a:moveTo>
                    <a:pt x="13099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09977" y="0"/>
                  </a:lnTo>
                  <a:lnTo>
                    <a:pt x="1342057" y="28187"/>
                  </a:lnTo>
                  <a:lnTo>
                    <a:pt x="1343024" y="33047"/>
                  </a:lnTo>
                  <a:lnTo>
                    <a:pt x="1343024" y="290802"/>
                  </a:lnTo>
                  <a:lnTo>
                    <a:pt x="1314837" y="322883"/>
                  </a:lnTo>
                  <a:lnTo>
                    <a:pt x="13099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72774" y="8963024"/>
              <a:ext cx="133349" cy="133349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10949234" y="8941283"/>
            <a:ext cx="951230" cy="1778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r>
              <a:rPr dirty="0" sz="1000" spc="-30">
                <a:solidFill>
                  <a:srgbClr val="FFFFFF"/>
                </a:solidFill>
                <a:latin typeface="Dotum"/>
                <a:cs typeface="Dotum"/>
              </a:rPr>
              <a:t>로</a:t>
            </a:r>
            <a:r>
              <a:rPr dirty="0" sz="1000" spc="-4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0">
                <a:solidFill>
                  <a:srgbClr val="FFFFFF"/>
                </a:solidFill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Investment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 spc="-10"/>
              <a:t>Return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 spc="-325" b="0">
                <a:latin typeface="Dotum"/>
                <a:cs typeface="Dotum"/>
              </a:rPr>
              <a:t>비용과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500" spc="-25" b="0">
                <a:latin typeface="Segoe UI"/>
                <a:cs typeface="Segoe UI"/>
              </a:rPr>
              <a:t>ROI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8599" y="3790949"/>
            <a:ext cx="5638800" cy="342900"/>
          </a:xfrm>
          <a:custGeom>
            <a:avLst/>
            <a:gdLst/>
            <a:ahLst/>
            <a:cxnLst/>
            <a:rect l="l" t="t" r="r" b="b"/>
            <a:pathLst>
              <a:path w="5638800" h="342900">
                <a:moveTo>
                  <a:pt x="5605751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2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605751" y="0"/>
                </a:lnTo>
                <a:lnTo>
                  <a:pt x="5637832" y="28186"/>
                </a:lnTo>
                <a:lnTo>
                  <a:pt x="5638798" y="33047"/>
                </a:lnTo>
                <a:lnTo>
                  <a:pt x="5638798" y="309852"/>
                </a:lnTo>
                <a:lnTo>
                  <a:pt x="5610611" y="341932"/>
                </a:lnTo>
                <a:lnTo>
                  <a:pt x="5605751" y="3428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00149"/>
            <a:ext cx="228600" cy="2286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58800" y="1135024"/>
            <a:ext cx="162433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1C4ED8"/>
                </a:solidFill>
                <a:latin typeface="Dotum"/>
                <a:cs typeface="Dotum"/>
              </a:rPr>
              <a:t>단계별</a:t>
            </a:r>
            <a:r>
              <a:rPr dirty="0" sz="2050" spc="-19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1C4ED8"/>
                </a:solidFill>
                <a:latin typeface="Dotum"/>
                <a:cs typeface="Dotum"/>
              </a:rPr>
              <a:t>투자</a:t>
            </a:r>
            <a:r>
              <a:rPr dirty="0" sz="2050" spc="-19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1C4ED8"/>
                </a:solidFill>
                <a:latin typeface="Dotum"/>
                <a:cs typeface="Dotum"/>
              </a:rPr>
              <a:t>규모</a:t>
            </a:r>
            <a:endParaRPr sz="2050">
              <a:latin typeface="Dotum"/>
              <a:cs typeface="Dot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2099" y="3844506"/>
            <a:ext cx="16122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*</a:t>
            </a:r>
            <a:r>
              <a:rPr dirty="0" sz="105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50" spc="-100">
                <a:solidFill>
                  <a:srgbClr val="4A5462"/>
                </a:solidFill>
                <a:latin typeface="Segoe UI"/>
                <a:cs typeface="Segoe UI"/>
              </a:rPr>
              <a:t>3</a:t>
            </a:r>
            <a:r>
              <a:rPr dirty="0" sz="1150" spc="-100">
                <a:solidFill>
                  <a:srgbClr val="4A5462"/>
                </a:solidFill>
                <a:latin typeface="Dotum"/>
                <a:cs typeface="Dotum"/>
              </a:rPr>
              <a:t>년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총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투자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4A5462"/>
                </a:solidFill>
                <a:latin typeface="Dotum"/>
                <a:cs typeface="Dotum"/>
              </a:rPr>
              <a:t>규모</a:t>
            </a:r>
            <a:r>
              <a:rPr dirty="0" sz="1050" spc="-130">
                <a:solidFill>
                  <a:srgbClr val="4A5462"/>
                </a:solidFill>
                <a:latin typeface="Segoe UI"/>
                <a:cs typeface="Segoe UI"/>
              </a:rPr>
              <a:t>:</a:t>
            </a:r>
            <a:r>
              <a:rPr dirty="0" sz="105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50" spc="-75" b="1">
                <a:solidFill>
                  <a:srgbClr val="4A5462"/>
                </a:solidFill>
                <a:latin typeface="Segoe UI"/>
                <a:cs typeface="Segoe UI"/>
              </a:rPr>
              <a:t>12.6</a:t>
            </a:r>
            <a:r>
              <a:rPr dirty="0" sz="1200" spc="-75">
                <a:solidFill>
                  <a:srgbClr val="4A5462"/>
                </a:solidFill>
                <a:latin typeface="Dotum"/>
                <a:cs typeface="Dotum"/>
              </a:rPr>
              <a:t>억원</a:t>
            </a:r>
            <a:endParaRPr sz="1200">
              <a:latin typeface="Dotum"/>
              <a:cs typeface="Dot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28599" y="4362450"/>
            <a:ext cx="1800225" cy="1247775"/>
            <a:chOff x="228599" y="4362450"/>
            <a:chExt cx="1800225" cy="1247775"/>
          </a:xfrm>
        </p:grpSpPr>
        <p:sp>
          <p:nvSpPr>
            <p:cNvPr id="8" name="object 8" descr=""/>
            <p:cNvSpPr/>
            <p:nvPr/>
          </p:nvSpPr>
          <p:spPr>
            <a:xfrm>
              <a:off x="228599" y="4362450"/>
              <a:ext cx="1800225" cy="1247775"/>
            </a:xfrm>
            <a:custGeom>
              <a:avLst/>
              <a:gdLst/>
              <a:ahLst/>
              <a:cxnLst/>
              <a:rect l="l" t="t" r="r" b="b"/>
              <a:pathLst>
                <a:path w="1800225" h="1247775">
                  <a:moveTo>
                    <a:pt x="1729028" y="1247774"/>
                  </a:moveTo>
                  <a:lnTo>
                    <a:pt x="71196" y="1247774"/>
                  </a:lnTo>
                  <a:lnTo>
                    <a:pt x="66241" y="1247286"/>
                  </a:lnTo>
                  <a:lnTo>
                    <a:pt x="29705" y="1232151"/>
                  </a:lnTo>
                  <a:lnTo>
                    <a:pt x="3885" y="1196112"/>
                  </a:lnTo>
                  <a:lnTo>
                    <a:pt x="0" y="1176577"/>
                  </a:lnTo>
                  <a:lnTo>
                    <a:pt x="0" y="11715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729028" y="0"/>
                  </a:lnTo>
                  <a:lnTo>
                    <a:pt x="1770519" y="15620"/>
                  </a:lnTo>
                  <a:lnTo>
                    <a:pt x="1796338" y="51661"/>
                  </a:lnTo>
                  <a:lnTo>
                    <a:pt x="1800224" y="71196"/>
                  </a:lnTo>
                  <a:lnTo>
                    <a:pt x="1800224" y="1176577"/>
                  </a:lnTo>
                  <a:lnTo>
                    <a:pt x="1784603" y="1218068"/>
                  </a:lnTo>
                  <a:lnTo>
                    <a:pt x="1748562" y="1243888"/>
                  </a:lnTo>
                  <a:lnTo>
                    <a:pt x="1733983" y="1247286"/>
                  </a:lnTo>
                  <a:lnTo>
                    <a:pt x="1729028" y="12477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90599" y="447674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9030" y="71437"/>
                  </a:moveTo>
                  <a:lnTo>
                    <a:pt x="59557" y="71437"/>
                  </a:lnTo>
                  <a:lnTo>
                    <a:pt x="55000" y="70531"/>
                  </a:lnTo>
                  <a:lnTo>
                    <a:pt x="28574" y="40455"/>
                  </a:lnTo>
                  <a:lnTo>
                    <a:pt x="28574" y="30982"/>
                  </a:lnTo>
                  <a:lnTo>
                    <a:pt x="55000" y="906"/>
                  </a:lnTo>
                  <a:lnTo>
                    <a:pt x="59557" y="0"/>
                  </a:lnTo>
                  <a:lnTo>
                    <a:pt x="69030" y="0"/>
                  </a:lnTo>
                  <a:lnTo>
                    <a:pt x="99106" y="26425"/>
                  </a:lnTo>
                  <a:lnTo>
                    <a:pt x="100012" y="30982"/>
                  </a:lnTo>
                  <a:lnTo>
                    <a:pt x="100012" y="40455"/>
                  </a:lnTo>
                  <a:lnTo>
                    <a:pt x="73586" y="70531"/>
                  </a:lnTo>
                  <a:lnTo>
                    <a:pt x="69030" y="71437"/>
                  </a:lnTo>
                  <a:close/>
                </a:path>
                <a:path w="285750" h="228600">
                  <a:moveTo>
                    <a:pt x="233336" y="71437"/>
                  </a:moveTo>
                  <a:lnTo>
                    <a:pt x="223863" y="71437"/>
                  </a:lnTo>
                  <a:lnTo>
                    <a:pt x="219307" y="70531"/>
                  </a:lnTo>
                  <a:lnTo>
                    <a:pt x="192881" y="40455"/>
                  </a:lnTo>
                  <a:lnTo>
                    <a:pt x="192881" y="30982"/>
                  </a:lnTo>
                  <a:lnTo>
                    <a:pt x="219307" y="906"/>
                  </a:lnTo>
                  <a:lnTo>
                    <a:pt x="223863" y="0"/>
                  </a:lnTo>
                  <a:lnTo>
                    <a:pt x="233336" y="0"/>
                  </a:lnTo>
                  <a:lnTo>
                    <a:pt x="263412" y="26425"/>
                  </a:lnTo>
                  <a:lnTo>
                    <a:pt x="264318" y="30982"/>
                  </a:lnTo>
                  <a:lnTo>
                    <a:pt x="264318" y="40455"/>
                  </a:lnTo>
                  <a:lnTo>
                    <a:pt x="237892" y="70531"/>
                  </a:lnTo>
                  <a:lnTo>
                    <a:pt x="233336" y="71437"/>
                  </a:lnTo>
                  <a:close/>
                </a:path>
                <a:path w="285750" h="228600">
                  <a:moveTo>
                    <a:pt x="148558" y="142874"/>
                  </a:moveTo>
                  <a:lnTo>
                    <a:pt x="137191" y="142874"/>
                  </a:lnTo>
                  <a:lnTo>
                    <a:pt x="131723" y="141787"/>
                  </a:lnTo>
                  <a:lnTo>
                    <a:pt x="101100" y="111164"/>
                  </a:lnTo>
                  <a:lnTo>
                    <a:pt x="100012" y="105696"/>
                  </a:lnTo>
                  <a:lnTo>
                    <a:pt x="100012" y="94328"/>
                  </a:lnTo>
                  <a:lnTo>
                    <a:pt x="100862" y="90055"/>
                  </a:lnTo>
                  <a:lnTo>
                    <a:pt x="100978" y="89470"/>
                  </a:lnTo>
                  <a:lnTo>
                    <a:pt x="131723" y="58237"/>
                  </a:lnTo>
                  <a:lnTo>
                    <a:pt x="137191" y="57150"/>
                  </a:lnTo>
                  <a:lnTo>
                    <a:pt x="148558" y="57150"/>
                  </a:lnTo>
                  <a:lnTo>
                    <a:pt x="180299" y="78358"/>
                  </a:lnTo>
                  <a:lnTo>
                    <a:pt x="185737" y="94328"/>
                  </a:lnTo>
                  <a:lnTo>
                    <a:pt x="185737" y="105696"/>
                  </a:lnTo>
                  <a:lnTo>
                    <a:pt x="164528" y="137437"/>
                  </a:lnTo>
                  <a:lnTo>
                    <a:pt x="154026" y="141787"/>
                  </a:lnTo>
                  <a:lnTo>
                    <a:pt x="148558" y="142874"/>
                  </a:lnTo>
                  <a:close/>
                </a:path>
                <a:path w="285750" h="228600">
                  <a:moveTo>
                    <a:pt x="105102" y="142874"/>
                  </a:moveTo>
                  <a:lnTo>
                    <a:pt x="4286" y="142874"/>
                  </a:lnTo>
                  <a:lnTo>
                    <a:pt x="0" y="138588"/>
                  </a:lnTo>
                  <a:lnTo>
                    <a:pt x="0" y="133364"/>
                  </a:lnTo>
                  <a:lnTo>
                    <a:pt x="3745" y="114826"/>
                  </a:lnTo>
                  <a:lnTo>
                    <a:pt x="13958" y="99683"/>
                  </a:lnTo>
                  <a:lnTo>
                    <a:pt x="29101" y="89470"/>
                  </a:lnTo>
                  <a:lnTo>
                    <a:pt x="47639" y="85725"/>
                  </a:lnTo>
                  <a:lnTo>
                    <a:pt x="73803" y="85725"/>
                  </a:lnTo>
                  <a:lnTo>
                    <a:pt x="80353" y="87243"/>
                  </a:lnTo>
                  <a:lnTo>
                    <a:pt x="83996" y="88860"/>
                  </a:lnTo>
                  <a:lnTo>
                    <a:pt x="86617" y="90055"/>
                  </a:lnTo>
                  <a:lnTo>
                    <a:pt x="86037" y="93270"/>
                  </a:lnTo>
                  <a:lnTo>
                    <a:pt x="85769" y="96619"/>
                  </a:lnTo>
                  <a:lnTo>
                    <a:pt x="85769" y="100012"/>
                  </a:lnTo>
                  <a:lnTo>
                    <a:pt x="87126" y="112429"/>
                  </a:lnTo>
                  <a:lnTo>
                    <a:pt x="90999" y="123904"/>
                  </a:lnTo>
                  <a:lnTo>
                    <a:pt x="97090" y="134149"/>
                  </a:lnTo>
                  <a:lnTo>
                    <a:pt x="105102" y="142874"/>
                  </a:lnTo>
                  <a:close/>
                </a:path>
                <a:path w="285750" h="228600">
                  <a:moveTo>
                    <a:pt x="281463" y="142874"/>
                  </a:moveTo>
                  <a:lnTo>
                    <a:pt x="180647" y="142874"/>
                  </a:lnTo>
                  <a:lnTo>
                    <a:pt x="188678" y="134149"/>
                  </a:lnTo>
                  <a:lnTo>
                    <a:pt x="194767" y="123904"/>
                  </a:lnTo>
                  <a:lnTo>
                    <a:pt x="198629" y="112429"/>
                  </a:lnTo>
                  <a:lnTo>
                    <a:pt x="199980" y="100012"/>
                  </a:lnTo>
                  <a:lnTo>
                    <a:pt x="199980" y="96619"/>
                  </a:lnTo>
                  <a:lnTo>
                    <a:pt x="199763" y="94328"/>
                  </a:lnTo>
                  <a:lnTo>
                    <a:pt x="199660" y="93270"/>
                  </a:lnTo>
                  <a:lnTo>
                    <a:pt x="199132" y="90055"/>
                  </a:lnTo>
                  <a:lnTo>
                    <a:pt x="205204" y="87243"/>
                  </a:lnTo>
                  <a:lnTo>
                    <a:pt x="211946" y="85725"/>
                  </a:lnTo>
                  <a:lnTo>
                    <a:pt x="238110" y="85725"/>
                  </a:lnTo>
                  <a:lnTo>
                    <a:pt x="256648" y="89470"/>
                  </a:lnTo>
                  <a:lnTo>
                    <a:pt x="271791" y="99683"/>
                  </a:lnTo>
                  <a:lnTo>
                    <a:pt x="282004" y="114826"/>
                  </a:lnTo>
                  <a:lnTo>
                    <a:pt x="285750" y="133364"/>
                  </a:lnTo>
                  <a:lnTo>
                    <a:pt x="285750" y="138588"/>
                  </a:lnTo>
                  <a:lnTo>
                    <a:pt x="281463" y="142874"/>
                  </a:lnTo>
                  <a:close/>
                </a:path>
                <a:path w="285750" h="228600">
                  <a:moveTo>
                    <a:pt x="223286" y="228600"/>
                  </a:moveTo>
                  <a:lnTo>
                    <a:pt x="62507" y="228600"/>
                  </a:lnTo>
                  <a:lnTo>
                    <a:pt x="57150" y="223242"/>
                  </a:lnTo>
                  <a:lnTo>
                    <a:pt x="57150" y="216678"/>
                  </a:lnTo>
                  <a:lnTo>
                    <a:pt x="61828" y="193516"/>
                  </a:lnTo>
                  <a:lnTo>
                    <a:pt x="74585" y="174597"/>
                  </a:lnTo>
                  <a:lnTo>
                    <a:pt x="93503" y="161840"/>
                  </a:lnTo>
                  <a:lnTo>
                    <a:pt x="116666" y="157162"/>
                  </a:lnTo>
                  <a:lnTo>
                    <a:pt x="169083" y="157162"/>
                  </a:lnTo>
                  <a:lnTo>
                    <a:pt x="192246" y="161840"/>
                  </a:lnTo>
                  <a:lnTo>
                    <a:pt x="211164" y="174597"/>
                  </a:lnTo>
                  <a:lnTo>
                    <a:pt x="223921" y="193516"/>
                  </a:lnTo>
                  <a:lnTo>
                    <a:pt x="228600" y="216678"/>
                  </a:lnTo>
                  <a:lnTo>
                    <a:pt x="228600" y="223242"/>
                  </a:lnTo>
                  <a:lnTo>
                    <a:pt x="223286" y="228600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06896" y="4752978"/>
            <a:ext cx="647065" cy="7499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450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인력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투자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500" spc="-125" b="1">
                <a:solidFill>
                  <a:srgbClr val="1C4ED8"/>
                </a:solidFill>
                <a:latin typeface="Segoe UI"/>
                <a:cs typeface="Segoe UI"/>
              </a:rPr>
              <a:t>5.4</a:t>
            </a:r>
            <a:r>
              <a:rPr dirty="0" sz="1700" spc="-125">
                <a:solidFill>
                  <a:srgbClr val="1C4ED8"/>
                </a:solidFill>
                <a:latin typeface="Dotum"/>
                <a:cs typeface="Dotum"/>
              </a:rPr>
              <a:t>억원</a:t>
            </a:r>
            <a:endParaRPr sz="1700">
              <a:latin typeface="Dotum"/>
              <a:cs typeface="Dotum"/>
            </a:endParaRPr>
          </a:p>
          <a:p>
            <a:pPr marL="17145">
              <a:lnSpc>
                <a:spcPct val="100000"/>
              </a:lnSpc>
              <a:spcBef>
                <a:spcPts val="185"/>
              </a:spcBef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42%</a:t>
            </a:r>
            <a:r>
              <a:rPr dirty="0" sz="900" spc="-1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of</a:t>
            </a:r>
            <a:r>
              <a:rPr dirty="0" sz="900" spc="-1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total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143124" y="4362450"/>
            <a:ext cx="1809750" cy="1247775"/>
            <a:chOff x="2143124" y="4362450"/>
            <a:chExt cx="1809750" cy="1247775"/>
          </a:xfrm>
        </p:grpSpPr>
        <p:sp>
          <p:nvSpPr>
            <p:cNvPr id="12" name="object 12" descr=""/>
            <p:cNvSpPr/>
            <p:nvPr/>
          </p:nvSpPr>
          <p:spPr>
            <a:xfrm>
              <a:off x="2143124" y="4362450"/>
              <a:ext cx="1809750" cy="1247775"/>
            </a:xfrm>
            <a:custGeom>
              <a:avLst/>
              <a:gdLst/>
              <a:ahLst/>
              <a:cxnLst/>
              <a:rect l="l" t="t" r="r" b="b"/>
              <a:pathLst>
                <a:path w="1809750" h="1247775">
                  <a:moveTo>
                    <a:pt x="1738553" y="1247774"/>
                  </a:moveTo>
                  <a:lnTo>
                    <a:pt x="71196" y="1247774"/>
                  </a:lnTo>
                  <a:lnTo>
                    <a:pt x="66241" y="1247286"/>
                  </a:lnTo>
                  <a:lnTo>
                    <a:pt x="29705" y="1232151"/>
                  </a:lnTo>
                  <a:lnTo>
                    <a:pt x="3885" y="1196112"/>
                  </a:lnTo>
                  <a:lnTo>
                    <a:pt x="0" y="1176577"/>
                  </a:lnTo>
                  <a:lnTo>
                    <a:pt x="0" y="11715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738553" y="0"/>
                  </a:lnTo>
                  <a:lnTo>
                    <a:pt x="1780044" y="15620"/>
                  </a:lnTo>
                  <a:lnTo>
                    <a:pt x="1805864" y="51661"/>
                  </a:lnTo>
                  <a:lnTo>
                    <a:pt x="1809749" y="71196"/>
                  </a:lnTo>
                  <a:lnTo>
                    <a:pt x="1809749" y="1176577"/>
                  </a:lnTo>
                  <a:lnTo>
                    <a:pt x="1794127" y="1218068"/>
                  </a:lnTo>
                  <a:lnTo>
                    <a:pt x="1758087" y="1243888"/>
                  </a:lnTo>
                  <a:lnTo>
                    <a:pt x="1743508" y="1247286"/>
                  </a:lnTo>
                  <a:lnTo>
                    <a:pt x="1738553" y="12477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3699" y="4491037"/>
              <a:ext cx="228600" cy="20002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2724546" y="4752978"/>
            <a:ext cx="647065" cy="7499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인프라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1500" spc="-105" b="1">
                <a:solidFill>
                  <a:srgbClr val="1C4ED8"/>
                </a:solidFill>
                <a:latin typeface="Segoe UI"/>
                <a:cs typeface="Segoe UI"/>
              </a:rPr>
              <a:t>4.2</a:t>
            </a:r>
            <a:r>
              <a:rPr dirty="0" sz="1700" spc="-105">
                <a:solidFill>
                  <a:srgbClr val="1C4ED8"/>
                </a:solidFill>
                <a:latin typeface="Dotum"/>
                <a:cs typeface="Dotum"/>
              </a:rPr>
              <a:t>억원</a:t>
            </a:r>
            <a:endParaRPr sz="170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33%</a:t>
            </a:r>
            <a:r>
              <a:rPr dirty="0" sz="900" spc="-1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of</a:t>
            </a:r>
            <a:r>
              <a:rPr dirty="0" sz="900" spc="-1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total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067174" y="4362450"/>
            <a:ext cx="1800225" cy="1247775"/>
            <a:chOff x="4067174" y="4362450"/>
            <a:chExt cx="1800225" cy="1247775"/>
          </a:xfrm>
        </p:grpSpPr>
        <p:sp>
          <p:nvSpPr>
            <p:cNvPr id="16" name="object 16" descr=""/>
            <p:cNvSpPr/>
            <p:nvPr/>
          </p:nvSpPr>
          <p:spPr>
            <a:xfrm>
              <a:off x="4067174" y="4362450"/>
              <a:ext cx="1800225" cy="1247775"/>
            </a:xfrm>
            <a:custGeom>
              <a:avLst/>
              <a:gdLst/>
              <a:ahLst/>
              <a:cxnLst/>
              <a:rect l="l" t="t" r="r" b="b"/>
              <a:pathLst>
                <a:path w="1800225" h="1247775">
                  <a:moveTo>
                    <a:pt x="1729028" y="1247774"/>
                  </a:moveTo>
                  <a:lnTo>
                    <a:pt x="71196" y="1247774"/>
                  </a:lnTo>
                  <a:lnTo>
                    <a:pt x="66241" y="1247286"/>
                  </a:lnTo>
                  <a:lnTo>
                    <a:pt x="29705" y="1232151"/>
                  </a:lnTo>
                  <a:lnTo>
                    <a:pt x="3885" y="1196112"/>
                  </a:lnTo>
                  <a:lnTo>
                    <a:pt x="0" y="1176577"/>
                  </a:lnTo>
                  <a:lnTo>
                    <a:pt x="0" y="11715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729028" y="0"/>
                  </a:lnTo>
                  <a:lnTo>
                    <a:pt x="1770518" y="15620"/>
                  </a:lnTo>
                  <a:lnTo>
                    <a:pt x="1796338" y="51661"/>
                  </a:lnTo>
                  <a:lnTo>
                    <a:pt x="1800225" y="71196"/>
                  </a:lnTo>
                  <a:lnTo>
                    <a:pt x="1800225" y="1176577"/>
                  </a:lnTo>
                  <a:lnTo>
                    <a:pt x="1784602" y="1218068"/>
                  </a:lnTo>
                  <a:lnTo>
                    <a:pt x="1748562" y="1243888"/>
                  </a:lnTo>
                  <a:lnTo>
                    <a:pt x="1733983" y="1247286"/>
                  </a:lnTo>
                  <a:lnTo>
                    <a:pt x="1729028" y="124777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7153" y="4475678"/>
              <a:ext cx="231055" cy="23105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4568527" y="4752978"/>
            <a:ext cx="794385" cy="7499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1350" spc="-190">
                <a:solidFill>
                  <a:srgbClr val="333333"/>
                </a:solidFill>
                <a:latin typeface="Dotum"/>
                <a:cs typeface="Dotum"/>
              </a:rPr>
              <a:t>솔루션</a:t>
            </a:r>
            <a:r>
              <a:rPr dirty="0" sz="1200" spc="-190" b="1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dirty="0" sz="1350" spc="-190">
                <a:solidFill>
                  <a:srgbClr val="333333"/>
                </a:solidFill>
                <a:latin typeface="Dotum"/>
                <a:cs typeface="Dotum"/>
              </a:rPr>
              <a:t>도구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1500" spc="-10" b="1">
                <a:solidFill>
                  <a:srgbClr val="1C4ED8"/>
                </a:solidFill>
                <a:latin typeface="Segoe UI"/>
                <a:cs typeface="Segoe UI"/>
              </a:rPr>
              <a:t>3.0</a:t>
            </a:r>
            <a:r>
              <a:rPr dirty="0" sz="1700" spc="-10">
                <a:solidFill>
                  <a:srgbClr val="1C4ED8"/>
                </a:solidFill>
                <a:latin typeface="Dotum"/>
                <a:cs typeface="Dotum"/>
              </a:rPr>
              <a:t>억원</a:t>
            </a:r>
            <a:endParaRPr sz="170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25%</a:t>
            </a:r>
            <a:r>
              <a:rPr dirty="0" sz="900" spc="-1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of</a:t>
            </a:r>
            <a:r>
              <a:rPr dirty="0" sz="900" spc="-1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total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15900" y="5753467"/>
            <a:ext cx="148653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장기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b="1">
                <a:solidFill>
                  <a:srgbClr val="333333"/>
                </a:solidFill>
                <a:latin typeface="Segoe UI Semibold"/>
                <a:cs typeface="Segoe UI Semibold"/>
              </a:rPr>
              <a:t>TCO</a:t>
            </a:r>
            <a:r>
              <a:rPr dirty="0" sz="1350" spc="-95" b="1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비교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65" b="1">
                <a:solidFill>
                  <a:srgbClr val="333333"/>
                </a:solidFill>
                <a:latin typeface="Segoe UI Semibold"/>
                <a:cs typeface="Segoe UI Semibold"/>
              </a:rPr>
              <a:t>(5</a:t>
            </a:r>
            <a:r>
              <a:rPr dirty="0" sz="1550" spc="-65">
                <a:solidFill>
                  <a:srgbClr val="333333"/>
                </a:solidFill>
                <a:latin typeface="Dotum"/>
                <a:cs typeface="Dotum"/>
              </a:rPr>
              <a:t>년</a:t>
            </a:r>
            <a:r>
              <a:rPr dirty="0" sz="1350" spc="-65" b="1">
                <a:solidFill>
                  <a:srgbClr val="333333"/>
                </a:solidFill>
                <a:latin typeface="Segoe UI Semibold"/>
                <a:cs typeface="Segoe UI Semibold"/>
              </a:rPr>
              <a:t>)</a:t>
            </a:r>
            <a:endParaRPr sz="1350">
              <a:latin typeface="Segoe UI Semibold"/>
              <a:cs typeface="Segoe UI Semibold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095999" y="1162049"/>
            <a:ext cx="9525" cy="7038975"/>
          </a:xfrm>
          <a:custGeom>
            <a:avLst/>
            <a:gdLst/>
            <a:ahLst/>
            <a:cxnLst/>
            <a:rect l="l" t="t" r="r" b="b"/>
            <a:pathLst>
              <a:path w="9525" h="7038975">
                <a:moveTo>
                  <a:pt x="9524" y="7038974"/>
                </a:moveTo>
                <a:lnTo>
                  <a:pt x="0" y="7038974"/>
                </a:lnTo>
                <a:lnTo>
                  <a:pt x="0" y="0"/>
                </a:lnTo>
                <a:lnTo>
                  <a:pt x="9524" y="0"/>
                </a:lnTo>
                <a:lnTo>
                  <a:pt x="9524" y="7038974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6334123" y="6838949"/>
            <a:ext cx="5629275" cy="1257300"/>
            <a:chOff x="6334123" y="6838949"/>
            <a:chExt cx="5629275" cy="1257300"/>
          </a:xfrm>
        </p:grpSpPr>
        <p:sp>
          <p:nvSpPr>
            <p:cNvPr id="22" name="object 22" descr=""/>
            <p:cNvSpPr/>
            <p:nvPr/>
          </p:nvSpPr>
          <p:spPr>
            <a:xfrm>
              <a:off x="6334123" y="6838949"/>
              <a:ext cx="5629275" cy="1257300"/>
            </a:xfrm>
            <a:custGeom>
              <a:avLst/>
              <a:gdLst/>
              <a:ahLst/>
              <a:cxnLst/>
              <a:rect l="l" t="t" r="r" b="b"/>
              <a:pathLst>
                <a:path w="5629275" h="1257300">
                  <a:moveTo>
                    <a:pt x="5558078" y="1257299"/>
                  </a:moveTo>
                  <a:lnTo>
                    <a:pt x="71197" y="1257299"/>
                  </a:lnTo>
                  <a:lnTo>
                    <a:pt x="66241" y="1256811"/>
                  </a:lnTo>
                  <a:lnTo>
                    <a:pt x="29705" y="1241676"/>
                  </a:lnTo>
                  <a:lnTo>
                    <a:pt x="3885" y="1205636"/>
                  </a:lnTo>
                  <a:lnTo>
                    <a:pt x="0" y="1186102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5622" y="29703"/>
                  </a:lnTo>
                  <a:lnTo>
                    <a:pt x="51662" y="3885"/>
                  </a:lnTo>
                  <a:lnTo>
                    <a:pt x="71197" y="0"/>
                  </a:lnTo>
                  <a:lnTo>
                    <a:pt x="5558078" y="0"/>
                  </a:lnTo>
                  <a:lnTo>
                    <a:pt x="5599567" y="15621"/>
                  </a:lnTo>
                  <a:lnTo>
                    <a:pt x="5625388" y="51660"/>
                  </a:lnTo>
                  <a:lnTo>
                    <a:pt x="5629273" y="71196"/>
                  </a:lnTo>
                  <a:lnTo>
                    <a:pt x="5629273" y="1186102"/>
                  </a:lnTo>
                  <a:lnTo>
                    <a:pt x="5613651" y="1227592"/>
                  </a:lnTo>
                  <a:lnTo>
                    <a:pt x="5577612" y="1253412"/>
                  </a:lnTo>
                  <a:lnTo>
                    <a:pt x="5563032" y="1256811"/>
                  </a:lnTo>
                  <a:lnTo>
                    <a:pt x="5558078" y="12572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67462" y="7048499"/>
              <a:ext cx="57150" cy="857250"/>
            </a:xfrm>
            <a:custGeom>
              <a:avLst/>
              <a:gdLst/>
              <a:ahLst/>
              <a:cxnLst/>
              <a:rect l="l" t="t" r="r" b="b"/>
              <a:pathLst>
                <a:path w="57150" h="857250">
                  <a:moveTo>
                    <a:pt x="57150" y="824890"/>
                  </a:moveTo>
                  <a:lnTo>
                    <a:pt x="32372" y="800100"/>
                  </a:lnTo>
                  <a:lnTo>
                    <a:pt x="24790" y="800100"/>
                  </a:lnTo>
                  <a:lnTo>
                    <a:pt x="0" y="824890"/>
                  </a:lnTo>
                  <a:lnTo>
                    <a:pt x="0" y="832472"/>
                  </a:lnTo>
                  <a:lnTo>
                    <a:pt x="24790" y="857250"/>
                  </a:lnTo>
                  <a:lnTo>
                    <a:pt x="32372" y="857250"/>
                  </a:lnTo>
                  <a:lnTo>
                    <a:pt x="57150" y="832472"/>
                  </a:lnTo>
                  <a:lnTo>
                    <a:pt x="57150" y="828675"/>
                  </a:lnTo>
                  <a:lnTo>
                    <a:pt x="57150" y="824890"/>
                  </a:lnTo>
                  <a:close/>
                </a:path>
                <a:path w="57150" h="857250">
                  <a:moveTo>
                    <a:pt x="57150" y="558190"/>
                  </a:moveTo>
                  <a:lnTo>
                    <a:pt x="32372" y="533400"/>
                  </a:lnTo>
                  <a:lnTo>
                    <a:pt x="24790" y="533400"/>
                  </a:lnTo>
                  <a:lnTo>
                    <a:pt x="0" y="558190"/>
                  </a:lnTo>
                  <a:lnTo>
                    <a:pt x="0" y="565772"/>
                  </a:lnTo>
                  <a:lnTo>
                    <a:pt x="24790" y="590550"/>
                  </a:lnTo>
                  <a:lnTo>
                    <a:pt x="32372" y="590550"/>
                  </a:lnTo>
                  <a:lnTo>
                    <a:pt x="57150" y="565772"/>
                  </a:lnTo>
                  <a:lnTo>
                    <a:pt x="57150" y="561975"/>
                  </a:lnTo>
                  <a:lnTo>
                    <a:pt x="57150" y="558190"/>
                  </a:lnTo>
                  <a:close/>
                </a:path>
                <a:path w="57150" h="857250">
                  <a:moveTo>
                    <a:pt x="57150" y="291490"/>
                  </a:moveTo>
                  <a:lnTo>
                    <a:pt x="32372" y="266700"/>
                  </a:lnTo>
                  <a:lnTo>
                    <a:pt x="24790" y="266700"/>
                  </a:lnTo>
                  <a:lnTo>
                    <a:pt x="0" y="291490"/>
                  </a:lnTo>
                  <a:lnTo>
                    <a:pt x="0" y="299072"/>
                  </a:lnTo>
                  <a:lnTo>
                    <a:pt x="24790" y="323850"/>
                  </a:lnTo>
                  <a:lnTo>
                    <a:pt x="32372" y="323850"/>
                  </a:lnTo>
                  <a:lnTo>
                    <a:pt x="57150" y="299072"/>
                  </a:lnTo>
                  <a:lnTo>
                    <a:pt x="57150" y="295275"/>
                  </a:lnTo>
                  <a:lnTo>
                    <a:pt x="57150" y="291490"/>
                  </a:lnTo>
                  <a:close/>
                </a:path>
                <a:path w="57150" h="857250">
                  <a:moveTo>
                    <a:pt x="57150" y="24790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4124" y="1214437"/>
            <a:ext cx="228600" cy="200025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6664325" y="1135024"/>
            <a:ext cx="141351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047857"/>
                </a:solidFill>
                <a:latin typeface="Dotum"/>
                <a:cs typeface="Dotum"/>
              </a:rPr>
              <a:t>투자</a:t>
            </a:r>
            <a:r>
              <a:rPr dirty="0" sz="2050" spc="-19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047857"/>
                </a:solidFill>
                <a:latin typeface="Dotum"/>
                <a:cs typeface="Dotum"/>
              </a:rPr>
              <a:t>수익</a:t>
            </a:r>
            <a:r>
              <a:rPr dirty="0" sz="2050" spc="-19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047857"/>
                </a:solidFill>
                <a:latin typeface="Dotum"/>
                <a:cs typeface="Dotum"/>
              </a:rPr>
              <a:t>분석</a:t>
            </a:r>
            <a:endParaRPr sz="2050">
              <a:latin typeface="Dotum"/>
              <a:cs typeface="Dot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321424" y="3934193"/>
            <a:ext cx="133794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정량적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효과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145" b="1">
                <a:solidFill>
                  <a:srgbClr val="333333"/>
                </a:solidFill>
                <a:latin typeface="Segoe UI Semibold"/>
                <a:cs typeface="Segoe UI Semibold"/>
              </a:rPr>
              <a:t>(</a:t>
            </a:r>
            <a:r>
              <a:rPr dirty="0" sz="1550" spc="-145">
                <a:solidFill>
                  <a:srgbClr val="333333"/>
                </a:solidFill>
                <a:latin typeface="Dotum"/>
                <a:cs typeface="Dotum"/>
              </a:rPr>
              <a:t>연간</a:t>
            </a:r>
            <a:r>
              <a:rPr dirty="0" sz="1350" spc="-145" b="1">
                <a:solidFill>
                  <a:srgbClr val="333333"/>
                </a:solidFill>
                <a:latin typeface="Segoe UI Semibold"/>
                <a:cs typeface="Segoe UI Semibold"/>
              </a:rPr>
              <a:t>)</a:t>
            </a:r>
            <a:endParaRPr sz="1350">
              <a:latin typeface="Segoe UI Semibold"/>
              <a:cs typeface="Segoe UI Semibold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334123" y="4324349"/>
            <a:ext cx="2762250" cy="914400"/>
          </a:xfrm>
          <a:custGeom>
            <a:avLst/>
            <a:gdLst/>
            <a:ahLst/>
            <a:cxnLst/>
            <a:rect l="l" t="t" r="r" b="b"/>
            <a:pathLst>
              <a:path w="2762250" h="914400">
                <a:moveTo>
                  <a:pt x="2691052" y="914399"/>
                </a:moveTo>
                <a:lnTo>
                  <a:pt x="71197" y="914399"/>
                </a:lnTo>
                <a:lnTo>
                  <a:pt x="66241" y="913911"/>
                </a:lnTo>
                <a:lnTo>
                  <a:pt x="29705" y="898777"/>
                </a:lnTo>
                <a:lnTo>
                  <a:pt x="3885" y="862737"/>
                </a:lnTo>
                <a:lnTo>
                  <a:pt x="0" y="843202"/>
                </a:lnTo>
                <a:lnTo>
                  <a:pt x="0" y="838199"/>
                </a:lnTo>
                <a:lnTo>
                  <a:pt x="0" y="71196"/>
                </a:lnTo>
                <a:lnTo>
                  <a:pt x="15622" y="29705"/>
                </a:lnTo>
                <a:lnTo>
                  <a:pt x="51662" y="3885"/>
                </a:lnTo>
                <a:lnTo>
                  <a:pt x="71197" y="0"/>
                </a:lnTo>
                <a:lnTo>
                  <a:pt x="2691052" y="0"/>
                </a:lnTo>
                <a:lnTo>
                  <a:pt x="2732544" y="15621"/>
                </a:lnTo>
                <a:lnTo>
                  <a:pt x="2758363" y="51661"/>
                </a:lnTo>
                <a:lnTo>
                  <a:pt x="2762249" y="71196"/>
                </a:lnTo>
                <a:lnTo>
                  <a:pt x="2762249" y="843202"/>
                </a:lnTo>
                <a:lnTo>
                  <a:pt x="2746627" y="884694"/>
                </a:lnTo>
                <a:lnTo>
                  <a:pt x="2710587" y="910513"/>
                </a:lnTo>
                <a:lnTo>
                  <a:pt x="2696008" y="913911"/>
                </a:lnTo>
                <a:lnTo>
                  <a:pt x="2691052" y="914399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435724" y="4422749"/>
            <a:ext cx="967105" cy="711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055E45"/>
                </a:solidFill>
                <a:latin typeface="Dotum"/>
                <a:cs typeface="Dotum"/>
              </a:rPr>
              <a:t>다운타임</a:t>
            </a:r>
            <a:r>
              <a:rPr dirty="0" sz="1350" spc="-110">
                <a:solidFill>
                  <a:srgbClr val="055E45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055E45"/>
                </a:solidFill>
                <a:latin typeface="Dotum"/>
                <a:cs typeface="Dotum"/>
              </a:rPr>
              <a:t>감소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800" spc="-10" b="1">
                <a:solidFill>
                  <a:srgbClr val="049569"/>
                </a:solidFill>
                <a:latin typeface="Segoe UI"/>
                <a:cs typeface="Segoe UI"/>
              </a:rPr>
              <a:t>3.4</a:t>
            </a:r>
            <a:r>
              <a:rPr dirty="0" sz="2050" spc="-10">
                <a:solidFill>
                  <a:srgbClr val="049569"/>
                </a:solidFill>
                <a:latin typeface="Dotum"/>
                <a:cs typeface="Dotum"/>
              </a:rPr>
              <a:t>억원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장애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시간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80%</a:t>
            </a:r>
            <a:r>
              <a:rPr dirty="0" sz="900" spc="-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35">
                <a:solidFill>
                  <a:srgbClr val="4A5462"/>
                </a:solidFill>
                <a:latin typeface="Dotum"/>
                <a:cs typeface="Dotum"/>
              </a:rPr>
              <a:t>감소</a:t>
            </a:r>
            <a:endParaRPr sz="1000">
              <a:latin typeface="Dotum"/>
              <a:cs typeface="Dotum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9210673" y="4324349"/>
            <a:ext cx="2752725" cy="914400"/>
          </a:xfrm>
          <a:custGeom>
            <a:avLst/>
            <a:gdLst/>
            <a:ahLst/>
            <a:cxnLst/>
            <a:rect l="l" t="t" r="r" b="b"/>
            <a:pathLst>
              <a:path w="2752725" h="914400">
                <a:moveTo>
                  <a:pt x="2681528" y="914399"/>
                </a:moveTo>
                <a:lnTo>
                  <a:pt x="71196" y="914399"/>
                </a:lnTo>
                <a:lnTo>
                  <a:pt x="66241" y="913911"/>
                </a:lnTo>
                <a:lnTo>
                  <a:pt x="29705" y="898777"/>
                </a:lnTo>
                <a:lnTo>
                  <a:pt x="3885" y="862737"/>
                </a:lnTo>
                <a:lnTo>
                  <a:pt x="0" y="843202"/>
                </a:lnTo>
                <a:lnTo>
                  <a:pt x="0" y="8381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681528" y="0"/>
                </a:lnTo>
                <a:lnTo>
                  <a:pt x="2723017" y="15621"/>
                </a:lnTo>
                <a:lnTo>
                  <a:pt x="2748838" y="51661"/>
                </a:lnTo>
                <a:lnTo>
                  <a:pt x="2752724" y="71196"/>
                </a:lnTo>
                <a:lnTo>
                  <a:pt x="2752724" y="843202"/>
                </a:lnTo>
                <a:lnTo>
                  <a:pt x="2737101" y="884694"/>
                </a:lnTo>
                <a:lnTo>
                  <a:pt x="2701062" y="910513"/>
                </a:lnTo>
                <a:lnTo>
                  <a:pt x="2686482" y="913911"/>
                </a:lnTo>
                <a:lnTo>
                  <a:pt x="2681528" y="914399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9307511" y="4422749"/>
            <a:ext cx="1072515" cy="711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055E45"/>
                </a:solidFill>
                <a:latin typeface="Dotum"/>
                <a:cs typeface="Dotum"/>
              </a:rPr>
              <a:t>운영</a:t>
            </a:r>
            <a:r>
              <a:rPr dirty="0" sz="1350" spc="-114">
                <a:solidFill>
                  <a:srgbClr val="055E45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055E45"/>
                </a:solidFill>
                <a:latin typeface="Dotum"/>
                <a:cs typeface="Dotum"/>
              </a:rPr>
              <a:t>효율화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800" spc="-10" b="1">
                <a:solidFill>
                  <a:srgbClr val="049569"/>
                </a:solidFill>
                <a:latin typeface="Segoe UI"/>
                <a:cs typeface="Segoe UI"/>
              </a:rPr>
              <a:t>2.1</a:t>
            </a:r>
            <a:r>
              <a:rPr dirty="0" sz="2050" spc="-10">
                <a:solidFill>
                  <a:srgbClr val="049569"/>
                </a:solidFill>
                <a:latin typeface="Dotum"/>
                <a:cs typeface="Dotum"/>
              </a:rPr>
              <a:t>억원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인력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리소스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40%</a:t>
            </a:r>
            <a:r>
              <a:rPr dirty="0" sz="900" spc="-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30">
                <a:solidFill>
                  <a:srgbClr val="4A5462"/>
                </a:solidFill>
                <a:latin typeface="Dotum"/>
                <a:cs typeface="Dotum"/>
              </a:rPr>
              <a:t>절감</a:t>
            </a:r>
            <a:endParaRPr sz="1000">
              <a:latin typeface="Dotum"/>
              <a:cs typeface="Dotum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334123" y="5353050"/>
            <a:ext cx="2762250" cy="914400"/>
          </a:xfrm>
          <a:custGeom>
            <a:avLst/>
            <a:gdLst/>
            <a:ahLst/>
            <a:cxnLst/>
            <a:rect l="l" t="t" r="r" b="b"/>
            <a:pathLst>
              <a:path w="2762250" h="914400">
                <a:moveTo>
                  <a:pt x="2691052" y="914399"/>
                </a:moveTo>
                <a:lnTo>
                  <a:pt x="71197" y="914399"/>
                </a:lnTo>
                <a:lnTo>
                  <a:pt x="66241" y="913911"/>
                </a:lnTo>
                <a:lnTo>
                  <a:pt x="29705" y="898776"/>
                </a:lnTo>
                <a:lnTo>
                  <a:pt x="3885" y="862736"/>
                </a:lnTo>
                <a:lnTo>
                  <a:pt x="0" y="843201"/>
                </a:lnTo>
                <a:lnTo>
                  <a:pt x="0" y="838199"/>
                </a:lnTo>
                <a:lnTo>
                  <a:pt x="0" y="71195"/>
                </a:lnTo>
                <a:lnTo>
                  <a:pt x="15622" y="29704"/>
                </a:lnTo>
                <a:lnTo>
                  <a:pt x="51662" y="3884"/>
                </a:lnTo>
                <a:lnTo>
                  <a:pt x="71197" y="0"/>
                </a:lnTo>
                <a:lnTo>
                  <a:pt x="2691052" y="0"/>
                </a:lnTo>
                <a:lnTo>
                  <a:pt x="2732544" y="15621"/>
                </a:lnTo>
                <a:lnTo>
                  <a:pt x="2758363" y="51660"/>
                </a:lnTo>
                <a:lnTo>
                  <a:pt x="2762249" y="71195"/>
                </a:lnTo>
                <a:lnTo>
                  <a:pt x="2762249" y="843201"/>
                </a:lnTo>
                <a:lnTo>
                  <a:pt x="2746627" y="884693"/>
                </a:lnTo>
                <a:lnTo>
                  <a:pt x="2710587" y="910512"/>
                </a:lnTo>
                <a:lnTo>
                  <a:pt x="2696008" y="913911"/>
                </a:lnTo>
                <a:lnTo>
                  <a:pt x="2691052" y="914399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435724" y="5451449"/>
            <a:ext cx="967105" cy="711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055E45"/>
                </a:solidFill>
                <a:latin typeface="Segoe UI"/>
                <a:cs typeface="Segoe UI"/>
              </a:rPr>
              <a:t>TTM</a:t>
            </a:r>
            <a:r>
              <a:rPr dirty="0" sz="1200" spc="20" b="1">
                <a:solidFill>
                  <a:srgbClr val="055E45"/>
                </a:solidFill>
                <a:latin typeface="Segoe UI"/>
                <a:cs typeface="Segoe UI"/>
              </a:rPr>
              <a:t> </a:t>
            </a:r>
            <a:r>
              <a:rPr dirty="0" sz="1350" spc="-285">
                <a:solidFill>
                  <a:srgbClr val="055E45"/>
                </a:solidFill>
                <a:latin typeface="Dotum"/>
                <a:cs typeface="Dotum"/>
              </a:rPr>
              <a:t>단축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800" spc="-10" b="1">
                <a:solidFill>
                  <a:srgbClr val="049569"/>
                </a:solidFill>
                <a:latin typeface="Segoe UI"/>
                <a:cs typeface="Segoe UI"/>
              </a:rPr>
              <a:t>3.8</a:t>
            </a:r>
            <a:r>
              <a:rPr dirty="0" sz="2050" spc="-10">
                <a:solidFill>
                  <a:srgbClr val="049569"/>
                </a:solidFill>
                <a:latin typeface="Dotum"/>
                <a:cs typeface="Dotum"/>
              </a:rPr>
              <a:t>억원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출시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기간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50%</a:t>
            </a:r>
            <a:r>
              <a:rPr dirty="0" sz="900" spc="-2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35">
                <a:solidFill>
                  <a:srgbClr val="4A5462"/>
                </a:solidFill>
                <a:latin typeface="Dotum"/>
                <a:cs typeface="Dotum"/>
              </a:rPr>
              <a:t>단축</a:t>
            </a:r>
            <a:endParaRPr sz="1000">
              <a:latin typeface="Dotum"/>
              <a:cs typeface="Dotum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9210673" y="5353050"/>
            <a:ext cx="2752725" cy="914400"/>
          </a:xfrm>
          <a:custGeom>
            <a:avLst/>
            <a:gdLst/>
            <a:ahLst/>
            <a:cxnLst/>
            <a:rect l="l" t="t" r="r" b="b"/>
            <a:pathLst>
              <a:path w="2752725" h="914400">
                <a:moveTo>
                  <a:pt x="2681528" y="914399"/>
                </a:moveTo>
                <a:lnTo>
                  <a:pt x="71196" y="914399"/>
                </a:lnTo>
                <a:lnTo>
                  <a:pt x="66241" y="913911"/>
                </a:lnTo>
                <a:lnTo>
                  <a:pt x="29705" y="898776"/>
                </a:lnTo>
                <a:lnTo>
                  <a:pt x="3885" y="862736"/>
                </a:lnTo>
                <a:lnTo>
                  <a:pt x="0" y="843201"/>
                </a:lnTo>
                <a:lnTo>
                  <a:pt x="0" y="838199"/>
                </a:lnTo>
                <a:lnTo>
                  <a:pt x="0" y="71195"/>
                </a:lnTo>
                <a:lnTo>
                  <a:pt x="15621" y="29704"/>
                </a:lnTo>
                <a:lnTo>
                  <a:pt x="51661" y="3884"/>
                </a:lnTo>
                <a:lnTo>
                  <a:pt x="71196" y="0"/>
                </a:lnTo>
                <a:lnTo>
                  <a:pt x="2681528" y="0"/>
                </a:lnTo>
                <a:lnTo>
                  <a:pt x="2723017" y="15621"/>
                </a:lnTo>
                <a:lnTo>
                  <a:pt x="2748838" y="51660"/>
                </a:lnTo>
                <a:lnTo>
                  <a:pt x="2752724" y="71195"/>
                </a:lnTo>
                <a:lnTo>
                  <a:pt x="2752724" y="843201"/>
                </a:lnTo>
                <a:lnTo>
                  <a:pt x="2737101" y="884693"/>
                </a:lnTo>
                <a:lnTo>
                  <a:pt x="2701062" y="910512"/>
                </a:lnTo>
                <a:lnTo>
                  <a:pt x="2686482" y="913911"/>
                </a:lnTo>
                <a:lnTo>
                  <a:pt x="2681528" y="914399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9307511" y="5451449"/>
            <a:ext cx="929640" cy="711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055E45"/>
                </a:solidFill>
                <a:latin typeface="Dotum"/>
                <a:cs typeface="Dotum"/>
              </a:rPr>
              <a:t>확장성</a:t>
            </a:r>
            <a:r>
              <a:rPr dirty="0" sz="1350" spc="-110">
                <a:solidFill>
                  <a:srgbClr val="055E45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055E45"/>
                </a:solidFill>
                <a:latin typeface="Dotum"/>
                <a:cs typeface="Dotum"/>
              </a:rPr>
              <a:t>개선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800" spc="-10" b="1">
                <a:solidFill>
                  <a:srgbClr val="049569"/>
                </a:solidFill>
                <a:latin typeface="Segoe UI"/>
                <a:cs typeface="Segoe UI"/>
              </a:rPr>
              <a:t>1.7</a:t>
            </a:r>
            <a:r>
              <a:rPr dirty="0" sz="2050" spc="-10">
                <a:solidFill>
                  <a:srgbClr val="049569"/>
                </a:solidFill>
                <a:latin typeface="Dotum"/>
                <a:cs typeface="Dotum"/>
              </a:rPr>
              <a:t>억원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리소스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효율적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30">
                <a:solidFill>
                  <a:srgbClr val="4A5462"/>
                </a:solidFill>
                <a:latin typeface="Dotum"/>
                <a:cs typeface="Dotum"/>
              </a:rPr>
              <a:t>사용</a:t>
            </a:r>
            <a:endParaRPr sz="1000">
              <a:latin typeface="Dotum"/>
              <a:cs typeface="Dotum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321424" y="6486893"/>
            <a:ext cx="2039620" cy="1485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정성적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효과</a:t>
            </a:r>
            <a:endParaRPr sz="1550">
              <a:latin typeface="Dotum"/>
              <a:cs typeface="Dotum"/>
            </a:endParaRPr>
          </a:p>
          <a:p>
            <a:pPr marL="316865" marR="327025">
              <a:lnSpc>
                <a:spcPct val="129600"/>
              </a:lnSpc>
              <a:spcBef>
                <a:spcPts val="123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시장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변화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대응력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강화</a:t>
            </a:r>
            <a:r>
              <a:rPr dirty="0" sz="1350" spc="50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고객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만족도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향상</a:t>
            </a:r>
            <a:endParaRPr sz="1350">
              <a:latin typeface="Dotum"/>
              <a:cs typeface="Dotum"/>
            </a:endParaRPr>
          </a:p>
          <a:p>
            <a:pPr marL="316865" marR="5080">
              <a:lnSpc>
                <a:spcPct val="129600"/>
              </a:lnSpc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개발자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경험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생산성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개선</a:t>
            </a:r>
            <a:r>
              <a:rPr dirty="0" sz="1350" spc="50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혁신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역량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강화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28599" y="8429624"/>
            <a:ext cx="11734800" cy="1009650"/>
            <a:chOff x="228599" y="8429624"/>
            <a:chExt cx="11734800" cy="1009650"/>
          </a:xfrm>
        </p:grpSpPr>
        <p:sp>
          <p:nvSpPr>
            <p:cNvPr id="37" name="object 37" descr=""/>
            <p:cNvSpPr/>
            <p:nvPr/>
          </p:nvSpPr>
          <p:spPr>
            <a:xfrm>
              <a:off x="247649" y="8429624"/>
              <a:ext cx="11715750" cy="1009650"/>
            </a:xfrm>
            <a:custGeom>
              <a:avLst/>
              <a:gdLst/>
              <a:ahLst/>
              <a:cxnLst/>
              <a:rect l="l" t="t" r="r" b="b"/>
              <a:pathLst>
                <a:path w="11715750" h="1009650">
                  <a:moveTo>
                    <a:pt x="11644552" y="1009649"/>
                  </a:moveTo>
                  <a:lnTo>
                    <a:pt x="53397" y="1009649"/>
                  </a:lnTo>
                  <a:lnTo>
                    <a:pt x="49680" y="1009161"/>
                  </a:lnTo>
                  <a:lnTo>
                    <a:pt x="14085" y="983792"/>
                  </a:lnTo>
                  <a:lnTo>
                    <a:pt x="366" y="943408"/>
                  </a:lnTo>
                  <a:lnTo>
                    <a:pt x="0" y="938453"/>
                  </a:lnTo>
                  <a:lnTo>
                    <a:pt x="0" y="9334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11644552" y="0"/>
                  </a:lnTo>
                  <a:lnTo>
                    <a:pt x="11686041" y="15621"/>
                  </a:lnTo>
                  <a:lnTo>
                    <a:pt x="11711862" y="51661"/>
                  </a:lnTo>
                  <a:lnTo>
                    <a:pt x="11715747" y="71196"/>
                  </a:lnTo>
                  <a:lnTo>
                    <a:pt x="11715747" y="938453"/>
                  </a:lnTo>
                  <a:lnTo>
                    <a:pt x="11700125" y="979942"/>
                  </a:lnTo>
                  <a:lnTo>
                    <a:pt x="11664085" y="1005762"/>
                  </a:lnTo>
                  <a:lnTo>
                    <a:pt x="11649506" y="1009161"/>
                  </a:lnTo>
                  <a:lnTo>
                    <a:pt x="11644552" y="10096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28599" y="8429901"/>
              <a:ext cx="70485" cy="1009650"/>
            </a:xfrm>
            <a:custGeom>
              <a:avLst/>
              <a:gdLst/>
              <a:ahLst/>
              <a:cxnLst/>
              <a:rect l="l" t="t" r="r" b="b"/>
              <a:pathLst>
                <a:path w="70485" h="1009650">
                  <a:moveTo>
                    <a:pt x="70450" y="1009094"/>
                  </a:moveTo>
                  <a:lnTo>
                    <a:pt x="33857" y="996541"/>
                  </a:lnTo>
                  <a:lnTo>
                    <a:pt x="5800" y="962331"/>
                  </a:lnTo>
                  <a:lnTo>
                    <a:pt x="0" y="93317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933172"/>
                  </a:lnTo>
                  <a:lnTo>
                    <a:pt x="44515" y="975513"/>
                  </a:lnTo>
                  <a:lnTo>
                    <a:pt x="66287" y="1007438"/>
                  </a:lnTo>
                  <a:lnTo>
                    <a:pt x="70450" y="100909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712217" y="8531225"/>
            <a:ext cx="1210945" cy="74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185"/>
              </a:lnSpc>
              <a:spcBef>
                <a:spcPts val="100"/>
              </a:spcBef>
            </a:pPr>
            <a:r>
              <a:rPr dirty="0" sz="3600" spc="-20" b="1">
                <a:solidFill>
                  <a:srgbClr val="049569"/>
                </a:solidFill>
                <a:latin typeface="Segoe UI"/>
                <a:cs typeface="Segoe UI"/>
              </a:rPr>
              <a:t>372%</a:t>
            </a:r>
            <a:endParaRPr sz="3600">
              <a:latin typeface="Segoe UI"/>
              <a:cs typeface="Segoe UI"/>
            </a:endParaRPr>
          </a:p>
          <a:p>
            <a:pPr algn="ctr">
              <a:lnSpc>
                <a:spcPts val="1485"/>
              </a:lnSpc>
            </a:pPr>
            <a:r>
              <a:rPr dirty="0" sz="1200" spc="-135" b="1">
                <a:solidFill>
                  <a:srgbClr val="374050"/>
                </a:solidFill>
                <a:latin typeface="Segoe UI"/>
                <a:cs typeface="Segoe UI"/>
              </a:rPr>
              <a:t>5</a:t>
            </a:r>
            <a:r>
              <a:rPr dirty="0" sz="1350" spc="-135">
                <a:solidFill>
                  <a:srgbClr val="374050"/>
                </a:solidFill>
                <a:latin typeface="Dotum"/>
                <a:cs typeface="Dotum"/>
              </a:rPr>
              <a:t>년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200" spc="-25" b="1">
                <a:solidFill>
                  <a:srgbClr val="374050"/>
                </a:solidFill>
                <a:latin typeface="Segoe UI"/>
                <a:cs typeface="Segoe UI"/>
              </a:rPr>
              <a:t>ROI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4219574" y="8686799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9524" y="495299"/>
                </a:moveTo>
                <a:lnTo>
                  <a:pt x="0" y="495299"/>
                </a:lnTo>
                <a:lnTo>
                  <a:pt x="0" y="0"/>
                </a:lnTo>
                <a:lnTo>
                  <a:pt x="9524" y="0"/>
                </a:lnTo>
                <a:lnTo>
                  <a:pt x="9524" y="495299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4441725" y="8649204"/>
            <a:ext cx="6320155" cy="5232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700" spc="-325">
                <a:solidFill>
                  <a:srgbClr val="1C4ED8"/>
                </a:solidFill>
                <a:latin typeface="Dotum"/>
                <a:cs typeface="Dotum"/>
              </a:rPr>
              <a:t>투자</a:t>
            </a:r>
            <a:r>
              <a:rPr dirty="0" sz="170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1C4ED8"/>
                </a:solidFill>
                <a:latin typeface="Dotum"/>
                <a:cs typeface="Dotum"/>
              </a:rPr>
              <a:t>회수</a:t>
            </a:r>
            <a:r>
              <a:rPr dirty="0" sz="1700" spc="-145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700" spc="-225">
                <a:solidFill>
                  <a:srgbClr val="1C4ED8"/>
                </a:solidFill>
                <a:latin typeface="Dotum"/>
                <a:cs typeface="Dotum"/>
              </a:rPr>
              <a:t>기간</a:t>
            </a:r>
            <a:r>
              <a:rPr dirty="0" sz="1500" spc="-225" b="1">
                <a:solidFill>
                  <a:srgbClr val="1C4ED8"/>
                </a:solidFill>
                <a:latin typeface="Segoe UI"/>
                <a:cs typeface="Segoe UI"/>
              </a:rPr>
              <a:t>:</a:t>
            </a:r>
            <a:r>
              <a:rPr dirty="0" sz="1500" spc="10" b="1">
                <a:solidFill>
                  <a:srgbClr val="1C4ED8"/>
                </a:solidFill>
                <a:latin typeface="Segoe UI"/>
                <a:cs typeface="Segoe UI"/>
              </a:rPr>
              <a:t> </a:t>
            </a:r>
            <a:r>
              <a:rPr dirty="0" sz="1500" spc="-20" b="1">
                <a:solidFill>
                  <a:srgbClr val="049569"/>
                </a:solidFill>
                <a:latin typeface="Segoe UI"/>
                <a:cs typeface="Segoe UI"/>
              </a:rPr>
              <a:t>19</a:t>
            </a:r>
            <a:r>
              <a:rPr dirty="0" sz="1700" spc="-20">
                <a:solidFill>
                  <a:srgbClr val="049569"/>
                </a:solidFill>
                <a:latin typeface="Dotum"/>
                <a:cs typeface="Dotum"/>
              </a:rPr>
              <a:t>개월</a:t>
            </a:r>
            <a:endParaRPr sz="17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MSA</a:t>
            </a:r>
            <a:r>
              <a:rPr dirty="0" sz="1200" spc="1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전환은</a:t>
            </a:r>
            <a:r>
              <a:rPr dirty="0" sz="135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초기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투자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이후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지속적인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비용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절감과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비즈니스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가치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창출로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200" spc="-140">
                <a:solidFill>
                  <a:srgbClr val="374050"/>
                </a:solidFill>
                <a:latin typeface="Segoe UI"/>
                <a:cs typeface="Segoe UI"/>
              </a:rPr>
              <a:t>19</a:t>
            </a:r>
            <a:r>
              <a:rPr dirty="0" sz="1350" spc="-140">
                <a:solidFill>
                  <a:srgbClr val="374050"/>
                </a:solidFill>
                <a:latin typeface="Dotum"/>
                <a:cs typeface="Dotum"/>
              </a:rPr>
              <a:t>개월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내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투자금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회수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74050"/>
                </a:solidFill>
                <a:latin typeface="Dotum"/>
                <a:cs typeface="Dotum"/>
              </a:rPr>
              <a:t>가능</a:t>
            </a:r>
            <a:endParaRPr sz="1350">
              <a:latin typeface="Dotum"/>
              <a:cs typeface="Dotum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600" y="1619250"/>
            <a:ext cx="5638799" cy="2095499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" y="6105525"/>
            <a:ext cx="5638799" cy="2095499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4125" y="1619250"/>
            <a:ext cx="5629274" cy="2095499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10658474" y="9086850"/>
            <a:ext cx="1343025" cy="323850"/>
            <a:chOff x="10658474" y="9086850"/>
            <a:chExt cx="1343025" cy="323850"/>
          </a:xfrm>
        </p:grpSpPr>
        <p:sp>
          <p:nvSpPr>
            <p:cNvPr id="46" name="object 46" descr=""/>
            <p:cNvSpPr/>
            <p:nvPr/>
          </p:nvSpPr>
          <p:spPr>
            <a:xfrm>
              <a:off x="10658474" y="9086850"/>
              <a:ext cx="1343025" cy="323850"/>
            </a:xfrm>
            <a:custGeom>
              <a:avLst/>
              <a:gdLst/>
              <a:ahLst/>
              <a:cxnLst/>
              <a:rect l="l" t="t" r="r" b="b"/>
              <a:pathLst>
                <a:path w="1343025" h="323850">
                  <a:moveTo>
                    <a:pt x="13099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09977" y="0"/>
                  </a:lnTo>
                  <a:lnTo>
                    <a:pt x="1342057" y="28187"/>
                  </a:lnTo>
                  <a:lnTo>
                    <a:pt x="1343024" y="33047"/>
                  </a:lnTo>
                  <a:lnTo>
                    <a:pt x="1343024" y="290802"/>
                  </a:lnTo>
                  <a:lnTo>
                    <a:pt x="1314837" y="322883"/>
                  </a:lnTo>
                  <a:lnTo>
                    <a:pt x="13099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72774" y="9182099"/>
              <a:ext cx="133349" cy="133349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10949234" y="9160358"/>
            <a:ext cx="951230" cy="1778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r>
              <a:rPr dirty="0" sz="1000" spc="-30">
                <a:solidFill>
                  <a:srgbClr val="FFFFFF"/>
                </a:solidFill>
                <a:latin typeface="Dotum"/>
                <a:cs typeface="Dotum"/>
              </a:rPr>
              <a:t>로</a:t>
            </a:r>
            <a:r>
              <a:rPr dirty="0" sz="1000" spc="-4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0">
                <a:solidFill>
                  <a:srgbClr val="FFFFFF"/>
                </a:solidFill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933450"/>
          </a:xfrm>
          <a:custGeom>
            <a:avLst/>
            <a:gdLst/>
            <a:ahLst/>
            <a:cxnLst/>
            <a:rect l="l" t="t" r="r" b="b"/>
            <a:pathLst>
              <a:path w="12192000" h="933450">
                <a:moveTo>
                  <a:pt x="12191999" y="933449"/>
                </a:moveTo>
                <a:lnTo>
                  <a:pt x="0" y="9334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33449"/>
                </a:lnTo>
                <a:close/>
              </a:path>
            </a:pathLst>
          </a:custGeom>
          <a:solidFill>
            <a:srgbClr val="D977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Risk</a:t>
            </a:r>
            <a:r>
              <a:rPr dirty="0" spc="-45"/>
              <a:t> </a:t>
            </a:r>
            <a:r>
              <a:rPr dirty="0" spc="-10"/>
              <a:t>Management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 spc="-325" b="0">
                <a:latin typeface="Dotum"/>
                <a:cs typeface="Dotum"/>
              </a:rPr>
              <a:t>예상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리스크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및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대응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60" b="0">
                <a:latin typeface="Dotum"/>
                <a:cs typeface="Dotum"/>
              </a:rPr>
              <a:t>방안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28599" y="1619250"/>
            <a:ext cx="5715000" cy="3619500"/>
            <a:chOff x="228599" y="1619250"/>
            <a:chExt cx="5715000" cy="3619500"/>
          </a:xfrm>
        </p:grpSpPr>
        <p:sp>
          <p:nvSpPr>
            <p:cNvPr id="5" name="object 5" descr=""/>
            <p:cNvSpPr/>
            <p:nvPr/>
          </p:nvSpPr>
          <p:spPr>
            <a:xfrm>
              <a:off x="228599" y="1619250"/>
              <a:ext cx="5715000" cy="3619500"/>
            </a:xfrm>
            <a:custGeom>
              <a:avLst/>
              <a:gdLst/>
              <a:ahLst/>
              <a:cxnLst/>
              <a:rect l="l" t="t" r="r" b="b"/>
              <a:pathLst>
                <a:path w="5715000" h="3619500">
                  <a:moveTo>
                    <a:pt x="5643802" y="3619499"/>
                  </a:moveTo>
                  <a:lnTo>
                    <a:pt x="71196" y="3619499"/>
                  </a:lnTo>
                  <a:lnTo>
                    <a:pt x="66241" y="3619011"/>
                  </a:lnTo>
                  <a:lnTo>
                    <a:pt x="29705" y="3603876"/>
                  </a:lnTo>
                  <a:lnTo>
                    <a:pt x="3885" y="3567836"/>
                  </a:lnTo>
                  <a:lnTo>
                    <a:pt x="0" y="3548302"/>
                  </a:lnTo>
                  <a:lnTo>
                    <a:pt x="0" y="3543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643802" y="0"/>
                  </a:lnTo>
                  <a:lnTo>
                    <a:pt x="5685293" y="15621"/>
                  </a:lnTo>
                  <a:lnTo>
                    <a:pt x="5711113" y="51661"/>
                  </a:lnTo>
                  <a:lnTo>
                    <a:pt x="5714998" y="71196"/>
                  </a:lnTo>
                  <a:lnTo>
                    <a:pt x="5714998" y="3548302"/>
                  </a:lnTo>
                  <a:lnTo>
                    <a:pt x="5699377" y="3589793"/>
                  </a:lnTo>
                  <a:lnTo>
                    <a:pt x="5663337" y="3615613"/>
                  </a:lnTo>
                  <a:lnTo>
                    <a:pt x="5648757" y="3619011"/>
                  </a:lnTo>
                  <a:lnTo>
                    <a:pt x="5643802" y="36194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999" y="1771650"/>
              <a:ext cx="5410199" cy="30479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" y="4924424"/>
              <a:ext cx="114300" cy="114299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228599" y="5772149"/>
            <a:ext cx="5715000" cy="914400"/>
            <a:chOff x="228599" y="5772149"/>
            <a:chExt cx="5715000" cy="914400"/>
          </a:xfrm>
        </p:grpSpPr>
        <p:sp>
          <p:nvSpPr>
            <p:cNvPr id="9" name="object 9" descr=""/>
            <p:cNvSpPr/>
            <p:nvPr/>
          </p:nvSpPr>
          <p:spPr>
            <a:xfrm>
              <a:off x="228599" y="5772149"/>
              <a:ext cx="5715000" cy="914400"/>
            </a:xfrm>
            <a:custGeom>
              <a:avLst/>
              <a:gdLst/>
              <a:ahLst/>
              <a:cxnLst/>
              <a:rect l="l" t="t" r="r" b="b"/>
              <a:pathLst>
                <a:path w="5715000" h="914400">
                  <a:moveTo>
                    <a:pt x="5643802" y="914399"/>
                  </a:moveTo>
                  <a:lnTo>
                    <a:pt x="71196" y="914399"/>
                  </a:lnTo>
                  <a:lnTo>
                    <a:pt x="66241" y="913911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643802" y="0"/>
                  </a:lnTo>
                  <a:lnTo>
                    <a:pt x="5685293" y="15621"/>
                  </a:lnTo>
                  <a:lnTo>
                    <a:pt x="5711113" y="51660"/>
                  </a:lnTo>
                  <a:lnTo>
                    <a:pt x="5714998" y="71196"/>
                  </a:lnTo>
                  <a:lnTo>
                    <a:pt x="5714998" y="843203"/>
                  </a:lnTo>
                  <a:lnTo>
                    <a:pt x="5699377" y="884694"/>
                  </a:lnTo>
                  <a:lnTo>
                    <a:pt x="5663337" y="910513"/>
                  </a:lnTo>
                  <a:lnTo>
                    <a:pt x="5648757" y="913911"/>
                  </a:lnTo>
                  <a:lnTo>
                    <a:pt x="5643802" y="9143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0999" y="5924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1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8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299" y="6038849"/>
              <a:ext cx="153322" cy="153352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796" y="1214437"/>
            <a:ext cx="230207" cy="20002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20700" y="1135024"/>
            <a:ext cx="204470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분석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30">
                <a:solidFill>
                  <a:srgbClr val="333333"/>
                </a:solidFill>
                <a:latin typeface="Dotum"/>
                <a:cs typeface="Dotum"/>
              </a:rPr>
              <a:t>매트릭스</a:t>
            </a:r>
            <a:endParaRPr sz="2050">
              <a:latin typeface="Dotum"/>
              <a:cs typeface="Dot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7311" y="4875339"/>
            <a:ext cx="3937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75">
                <a:solidFill>
                  <a:srgbClr val="333333"/>
                </a:solidFill>
                <a:latin typeface="Dotum"/>
                <a:cs typeface="Dotum"/>
              </a:rPr>
              <a:t>저위험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809874" y="4924424"/>
            <a:ext cx="2543175" cy="114300"/>
            <a:chOff x="2809874" y="4924424"/>
            <a:chExt cx="2543175" cy="114300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09874" y="4924424"/>
              <a:ext cx="114299" cy="1142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8749" y="4924424"/>
              <a:ext cx="114300" cy="11429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2983805" y="4875339"/>
            <a:ext cx="3937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75">
                <a:solidFill>
                  <a:srgbClr val="333333"/>
                </a:solidFill>
                <a:latin typeface="Dotum"/>
                <a:cs typeface="Dotum"/>
              </a:rPr>
              <a:t>중위험</a:t>
            </a:r>
            <a:endParaRPr sz="1150">
              <a:latin typeface="Dotum"/>
              <a:cs typeface="Dot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410298" y="4875339"/>
            <a:ext cx="3937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75">
                <a:solidFill>
                  <a:srgbClr val="333333"/>
                </a:solidFill>
                <a:latin typeface="Dotum"/>
                <a:cs typeface="Dotum"/>
              </a:rPr>
              <a:t>고위험</a:t>
            </a:r>
            <a:endParaRPr sz="1150">
              <a:latin typeface="Dotum"/>
              <a:cs typeface="Dot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5900" y="5381993"/>
            <a:ext cx="153987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대응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0">
                <a:solidFill>
                  <a:srgbClr val="333333"/>
                </a:solidFill>
                <a:latin typeface="Dotum"/>
                <a:cs typeface="Dotum"/>
              </a:rPr>
              <a:t>프로세스</a:t>
            </a:r>
            <a:endParaRPr sz="1550">
              <a:latin typeface="Dotum"/>
              <a:cs typeface="Dot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36016" y="6321005"/>
            <a:ext cx="2711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15">
                <a:solidFill>
                  <a:srgbClr val="333333"/>
                </a:solidFill>
                <a:latin typeface="Dotum"/>
                <a:cs typeface="Dotum"/>
              </a:rPr>
              <a:t>식별</a:t>
            </a:r>
            <a:endParaRPr sz="1200">
              <a:latin typeface="Dotum"/>
              <a:cs typeface="Dotu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304924" y="5924549"/>
            <a:ext cx="1057275" cy="381000"/>
            <a:chOff x="1304924" y="5924549"/>
            <a:chExt cx="1057275" cy="381000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4924" y="6171247"/>
              <a:ext cx="134272" cy="11620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981199" y="5924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1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5" y="55796"/>
                  </a:lnTo>
                  <a:lnTo>
                    <a:pt x="92572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5943" y="6038849"/>
              <a:ext cx="191184" cy="15239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2039193" y="6321005"/>
            <a:ext cx="2711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15">
                <a:solidFill>
                  <a:srgbClr val="333333"/>
                </a:solidFill>
                <a:latin typeface="Dotum"/>
                <a:cs typeface="Dotum"/>
              </a:rPr>
              <a:t>평가</a:t>
            </a:r>
            <a:endParaRPr sz="1200">
              <a:latin typeface="Dotum"/>
              <a:cs typeface="Dot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905124" y="5924549"/>
            <a:ext cx="1114425" cy="381000"/>
            <a:chOff x="2905124" y="5924549"/>
            <a:chExt cx="1114425" cy="381000"/>
          </a:xfrm>
        </p:grpSpPr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5124" y="6171247"/>
              <a:ext cx="134272" cy="11620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638549" y="5924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4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1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1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4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7582" y="6038849"/>
              <a:ext cx="142934" cy="152161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3574653" y="6321005"/>
            <a:ext cx="5162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29">
                <a:solidFill>
                  <a:srgbClr val="333333"/>
                </a:solidFill>
                <a:latin typeface="Dotum"/>
                <a:cs typeface="Dotum"/>
              </a:rPr>
              <a:t>대응방안</a:t>
            </a:r>
            <a:endParaRPr sz="1200">
              <a:latin typeface="Dotum"/>
              <a:cs typeface="Dotum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619625" y="5924549"/>
            <a:ext cx="1114425" cy="381000"/>
            <a:chOff x="4619625" y="5924549"/>
            <a:chExt cx="1114425" cy="381000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9625" y="6171247"/>
              <a:ext cx="134272" cy="11620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353049" y="5924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1"/>
                  </a:lnTo>
                  <a:lnTo>
                    <a:pt x="0" y="190499"/>
                  </a:lnTo>
                  <a:lnTo>
                    <a:pt x="229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67350" y="6048374"/>
              <a:ext cx="15239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5287664" y="6321005"/>
            <a:ext cx="5162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29">
                <a:solidFill>
                  <a:srgbClr val="333333"/>
                </a:solidFill>
                <a:latin typeface="Dotum"/>
                <a:cs typeface="Dotum"/>
              </a:rPr>
              <a:t>모니터링</a:t>
            </a:r>
            <a:endParaRPr sz="1200">
              <a:latin typeface="Dotum"/>
              <a:cs typeface="Dotum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6095999" y="1162049"/>
            <a:ext cx="9525" cy="5524500"/>
          </a:xfrm>
          <a:custGeom>
            <a:avLst/>
            <a:gdLst/>
            <a:ahLst/>
            <a:cxnLst/>
            <a:rect l="l" t="t" r="r" b="b"/>
            <a:pathLst>
              <a:path w="9525" h="5524500">
                <a:moveTo>
                  <a:pt x="9524" y="5524499"/>
                </a:moveTo>
                <a:lnTo>
                  <a:pt x="0" y="5524499"/>
                </a:lnTo>
                <a:lnTo>
                  <a:pt x="0" y="0"/>
                </a:lnTo>
                <a:lnTo>
                  <a:pt x="9524" y="0"/>
                </a:lnTo>
                <a:lnTo>
                  <a:pt x="9524" y="5524499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6257923" y="1962149"/>
            <a:ext cx="5705475" cy="876300"/>
            <a:chOff x="6257923" y="1962149"/>
            <a:chExt cx="5705475" cy="876300"/>
          </a:xfrm>
        </p:grpSpPr>
        <p:sp>
          <p:nvSpPr>
            <p:cNvPr id="39" name="object 39" descr=""/>
            <p:cNvSpPr/>
            <p:nvPr/>
          </p:nvSpPr>
          <p:spPr>
            <a:xfrm>
              <a:off x="6257923" y="1962149"/>
              <a:ext cx="5705475" cy="876300"/>
            </a:xfrm>
            <a:custGeom>
              <a:avLst/>
              <a:gdLst/>
              <a:ahLst/>
              <a:cxnLst/>
              <a:rect l="l" t="t" r="r" b="b"/>
              <a:pathLst>
                <a:path w="5705475" h="876300">
                  <a:moveTo>
                    <a:pt x="5634278" y="876299"/>
                  </a:moveTo>
                  <a:lnTo>
                    <a:pt x="71196" y="876299"/>
                  </a:lnTo>
                  <a:lnTo>
                    <a:pt x="66241" y="875811"/>
                  </a:lnTo>
                  <a:lnTo>
                    <a:pt x="29705" y="860677"/>
                  </a:lnTo>
                  <a:lnTo>
                    <a:pt x="3885" y="824637"/>
                  </a:lnTo>
                  <a:lnTo>
                    <a:pt x="0" y="805103"/>
                  </a:lnTo>
                  <a:lnTo>
                    <a:pt x="0" y="800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634278" y="0"/>
                  </a:lnTo>
                  <a:lnTo>
                    <a:pt x="5675767" y="15621"/>
                  </a:lnTo>
                  <a:lnTo>
                    <a:pt x="5701588" y="51661"/>
                  </a:lnTo>
                  <a:lnTo>
                    <a:pt x="5705473" y="71196"/>
                  </a:lnTo>
                  <a:lnTo>
                    <a:pt x="5705473" y="805103"/>
                  </a:lnTo>
                  <a:lnTo>
                    <a:pt x="5689851" y="846593"/>
                  </a:lnTo>
                  <a:lnTo>
                    <a:pt x="5653811" y="872414"/>
                  </a:lnTo>
                  <a:lnTo>
                    <a:pt x="5639232" y="875811"/>
                  </a:lnTo>
                  <a:lnTo>
                    <a:pt x="5634278" y="8762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372224" y="20764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3" y="92572"/>
                  </a:lnTo>
                  <a:lnTo>
                    <a:pt x="372797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96049" y="2190749"/>
              <a:ext cx="133349" cy="152399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6257923" y="2952749"/>
            <a:ext cx="5705475" cy="876300"/>
            <a:chOff x="6257923" y="2952749"/>
            <a:chExt cx="5705475" cy="876300"/>
          </a:xfrm>
        </p:grpSpPr>
        <p:sp>
          <p:nvSpPr>
            <p:cNvPr id="43" name="object 43" descr=""/>
            <p:cNvSpPr/>
            <p:nvPr/>
          </p:nvSpPr>
          <p:spPr>
            <a:xfrm>
              <a:off x="6257923" y="2952749"/>
              <a:ext cx="5705475" cy="876300"/>
            </a:xfrm>
            <a:custGeom>
              <a:avLst/>
              <a:gdLst/>
              <a:ahLst/>
              <a:cxnLst/>
              <a:rect l="l" t="t" r="r" b="b"/>
              <a:pathLst>
                <a:path w="5705475" h="876300">
                  <a:moveTo>
                    <a:pt x="5634278" y="876299"/>
                  </a:moveTo>
                  <a:lnTo>
                    <a:pt x="71196" y="876299"/>
                  </a:lnTo>
                  <a:lnTo>
                    <a:pt x="66241" y="875811"/>
                  </a:lnTo>
                  <a:lnTo>
                    <a:pt x="29705" y="860678"/>
                  </a:lnTo>
                  <a:lnTo>
                    <a:pt x="3885" y="824637"/>
                  </a:lnTo>
                  <a:lnTo>
                    <a:pt x="0" y="805103"/>
                  </a:lnTo>
                  <a:lnTo>
                    <a:pt x="0" y="800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634278" y="0"/>
                  </a:lnTo>
                  <a:lnTo>
                    <a:pt x="5675767" y="15621"/>
                  </a:lnTo>
                  <a:lnTo>
                    <a:pt x="5701588" y="51661"/>
                  </a:lnTo>
                  <a:lnTo>
                    <a:pt x="5705473" y="71196"/>
                  </a:lnTo>
                  <a:lnTo>
                    <a:pt x="5705473" y="805103"/>
                  </a:lnTo>
                  <a:lnTo>
                    <a:pt x="5689851" y="846594"/>
                  </a:lnTo>
                  <a:lnTo>
                    <a:pt x="5653811" y="872414"/>
                  </a:lnTo>
                  <a:lnTo>
                    <a:pt x="5639232" y="875811"/>
                  </a:lnTo>
                  <a:lnTo>
                    <a:pt x="5634278" y="8762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372224" y="30670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1"/>
                  </a:lnTo>
                  <a:lnTo>
                    <a:pt x="55796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5"/>
                  </a:lnTo>
                  <a:lnTo>
                    <a:pt x="353903" y="92572"/>
                  </a:lnTo>
                  <a:lnTo>
                    <a:pt x="372797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86524" y="3190874"/>
              <a:ext cx="152399" cy="133349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6257923" y="4324349"/>
            <a:ext cx="5705475" cy="876300"/>
            <a:chOff x="6257923" y="4324349"/>
            <a:chExt cx="5705475" cy="876300"/>
          </a:xfrm>
        </p:grpSpPr>
        <p:sp>
          <p:nvSpPr>
            <p:cNvPr id="47" name="object 47" descr=""/>
            <p:cNvSpPr/>
            <p:nvPr/>
          </p:nvSpPr>
          <p:spPr>
            <a:xfrm>
              <a:off x="6257923" y="4324349"/>
              <a:ext cx="5705475" cy="876300"/>
            </a:xfrm>
            <a:custGeom>
              <a:avLst/>
              <a:gdLst/>
              <a:ahLst/>
              <a:cxnLst/>
              <a:rect l="l" t="t" r="r" b="b"/>
              <a:pathLst>
                <a:path w="5705475" h="876300">
                  <a:moveTo>
                    <a:pt x="5634278" y="876299"/>
                  </a:moveTo>
                  <a:lnTo>
                    <a:pt x="71196" y="876299"/>
                  </a:lnTo>
                  <a:lnTo>
                    <a:pt x="66241" y="875811"/>
                  </a:lnTo>
                  <a:lnTo>
                    <a:pt x="29705" y="860678"/>
                  </a:lnTo>
                  <a:lnTo>
                    <a:pt x="3885" y="824637"/>
                  </a:lnTo>
                  <a:lnTo>
                    <a:pt x="0" y="805103"/>
                  </a:lnTo>
                  <a:lnTo>
                    <a:pt x="0" y="800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634278" y="0"/>
                  </a:lnTo>
                  <a:lnTo>
                    <a:pt x="5675767" y="15621"/>
                  </a:lnTo>
                  <a:lnTo>
                    <a:pt x="5701588" y="51661"/>
                  </a:lnTo>
                  <a:lnTo>
                    <a:pt x="5705473" y="71196"/>
                  </a:lnTo>
                  <a:lnTo>
                    <a:pt x="5705473" y="805103"/>
                  </a:lnTo>
                  <a:lnTo>
                    <a:pt x="5689851" y="846594"/>
                  </a:lnTo>
                  <a:lnTo>
                    <a:pt x="5653811" y="872413"/>
                  </a:lnTo>
                  <a:lnTo>
                    <a:pt x="5639232" y="875811"/>
                  </a:lnTo>
                  <a:lnTo>
                    <a:pt x="5634278" y="8762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372224" y="44386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4" y="92571"/>
                  </a:lnTo>
                  <a:lnTo>
                    <a:pt x="55796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5"/>
                  </a:lnTo>
                  <a:lnTo>
                    <a:pt x="353903" y="92571"/>
                  </a:lnTo>
                  <a:lnTo>
                    <a:pt x="372797" y="135199"/>
                  </a:lnTo>
                  <a:lnTo>
                    <a:pt x="380770" y="181140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67474" y="4552949"/>
              <a:ext cx="190499" cy="152399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6257923" y="5314949"/>
            <a:ext cx="5705475" cy="876300"/>
            <a:chOff x="6257923" y="5314949"/>
            <a:chExt cx="5705475" cy="876300"/>
          </a:xfrm>
        </p:grpSpPr>
        <p:sp>
          <p:nvSpPr>
            <p:cNvPr id="51" name="object 51" descr=""/>
            <p:cNvSpPr/>
            <p:nvPr/>
          </p:nvSpPr>
          <p:spPr>
            <a:xfrm>
              <a:off x="6257923" y="5314949"/>
              <a:ext cx="5705475" cy="876300"/>
            </a:xfrm>
            <a:custGeom>
              <a:avLst/>
              <a:gdLst/>
              <a:ahLst/>
              <a:cxnLst/>
              <a:rect l="l" t="t" r="r" b="b"/>
              <a:pathLst>
                <a:path w="5705475" h="876300">
                  <a:moveTo>
                    <a:pt x="5634278" y="876299"/>
                  </a:moveTo>
                  <a:lnTo>
                    <a:pt x="71196" y="876299"/>
                  </a:lnTo>
                  <a:lnTo>
                    <a:pt x="66241" y="875811"/>
                  </a:lnTo>
                  <a:lnTo>
                    <a:pt x="29705" y="860677"/>
                  </a:lnTo>
                  <a:lnTo>
                    <a:pt x="3885" y="824637"/>
                  </a:lnTo>
                  <a:lnTo>
                    <a:pt x="0" y="805103"/>
                  </a:lnTo>
                  <a:lnTo>
                    <a:pt x="0" y="8000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634278" y="0"/>
                  </a:lnTo>
                  <a:lnTo>
                    <a:pt x="5675767" y="15621"/>
                  </a:lnTo>
                  <a:lnTo>
                    <a:pt x="5701588" y="51661"/>
                  </a:lnTo>
                  <a:lnTo>
                    <a:pt x="5705473" y="71196"/>
                  </a:lnTo>
                  <a:lnTo>
                    <a:pt x="5705473" y="805103"/>
                  </a:lnTo>
                  <a:lnTo>
                    <a:pt x="5689851" y="846593"/>
                  </a:lnTo>
                  <a:lnTo>
                    <a:pt x="5653811" y="872413"/>
                  </a:lnTo>
                  <a:lnTo>
                    <a:pt x="5639232" y="875811"/>
                  </a:lnTo>
                  <a:lnTo>
                    <a:pt x="5634278" y="8762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372224" y="54292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3" y="92572"/>
                  </a:lnTo>
                  <a:lnTo>
                    <a:pt x="372797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8"/>
                  </a:lnTo>
                  <a:lnTo>
                    <a:pt x="353903" y="288426"/>
                  </a:lnTo>
                  <a:lnTo>
                    <a:pt x="325202" y="325203"/>
                  </a:lnTo>
                  <a:lnTo>
                    <a:pt x="288426" y="353904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7206" y="5553074"/>
              <a:ext cx="190767" cy="133558"/>
            </a:xfrm>
            <a:prstGeom prst="rect">
              <a:avLst/>
            </a:prstGeom>
          </p:spPr>
        </p:pic>
      </p:grpSp>
      <p:pic>
        <p:nvPicPr>
          <p:cNvPr id="54" name="object 5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265068" y="1200150"/>
            <a:ext cx="214312" cy="228242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6550025" y="1135024"/>
            <a:ext cx="2381250" cy="3403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주요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333333"/>
                </a:solidFill>
                <a:latin typeface="Dotum"/>
                <a:cs typeface="Dotum"/>
              </a:rPr>
              <a:t>대응</a:t>
            </a:r>
            <a:r>
              <a:rPr dirty="0" sz="2050" spc="-1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50" spc="-434">
                <a:solidFill>
                  <a:srgbClr val="333333"/>
                </a:solidFill>
                <a:latin typeface="Dotum"/>
                <a:cs typeface="Dotum"/>
              </a:rPr>
              <a:t>방안</a:t>
            </a:r>
            <a:endParaRPr sz="2050">
              <a:latin typeface="Dotum"/>
              <a:cs typeface="Dotum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245224" y="1610093"/>
            <a:ext cx="3240405" cy="2623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10">
                <a:solidFill>
                  <a:srgbClr val="1C4ED8"/>
                </a:solidFill>
                <a:latin typeface="Dotum"/>
                <a:cs typeface="Dotum"/>
              </a:rPr>
              <a:t>기술적</a:t>
            </a:r>
            <a:r>
              <a:rPr dirty="0" sz="155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1C4ED8"/>
                </a:solidFill>
                <a:latin typeface="Dotum"/>
                <a:cs typeface="Dotum"/>
              </a:rPr>
              <a:t>리스크</a:t>
            </a:r>
            <a:endParaRPr sz="1550">
              <a:latin typeface="Dotum"/>
              <a:cs typeface="Dotum"/>
            </a:endParaRPr>
          </a:p>
          <a:p>
            <a:pPr marL="621665">
              <a:lnSpc>
                <a:spcPct val="100000"/>
              </a:lnSpc>
              <a:spcBef>
                <a:spcPts val="171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분리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복잡성</a:t>
            </a:r>
            <a:endParaRPr sz="1350">
              <a:latin typeface="Dotum"/>
              <a:cs typeface="Dotum"/>
            </a:endParaRPr>
          </a:p>
          <a:p>
            <a:pPr marL="621665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강결합된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레거시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시스템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분리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시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의존성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이슈</a:t>
            </a:r>
            <a:endParaRPr sz="1150">
              <a:latin typeface="Dotum"/>
              <a:cs typeface="Dotum"/>
            </a:endParaRPr>
          </a:p>
          <a:p>
            <a:pPr marL="621665">
              <a:lnSpc>
                <a:spcPct val="100000"/>
              </a:lnSpc>
              <a:spcBef>
                <a:spcPts val="370"/>
              </a:spcBef>
            </a:pPr>
            <a:r>
              <a:rPr dirty="0" sz="1050" b="1">
                <a:solidFill>
                  <a:srgbClr val="1C4ED8"/>
                </a:solidFill>
                <a:latin typeface="Segoe UI Semibold"/>
                <a:cs typeface="Segoe UI Semibold"/>
              </a:rPr>
              <a:t>→ DDD</a:t>
            </a:r>
            <a:r>
              <a:rPr dirty="0" sz="1050" spc="5" b="1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기반</a:t>
            </a:r>
            <a:r>
              <a:rPr dirty="0" sz="1200" spc="-114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바운더리</a:t>
            </a:r>
            <a:r>
              <a:rPr dirty="0" sz="1200" spc="-11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165">
                <a:solidFill>
                  <a:srgbClr val="1C4ED8"/>
                </a:solidFill>
                <a:latin typeface="Dotum"/>
                <a:cs typeface="Dotum"/>
              </a:rPr>
              <a:t>설계</a:t>
            </a:r>
            <a:r>
              <a:rPr dirty="0" sz="1050" spc="-165" b="1">
                <a:solidFill>
                  <a:srgbClr val="1C4ED8"/>
                </a:solidFill>
                <a:latin typeface="Segoe UI Semibold"/>
                <a:cs typeface="Segoe UI Semibold"/>
              </a:rPr>
              <a:t>,</a:t>
            </a:r>
            <a:r>
              <a:rPr dirty="0" sz="1050" b="1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점진적</a:t>
            </a:r>
            <a:r>
              <a:rPr dirty="0" sz="1200" spc="-11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분리</a:t>
            </a:r>
            <a:r>
              <a:rPr dirty="0" sz="1200" spc="-114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25">
                <a:solidFill>
                  <a:srgbClr val="1C4ED8"/>
                </a:solidFill>
                <a:latin typeface="Dotum"/>
                <a:cs typeface="Dotum"/>
              </a:rPr>
              <a:t>전략</a:t>
            </a:r>
            <a:endParaRPr sz="1200">
              <a:latin typeface="Dotum"/>
              <a:cs typeface="Dotum"/>
            </a:endParaRPr>
          </a:p>
          <a:p>
            <a:pPr>
              <a:lnSpc>
                <a:spcPct val="100000"/>
              </a:lnSpc>
            </a:pPr>
            <a:endParaRPr sz="10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Dotum"/>
              <a:cs typeface="Dotum"/>
            </a:endParaRPr>
          </a:p>
          <a:p>
            <a:pPr marL="621665">
              <a:lnSpc>
                <a:spcPct val="100000"/>
              </a:lnSpc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성능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네트워크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0">
                <a:solidFill>
                  <a:srgbClr val="333333"/>
                </a:solidFill>
                <a:latin typeface="Dotum"/>
                <a:cs typeface="Dotum"/>
              </a:rPr>
              <a:t>오버헤드</a:t>
            </a:r>
            <a:endParaRPr sz="1350">
              <a:latin typeface="Dotum"/>
              <a:cs typeface="Dotum"/>
            </a:endParaRPr>
          </a:p>
          <a:p>
            <a:pPr marL="621665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서비스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간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통신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증가로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인한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지연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발생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가능성</a:t>
            </a:r>
            <a:endParaRPr sz="1150">
              <a:latin typeface="Dotum"/>
              <a:cs typeface="Dotum"/>
            </a:endParaRPr>
          </a:p>
          <a:p>
            <a:pPr marL="621665">
              <a:lnSpc>
                <a:spcPct val="100000"/>
              </a:lnSpc>
              <a:spcBef>
                <a:spcPts val="370"/>
              </a:spcBef>
            </a:pPr>
            <a:r>
              <a:rPr dirty="0" sz="1050" b="1">
                <a:solidFill>
                  <a:srgbClr val="1C4ED8"/>
                </a:solidFill>
                <a:latin typeface="Segoe UI Semibold"/>
                <a:cs typeface="Segoe UI Semibold"/>
              </a:rPr>
              <a:t>→</a:t>
            </a:r>
            <a:r>
              <a:rPr dirty="0" sz="1050" spc="5" b="1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dirty="0" sz="1050" b="1">
                <a:solidFill>
                  <a:srgbClr val="1C4ED8"/>
                </a:solidFill>
                <a:latin typeface="Segoe UI Semibold"/>
                <a:cs typeface="Segoe UI Semibold"/>
              </a:rPr>
              <a:t>API</a:t>
            </a:r>
            <a:r>
              <a:rPr dirty="0" sz="1050" spc="5" b="1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dirty="0" sz="1200" spc="-204">
                <a:solidFill>
                  <a:srgbClr val="1C4ED8"/>
                </a:solidFill>
                <a:latin typeface="Dotum"/>
                <a:cs typeface="Dotum"/>
              </a:rPr>
              <a:t>게이트웨이</a:t>
            </a:r>
            <a:r>
              <a:rPr dirty="0" sz="1050" spc="-204" b="1">
                <a:solidFill>
                  <a:srgbClr val="1C4ED8"/>
                </a:solidFill>
                <a:latin typeface="Segoe UI Semibold"/>
                <a:cs typeface="Segoe UI Semibold"/>
              </a:rPr>
              <a:t>,</a:t>
            </a:r>
            <a:r>
              <a:rPr dirty="0" sz="1050" spc="10" b="1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캐싱</a:t>
            </a:r>
            <a:r>
              <a:rPr dirty="0" sz="1200" spc="-11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165">
                <a:solidFill>
                  <a:srgbClr val="1C4ED8"/>
                </a:solidFill>
                <a:latin typeface="Dotum"/>
                <a:cs typeface="Dotum"/>
              </a:rPr>
              <a:t>전략</a:t>
            </a:r>
            <a:r>
              <a:rPr dirty="0" sz="1050" spc="-165" b="1">
                <a:solidFill>
                  <a:srgbClr val="1C4ED8"/>
                </a:solidFill>
                <a:latin typeface="Segoe UI Semibold"/>
                <a:cs typeface="Segoe UI Semibold"/>
              </a:rPr>
              <a:t>,</a:t>
            </a:r>
            <a:r>
              <a:rPr dirty="0" sz="1050" spc="10" b="1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비동기</a:t>
            </a:r>
            <a:r>
              <a:rPr dirty="0" sz="1200" spc="-11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1C4ED8"/>
                </a:solidFill>
                <a:latin typeface="Dotum"/>
                <a:cs typeface="Dotum"/>
              </a:rPr>
              <a:t>통신</a:t>
            </a:r>
            <a:r>
              <a:rPr dirty="0" sz="1200" spc="-105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200" spc="-155">
                <a:solidFill>
                  <a:srgbClr val="1C4ED8"/>
                </a:solidFill>
                <a:latin typeface="Dotum"/>
                <a:cs typeface="Dotum"/>
              </a:rPr>
              <a:t>도입</a:t>
            </a:r>
            <a:endParaRPr sz="12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550" spc="-310">
                <a:solidFill>
                  <a:srgbClr val="047857"/>
                </a:solidFill>
                <a:latin typeface="Dotum"/>
                <a:cs typeface="Dotum"/>
              </a:rPr>
              <a:t>조직적</a:t>
            </a:r>
            <a:r>
              <a:rPr dirty="0" sz="1550" spc="-15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047857"/>
                </a:solidFill>
                <a:latin typeface="Dotum"/>
                <a:cs typeface="Dotum"/>
              </a:rPr>
              <a:t>리스크</a:t>
            </a:r>
            <a:endParaRPr sz="1550">
              <a:latin typeface="Dotum"/>
              <a:cs typeface="Dotum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854825" y="4406048"/>
            <a:ext cx="2670175" cy="67627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조직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저항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변화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관리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기존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업무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방식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변경에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대한</a:t>
            </a:r>
            <a:r>
              <a:rPr dirty="0" sz="115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내부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저항</a:t>
            </a:r>
            <a:endParaRPr sz="11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50" b="1">
                <a:solidFill>
                  <a:srgbClr val="047857"/>
                </a:solidFill>
                <a:latin typeface="Segoe UI Semibold"/>
                <a:cs typeface="Segoe UI Semibold"/>
              </a:rPr>
              <a:t>→</a:t>
            </a:r>
            <a:r>
              <a:rPr dirty="0" sz="1050" spc="-5" b="1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변화</a:t>
            </a:r>
            <a:r>
              <a:rPr dirty="0" sz="1200" spc="-11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리더십</a:t>
            </a:r>
            <a:r>
              <a:rPr dirty="0" sz="1200" spc="-11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165">
                <a:solidFill>
                  <a:srgbClr val="047857"/>
                </a:solidFill>
                <a:latin typeface="Dotum"/>
                <a:cs typeface="Dotum"/>
              </a:rPr>
              <a:t>확보</a:t>
            </a:r>
            <a:r>
              <a:rPr dirty="0" sz="1050" spc="-165" b="1">
                <a:solidFill>
                  <a:srgbClr val="047857"/>
                </a:solidFill>
                <a:latin typeface="Segoe UI Semibold"/>
                <a:cs typeface="Segoe UI Semibold"/>
              </a:rPr>
              <a:t>,</a:t>
            </a:r>
            <a:r>
              <a:rPr dirty="0" sz="1050" spc="5" b="1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단계적</a:t>
            </a:r>
            <a:r>
              <a:rPr dirty="0" sz="1200" spc="-11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165">
                <a:solidFill>
                  <a:srgbClr val="047857"/>
                </a:solidFill>
                <a:latin typeface="Dotum"/>
                <a:cs typeface="Dotum"/>
              </a:rPr>
              <a:t>전환</a:t>
            </a:r>
            <a:r>
              <a:rPr dirty="0" sz="1050" spc="-165" b="1">
                <a:solidFill>
                  <a:srgbClr val="047857"/>
                </a:solidFill>
                <a:latin typeface="Segoe UI Semibold"/>
                <a:cs typeface="Segoe UI Semibold"/>
              </a:rPr>
              <a:t>,</a:t>
            </a:r>
            <a:r>
              <a:rPr dirty="0" sz="1050" spc="5" b="1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성공사례</a:t>
            </a:r>
            <a:r>
              <a:rPr dirty="0" sz="1200" spc="-11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155">
                <a:solidFill>
                  <a:srgbClr val="047857"/>
                </a:solidFill>
                <a:latin typeface="Dotum"/>
                <a:cs typeface="Dotum"/>
              </a:rPr>
              <a:t>공유</a:t>
            </a:r>
            <a:endParaRPr sz="1200">
              <a:latin typeface="Dotum"/>
              <a:cs typeface="Dotum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854825" y="5396648"/>
            <a:ext cx="2829560" cy="67627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기술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역량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부족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MSA,</a:t>
            </a:r>
            <a:r>
              <a:rPr dirty="0" sz="1050" spc="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4A5462"/>
                </a:solidFill>
                <a:latin typeface="Segoe UI"/>
                <a:cs typeface="Segoe UI"/>
              </a:rPr>
              <a:t>DevOps</a:t>
            </a:r>
            <a:r>
              <a:rPr dirty="0" sz="105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등</a:t>
            </a:r>
            <a:r>
              <a:rPr dirty="0" sz="115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신기술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경험</a:t>
            </a:r>
            <a:r>
              <a:rPr dirty="0" sz="115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4A5462"/>
                </a:solidFill>
                <a:latin typeface="Dotum"/>
                <a:cs typeface="Dotum"/>
              </a:rPr>
              <a:t>인력</a:t>
            </a:r>
            <a:r>
              <a:rPr dirty="0" sz="115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Dotum"/>
                <a:cs typeface="Dotum"/>
              </a:rPr>
              <a:t>부족</a:t>
            </a:r>
            <a:endParaRPr sz="11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50" b="1">
                <a:solidFill>
                  <a:srgbClr val="047857"/>
                </a:solidFill>
                <a:latin typeface="Segoe UI Semibold"/>
                <a:cs typeface="Segoe UI Semibold"/>
              </a:rPr>
              <a:t>→</a:t>
            </a:r>
            <a:r>
              <a:rPr dirty="0" sz="1050" spc="-5" b="1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교육</a:t>
            </a:r>
            <a:r>
              <a:rPr dirty="0" sz="1200" spc="-105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200">
                <a:solidFill>
                  <a:srgbClr val="047857"/>
                </a:solidFill>
                <a:latin typeface="Dotum"/>
                <a:cs typeface="Dotum"/>
              </a:rPr>
              <a:t>프로그램</a:t>
            </a:r>
            <a:r>
              <a:rPr dirty="0" sz="1050" spc="-200" b="1">
                <a:solidFill>
                  <a:srgbClr val="047857"/>
                </a:solidFill>
                <a:latin typeface="Segoe UI Semibold"/>
                <a:cs typeface="Segoe UI Semibold"/>
              </a:rPr>
              <a:t>,</a:t>
            </a:r>
            <a:r>
              <a:rPr dirty="0" sz="1050" spc="5" b="1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외부</a:t>
            </a:r>
            <a:r>
              <a:rPr dirty="0" sz="1200" spc="-105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전문가</a:t>
            </a:r>
            <a:r>
              <a:rPr dirty="0" sz="1200" spc="-11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165">
                <a:solidFill>
                  <a:srgbClr val="047857"/>
                </a:solidFill>
                <a:latin typeface="Dotum"/>
                <a:cs typeface="Dotum"/>
              </a:rPr>
              <a:t>채용</a:t>
            </a:r>
            <a:r>
              <a:rPr dirty="0" sz="1050" spc="-165" b="1">
                <a:solidFill>
                  <a:srgbClr val="047857"/>
                </a:solidFill>
                <a:latin typeface="Segoe UI Semibold"/>
                <a:cs typeface="Segoe UI Semibold"/>
              </a:rPr>
              <a:t>,</a:t>
            </a:r>
            <a:r>
              <a:rPr dirty="0" sz="1050" spc="10" b="1">
                <a:solidFill>
                  <a:srgbClr val="047857"/>
                </a:solidFill>
                <a:latin typeface="Segoe UI Semibold"/>
                <a:cs typeface="Segoe UI Semibold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핵심</a:t>
            </a:r>
            <a:r>
              <a:rPr dirty="0" sz="1200" spc="-110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240">
                <a:solidFill>
                  <a:srgbClr val="047857"/>
                </a:solidFill>
                <a:latin typeface="Dotum"/>
                <a:cs typeface="Dotum"/>
              </a:rPr>
              <a:t>인력</a:t>
            </a:r>
            <a:r>
              <a:rPr dirty="0" sz="1200" spc="-105">
                <a:solidFill>
                  <a:srgbClr val="047857"/>
                </a:solidFill>
                <a:latin typeface="Dotum"/>
                <a:cs typeface="Dotum"/>
              </a:rPr>
              <a:t> </a:t>
            </a:r>
            <a:r>
              <a:rPr dirty="0" sz="1200" spc="-150">
                <a:solidFill>
                  <a:srgbClr val="047857"/>
                </a:solidFill>
                <a:latin typeface="Dotum"/>
                <a:cs typeface="Dotum"/>
              </a:rPr>
              <a:t>양성</a:t>
            </a:r>
            <a:endParaRPr sz="1200">
              <a:latin typeface="Dotum"/>
              <a:cs typeface="Dotum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228599" y="6915426"/>
            <a:ext cx="70485" cy="800100"/>
          </a:xfrm>
          <a:custGeom>
            <a:avLst/>
            <a:gdLst/>
            <a:ahLst/>
            <a:cxnLst/>
            <a:rect l="l" t="t" r="r" b="b"/>
            <a:pathLst>
              <a:path w="70485" h="800100">
                <a:moveTo>
                  <a:pt x="70449" y="799544"/>
                </a:moveTo>
                <a:lnTo>
                  <a:pt x="33857" y="786991"/>
                </a:lnTo>
                <a:lnTo>
                  <a:pt x="5800" y="752782"/>
                </a:lnTo>
                <a:lnTo>
                  <a:pt x="0" y="723622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1000" y="46760"/>
                </a:lnTo>
                <a:lnTo>
                  <a:pt x="38100" y="75922"/>
                </a:lnTo>
                <a:lnTo>
                  <a:pt x="38100" y="723622"/>
                </a:lnTo>
                <a:lnTo>
                  <a:pt x="44515" y="765964"/>
                </a:lnTo>
                <a:lnTo>
                  <a:pt x="66287" y="797888"/>
                </a:lnTo>
                <a:lnTo>
                  <a:pt x="70449" y="799544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428029" y="7172325"/>
            <a:ext cx="196850" cy="285750"/>
          </a:xfrm>
          <a:custGeom>
            <a:avLst/>
            <a:gdLst/>
            <a:ahLst/>
            <a:cxnLst/>
            <a:rect l="l" t="t" r="r" b="b"/>
            <a:pathLst>
              <a:path w="196850" h="285750">
                <a:moveTo>
                  <a:pt x="142896" y="214256"/>
                </a:moveTo>
                <a:lnTo>
                  <a:pt x="53578" y="214256"/>
                </a:lnTo>
                <a:lnTo>
                  <a:pt x="48604" y="201379"/>
                </a:lnTo>
                <a:lnTo>
                  <a:pt x="42004" y="189218"/>
                </a:lnTo>
                <a:lnTo>
                  <a:pt x="34326" y="177549"/>
                </a:lnTo>
                <a:lnTo>
                  <a:pt x="26119" y="166147"/>
                </a:lnTo>
                <a:lnTo>
                  <a:pt x="20315" y="158222"/>
                </a:lnTo>
                <a:lnTo>
                  <a:pt x="17524" y="154204"/>
                </a:lnTo>
                <a:lnTo>
                  <a:pt x="10124" y="141698"/>
                </a:lnTo>
                <a:lnTo>
                  <a:pt x="4618" y="128078"/>
                </a:lnTo>
                <a:lnTo>
                  <a:pt x="1184" y="113526"/>
                </a:lnTo>
                <a:lnTo>
                  <a:pt x="0" y="98226"/>
                </a:lnTo>
                <a:lnTo>
                  <a:pt x="7719" y="59992"/>
                </a:lnTo>
                <a:lnTo>
                  <a:pt x="28770" y="28770"/>
                </a:lnTo>
                <a:lnTo>
                  <a:pt x="59992" y="7719"/>
                </a:lnTo>
                <a:lnTo>
                  <a:pt x="98226" y="0"/>
                </a:lnTo>
                <a:lnTo>
                  <a:pt x="136455" y="7719"/>
                </a:lnTo>
                <a:lnTo>
                  <a:pt x="167672" y="28770"/>
                </a:lnTo>
                <a:lnTo>
                  <a:pt x="172360" y="35718"/>
                </a:lnTo>
                <a:lnTo>
                  <a:pt x="98226" y="35718"/>
                </a:lnTo>
                <a:lnTo>
                  <a:pt x="73885" y="40627"/>
                </a:lnTo>
                <a:lnTo>
                  <a:pt x="54017" y="54017"/>
                </a:lnTo>
                <a:lnTo>
                  <a:pt x="40627" y="73885"/>
                </a:lnTo>
                <a:lnTo>
                  <a:pt x="35718" y="98226"/>
                </a:lnTo>
                <a:lnTo>
                  <a:pt x="35718" y="103137"/>
                </a:lnTo>
                <a:lnTo>
                  <a:pt x="39737" y="107156"/>
                </a:lnTo>
                <a:lnTo>
                  <a:pt x="195765" y="107156"/>
                </a:lnTo>
                <a:lnTo>
                  <a:pt x="195272" y="113526"/>
                </a:lnTo>
                <a:lnTo>
                  <a:pt x="178961" y="154204"/>
                </a:lnTo>
                <a:lnTo>
                  <a:pt x="170374" y="166147"/>
                </a:lnTo>
                <a:lnTo>
                  <a:pt x="162192" y="177549"/>
                </a:lnTo>
                <a:lnTo>
                  <a:pt x="154513" y="189218"/>
                </a:lnTo>
                <a:lnTo>
                  <a:pt x="147897" y="201379"/>
                </a:lnTo>
                <a:lnTo>
                  <a:pt x="142896" y="214256"/>
                </a:lnTo>
                <a:close/>
              </a:path>
              <a:path w="196850" h="285750">
                <a:moveTo>
                  <a:pt x="195765" y="107156"/>
                </a:moveTo>
                <a:lnTo>
                  <a:pt x="49559" y="107156"/>
                </a:lnTo>
                <a:lnTo>
                  <a:pt x="53578" y="103137"/>
                </a:lnTo>
                <a:lnTo>
                  <a:pt x="53578" y="98226"/>
                </a:lnTo>
                <a:lnTo>
                  <a:pt x="57085" y="80843"/>
                </a:lnTo>
                <a:lnTo>
                  <a:pt x="66651" y="66651"/>
                </a:lnTo>
                <a:lnTo>
                  <a:pt x="80843" y="57085"/>
                </a:lnTo>
                <a:lnTo>
                  <a:pt x="98226" y="53578"/>
                </a:lnTo>
                <a:lnTo>
                  <a:pt x="103137" y="53578"/>
                </a:lnTo>
                <a:lnTo>
                  <a:pt x="107156" y="49559"/>
                </a:lnTo>
                <a:lnTo>
                  <a:pt x="107156" y="39737"/>
                </a:lnTo>
                <a:lnTo>
                  <a:pt x="103137" y="35718"/>
                </a:lnTo>
                <a:lnTo>
                  <a:pt x="172360" y="35718"/>
                </a:lnTo>
                <a:lnTo>
                  <a:pt x="188717" y="59992"/>
                </a:lnTo>
                <a:lnTo>
                  <a:pt x="196441" y="98226"/>
                </a:lnTo>
                <a:lnTo>
                  <a:pt x="195765" y="107156"/>
                </a:lnTo>
                <a:close/>
              </a:path>
              <a:path w="196850" h="285750">
                <a:moveTo>
                  <a:pt x="98226" y="285750"/>
                </a:moveTo>
                <a:lnTo>
                  <a:pt x="80843" y="282242"/>
                </a:lnTo>
                <a:lnTo>
                  <a:pt x="66651" y="272676"/>
                </a:lnTo>
                <a:lnTo>
                  <a:pt x="57085" y="258484"/>
                </a:lnTo>
                <a:lnTo>
                  <a:pt x="53578" y="241101"/>
                </a:lnTo>
                <a:lnTo>
                  <a:pt x="53578" y="232171"/>
                </a:lnTo>
                <a:lnTo>
                  <a:pt x="142875" y="232171"/>
                </a:lnTo>
                <a:lnTo>
                  <a:pt x="142875" y="241101"/>
                </a:lnTo>
                <a:lnTo>
                  <a:pt x="139367" y="258484"/>
                </a:lnTo>
                <a:lnTo>
                  <a:pt x="129801" y="272676"/>
                </a:lnTo>
                <a:lnTo>
                  <a:pt x="115609" y="282242"/>
                </a:lnTo>
                <a:lnTo>
                  <a:pt x="98226" y="28575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773112" y="7028025"/>
            <a:ext cx="7579359" cy="52514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관리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10">
                <a:solidFill>
                  <a:srgbClr val="333333"/>
                </a:solidFill>
                <a:latin typeface="Dotum"/>
                <a:cs typeface="Dotum"/>
              </a:rPr>
              <a:t>핵심</a:t>
            </a:r>
            <a:r>
              <a:rPr dirty="0" sz="155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550" spc="-335">
                <a:solidFill>
                  <a:srgbClr val="333333"/>
                </a:solidFill>
                <a:latin typeface="Dotum"/>
                <a:cs typeface="Dotum"/>
              </a:rPr>
              <a:t>전략</a:t>
            </a:r>
            <a:endParaRPr sz="15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명확한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거버넌스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180">
                <a:solidFill>
                  <a:srgbClr val="374050"/>
                </a:solidFill>
                <a:latin typeface="Dotum"/>
                <a:cs typeface="Dotum"/>
              </a:rPr>
              <a:t>체계</a:t>
            </a:r>
            <a:r>
              <a:rPr dirty="0" sz="1200" spc="-180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200" spc="1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주간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리스크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180">
                <a:solidFill>
                  <a:srgbClr val="374050"/>
                </a:solidFill>
                <a:latin typeface="Dotum"/>
                <a:cs typeface="Dotum"/>
              </a:rPr>
              <a:t>리뷰</a:t>
            </a:r>
            <a:r>
              <a:rPr dirty="0" sz="1200" spc="-180">
                <a:solidFill>
                  <a:srgbClr val="374050"/>
                </a:solidFill>
                <a:latin typeface="Segoe UI"/>
                <a:cs typeface="Segoe UI"/>
              </a:rPr>
              <a:t>,</a:t>
            </a:r>
            <a:r>
              <a:rPr dirty="0" sz="1200" spc="15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변화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관리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프로그램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운영으로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전환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과정의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장애물을</a:t>
            </a:r>
            <a:r>
              <a:rPr dirty="0" sz="1350" spc="-114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74050"/>
                </a:solidFill>
                <a:latin typeface="Dotum"/>
                <a:cs typeface="Dotum"/>
              </a:rPr>
              <a:t>효과적으로</a:t>
            </a:r>
            <a:r>
              <a:rPr dirty="0" sz="1350" spc="-11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50" spc="-155">
                <a:solidFill>
                  <a:srgbClr val="374050"/>
                </a:solidFill>
                <a:latin typeface="Dotum"/>
                <a:cs typeface="Dotum"/>
              </a:rPr>
              <a:t>관리하겠습니다</a:t>
            </a:r>
            <a:r>
              <a:rPr dirty="0" sz="1200" spc="-155">
                <a:solidFill>
                  <a:srgbClr val="374050"/>
                </a:solidFill>
                <a:latin typeface="Segoe UI"/>
                <a:cs typeface="Segoe UI"/>
              </a:rPr>
              <a:t>.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0658474" y="7429500"/>
            <a:ext cx="1343025" cy="323850"/>
            <a:chOff x="10658474" y="7429500"/>
            <a:chExt cx="1343025" cy="323850"/>
          </a:xfrm>
        </p:grpSpPr>
        <p:sp>
          <p:nvSpPr>
            <p:cNvPr id="63" name="object 63" descr=""/>
            <p:cNvSpPr/>
            <p:nvPr/>
          </p:nvSpPr>
          <p:spPr>
            <a:xfrm>
              <a:off x="10658474" y="7429500"/>
              <a:ext cx="1343025" cy="323850"/>
            </a:xfrm>
            <a:custGeom>
              <a:avLst/>
              <a:gdLst/>
              <a:ahLst/>
              <a:cxnLst/>
              <a:rect l="l" t="t" r="r" b="b"/>
              <a:pathLst>
                <a:path w="1343025" h="323850">
                  <a:moveTo>
                    <a:pt x="13099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09977" y="0"/>
                  </a:lnTo>
                  <a:lnTo>
                    <a:pt x="1342057" y="28187"/>
                  </a:lnTo>
                  <a:lnTo>
                    <a:pt x="1343024" y="33047"/>
                  </a:lnTo>
                  <a:lnTo>
                    <a:pt x="1343024" y="290802"/>
                  </a:lnTo>
                  <a:lnTo>
                    <a:pt x="1314837" y="322883"/>
                  </a:lnTo>
                  <a:lnTo>
                    <a:pt x="13099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72774" y="7524749"/>
              <a:ext cx="133349" cy="133349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10949234" y="7503008"/>
            <a:ext cx="951230" cy="1778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r>
              <a:rPr dirty="0" sz="1000" spc="-30">
                <a:solidFill>
                  <a:srgbClr val="FFFFFF"/>
                </a:solidFill>
                <a:latin typeface="Dotum"/>
                <a:cs typeface="Dotum"/>
              </a:rPr>
              <a:t>로</a:t>
            </a:r>
            <a:r>
              <a:rPr dirty="0" sz="1000" spc="-4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0">
                <a:solidFill>
                  <a:srgbClr val="FFFFFF"/>
                </a:solidFill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Call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10"/>
              <a:t>Action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700" spc="-325" b="0">
                <a:latin typeface="Dotum"/>
                <a:cs typeface="Dotum"/>
              </a:rPr>
              <a:t>핵심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요청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및</a:t>
            </a:r>
            <a:r>
              <a:rPr dirty="0" sz="1700" spc="-155" b="0">
                <a:latin typeface="Dotum"/>
                <a:cs typeface="Dotum"/>
              </a:rPr>
              <a:t> </a:t>
            </a:r>
            <a:r>
              <a:rPr dirty="0" sz="1700" spc="-325" b="0">
                <a:latin typeface="Dotum"/>
                <a:cs typeface="Dotum"/>
              </a:rPr>
              <a:t>다음</a:t>
            </a:r>
            <a:r>
              <a:rPr dirty="0" sz="1700" spc="-160" b="0">
                <a:latin typeface="Dotum"/>
                <a:cs typeface="Dotum"/>
              </a:rPr>
              <a:t> </a:t>
            </a:r>
            <a:r>
              <a:rPr dirty="0" sz="1700" spc="-350" b="0">
                <a:latin typeface="Dotum"/>
                <a:cs typeface="Dotum"/>
              </a:rPr>
              <a:t>단계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4799" y="1238249"/>
            <a:ext cx="11582400" cy="1638300"/>
            <a:chOff x="304799" y="1238249"/>
            <a:chExt cx="11582400" cy="1638300"/>
          </a:xfrm>
        </p:grpSpPr>
        <p:sp>
          <p:nvSpPr>
            <p:cNvPr id="4" name="object 4" descr=""/>
            <p:cNvSpPr/>
            <p:nvPr/>
          </p:nvSpPr>
          <p:spPr>
            <a:xfrm>
              <a:off x="304799" y="1238249"/>
              <a:ext cx="11582400" cy="1638300"/>
            </a:xfrm>
            <a:custGeom>
              <a:avLst/>
              <a:gdLst/>
              <a:ahLst/>
              <a:cxnLst/>
              <a:rect l="l" t="t" r="r" b="b"/>
              <a:pathLst>
                <a:path w="11582400" h="1638300">
                  <a:moveTo>
                    <a:pt x="11511202" y="1638299"/>
                  </a:moveTo>
                  <a:lnTo>
                    <a:pt x="71196" y="1638299"/>
                  </a:lnTo>
                  <a:lnTo>
                    <a:pt x="66241" y="1637811"/>
                  </a:lnTo>
                  <a:lnTo>
                    <a:pt x="29705" y="1622677"/>
                  </a:lnTo>
                  <a:lnTo>
                    <a:pt x="3885" y="1586637"/>
                  </a:lnTo>
                  <a:lnTo>
                    <a:pt x="0" y="1567103"/>
                  </a:lnTo>
                  <a:lnTo>
                    <a:pt x="0" y="15620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511202" y="0"/>
                  </a:lnTo>
                  <a:lnTo>
                    <a:pt x="11552691" y="15621"/>
                  </a:lnTo>
                  <a:lnTo>
                    <a:pt x="11578512" y="51661"/>
                  </a:lnTo>
                  <a:lnTo>
                    <a:pt x="11582397" y="71196"/>
                  </a:lnTo>
                  <a:lnTo>
                    <a:pt x="11582397" y="1567103"/>
                  </a:lnTo>
                  <a:lnTo>
                    <a:pt x="11566775" y="1608594"/>
                  </a:lnTo>
                  <a:lnTo>
                    <a:pt x="11530735" y="1634414"/>
                  </a:lnTo>
                  <a:lnTo>
                    <a:pt x="11516156" y="1637811"/>
                  </a:lnTo>
                  <a:lnTo>
                    <a:pt x="11511202" y="16382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1478756"/>
              <a:ext cx="214312" cy="16668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773112" y="1407286"/>
            <a:ext cx="2008505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b="1">
                <a:solidFill>
                  <a:srgbClr val="1C4ED8"/>
                </a:solidFill>
                <a:latin typeface="Segoe UI"/>
                <a:cs typeface="Segoe UI"/>
              </a:rPr>
              <a:t>MSA </a:t>
            </a:r>
            <a:r>
              <a:rPr dirty="0" sz="1700" spc="-325">
                <a:solidFill>
                  <a:srgbClr val="1C4ED8"/>
                </a:solidFill>
                <a:latin typeface="Dotum"/>
                <a:cs typeface="Dotum"/>
              </a:rPr>
              <a:t>전환</a:t>
            </a:r>
            <a:r>
              <a:rPr dirty="0" sz="170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1C4ED8"/>
                </a:solidFill>
                <a:latin typeface="Dotum"/>
                <a:cs typeface="Dotum"/>
              </a:rPr>
              <a:t>프로젝트</a:t>
            </a:r>
            <a:r>
              <a:rPr dirty="0" sz="1700" spc="-15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1C4ED8"/>
                </a:solidFill>
                <a:latin typeface="Dotum"/>
                <a:cs typeface="Dotum"/>
              </a:rPr>
              <a:t>요약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95299" y="1771650"/>
            <a:ext cx="3581400" cy="914400"/>
            <a:chOff x="495299" y="1771650"/>
            <a:chExt cx="3581400" cy="914400"/>
          </a:xfrm>
        </p:grpSpPr>
        <p:sp>
          <p:nvSpPr>
            <p:cNvPr id="8" name="object 8" descr=""/>
            <p:cNvSpPr/>
            <p:nvPr/>
          </p:nvSpPr>
          <p:spPr>
            <a:xfrm>
              <a:off x="495299" y="1771650"/>
              <a:ext cx="3581400" cy="914400"/>
            </a:xfrm>
            <a:custGeom>
              <a:avLst/>
              <a:gdLst/>
              <a:ahLst/>
              <a:cxnLst/>
              <a:rect l="l" t="t" r="r" b="b"/>
              <a:pathLst>
                <a:path w="3581400" h="914400">
                  <a:moveTo>
                    <a:pt x="3510203" y="914399"/>
                  </a:moveTo>
                  <a:lnTo>
                    <a:pt x="71196" y="914399"/>
                  </a:lnTo>
                  <a:lnTo>
                    <a:pt x="66241" y="913911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10203" y="0"/>
                  </a:lnTo>
                  <a:lnTo>
                    <a:pt x="3551693" y="15621"/>
                  </a:lnTo>
                  <a:lnTo>
                    <a:pt x="3577513" y="51661"/>
                  </a:lnTo>
                  <a:lnTo>
                    <a:pt x="3581399" y="71196"/>
                  </a:lnTo>
                  <a:lnTo>
                    <a:pt x="3581399" y="843203"/>
                  </a:lnTo>
                  <a:lnTo>
                    <a:pt x="3565777" y="884694"/>
                  </a:lnTo>
                  <a:lnTo>
                    <a:pt x="3529737" y="910513"/>
                  </a:lnTo>
                  <a:lnTo>
                    <a:pt x="3515158" y="913911"/>
                  </a:lnTo>
                  <a:lnTo>
                    <a:pt x="3510203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088" y="1924049"/>
              <a:ext cx="151423" cy="15239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596899" y="1765029"/>
            <a:ext cx="3261995" cy="8020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0"/>
              </a:spcBef>
            </a:pP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목표</a:t>
            </a:r>
            <a:endParaRPr sz="1350">
              <a:latin typeface="Dotum"/>
              <a:cs typeface="Dotum"/>
            </a:endParaRPr>
          </a:p>
          <a:p>
            <a:pPr marL="12700" marR="5080">
              <a:lnSpc>
                <a:spcPct val="108700"/>
              </a:lnSpc>
              <a:spcBef>
                <a:spcPts val="63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레거시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시스템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현대화를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통한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비즈니스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민첩성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향상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210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r>
              <a:rPr dirty="0" sz="1150" spc="50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리스크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Dotum"/>
                <a:cs typeface="Dotum"/>
              </a:rPr>
              <a:t>감소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305299" y="1771650"/>
            <a:ext cx="3581400" cy="914400"/>
            <a:chOff x="4305299" y="1771650"/>
            <a:chExt cx="3581400" cy="914400"/>
          </a:xfrm>
        </p:grpSpPr>
        <p:sp>
          <p:nvSpPr>
            <p:cNvPr id="12" name="object 12" descr=""/>
            <p:cNvSpPr/>
            <p:nvPr/>
          </p:nvSpPr>
          <p:spPr>
            <a:xfrm>
              <a:off x="4305299" y="1771650"/>
              <a:ext cx="3581400" cy="914400"/>
            </a:xfrm>
            <a:custGeom>
              <a:avLst/>
              <a:gdLst/>
              <a:ahLst/>
              <a:cxnLst/>
              <a:rect l="l" t="t" r="r" b="b"/>
              <a:pathLst>
                <a:path w="3581400" h="914400">
                  <a:moveTo>
                    <a:pt x="3510202" y="914399"/>
                  </a:moveTo>
                  <a:lnTo>
                    <a:pt x="71196" y="914399"/>
                  </a:lnTo>
                  <a:lnTo>
                    <a:pt x="66241" y="913911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10202" y="0"/>
                  </a:lnTo>
                  <a:lnTo>
                    <a:pt x="3551693" y="15621"/>
                  </a:lnTo>
                  <a:lnTo>
                    <a:pt x="3577512" y="51661"/>
                  </a:lnTo>
                  <a:lnTo>
                    <a:pt x="3581399" y="71196"/>
                  </a:lnTo>
                  <a:lnTo>
                    <a:pt x="3581399" y="843203"/>
                  </a:lnTo>
                  <a:lnTo>
                    <a:pt x="3565777" y="884694"/>
                  </a:lnTo>
                  <a:lnTo>
                    <a:pt x="3529737" y="910513"/>
                  </a:lnTo>
                  <a:lnTo>
                    <a:pt x="3515157" y="913911"/>
                  </a:lnTo>
                  <a:lnTo>
                    <a:pt x="3510202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9599" y="1933574"/>
              <a:ext cx="152399" cy="13334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406900" y="1765029"/>
            <a:ext cx="3348990" cy="8020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0"/>
              </a:spcBef>
            </a:pPr>
            <a:r>
              <a:rPr dirty="0" sz="1350" spc="-260">
                <a:solidFill>
                  <a:srgbClr val="2562EB"/>
                </a:solidFill>
                <a:latin typeface="Dotum"/>
                <a:cs typeface="Dotum"/>
              </a:rPr>
              <a:t>기대</a:t>
            </a:r>
            <a:r>
              <a:rPr dirty="0" sz="1350" spc="-114">
                <a:solidFill>
                  <a:srgbClr val="2562EB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효과</a:t>
            </a:r>
            <a:endParaRPr sz="1350">
              <a:latin typeface="Dotum"/>
              <a:cs typeface="Dotum"/>
            </a:endParaRPr>
          </a:p>
          <a:p>
            <a:pPr marL="12700" marR="5080">
              <a:lnSpc>
                <a:spcPct val="108700"/>
              </a:lnSpc>
              <a:spcBef>
                <a:spcPts val="63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개발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속도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50%</a:t>
            </a:r>
            <a:r>
              <a:rPr dirty="0" sz="10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향상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장애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80%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감소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dirty="0" sz="10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고객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경험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개선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TCO</a:t>
            </a:r>
            <a:r>
              <a:rPr dirty="0" sz="10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210">
                <a:solidFill>
                  <a:srgbClr val="333333"/>
                </a:solidFill>
                <a:latin typeface="Dotum"/>
                <a:cs typeface="Dotum"/>
              </a:rPr>
              <a:t>절</a:t>
            </a:r>
            <a:r>
              <a:rPr dirty="0" sz="1150" spc="-50">
                <a:solidFill>
                  <a:srgbClr val="333333"/>
                </a:solidFill>
                <a:latin typeface="Dotum"/>
                <a:cs typeface="Dotum"/>
              </a:rPr>
              <a:t> 감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115298" y="1771650"/>
            <a:ext cx="3581400" cy="914400"/>
            <a:chOff x="8115298" y="1771650"/>
            <a:chExt cx="3581400" cy="914400"/>
          </a:xfrm>
        </p:grpSpPr>
        <p:sp>
          <p:nvSpPr>
            <p:cNvPr id="16" name="object 16" descr=""/>
            <p:cNvSpPr/>
            <p:nvPr/>
          </p:nvSpPr>
          <p:spPr>
            <a:xfrm>
              <a:off x="8115298" y="1771650"/>
              <a:ext cx="3581400" cy="914400"/>
            </a:xfrm>
            <a:custGeom>
              <a:avLst/>
              <a:gdLst/>
              <a:ahLst/>
              <a:cxnLst/>
              <a:rect l="l" t="t" r="r" b="b"/>
              <a:pathLst>
                <a:path w="3581400" h="914400">
                  <a:moveTo>
                    <a:pt x="3510203" y="914399"/>
                  </a:moveTo>
                  <a:lnTo>
                    <a:pt x="71196" y="914399"/>
                  </a:lnTo>
                  <a:lnTo>
                    <a:pt x="66241" y="913911"/>
                  </a:lnTo>
                  <a:lnTo>
                    <a:pt x="29705" y="898777"/>
                  </a:lnTo>
                  <a:lnTo>
                    <a:pt x="3885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10203" y="0"/>
                  </a:lnTo>
                  <a:lnTo>
                    <a:pt x="3551692" y="15621"/>
                  </a:lnTo>
                  <a:lnTo>
                    <a:pt x="3577514" y="51661"/>
                  </a:lnTo>
                  <a:lnTo>
                    <a:pt x="3581400" y="71196"/>
                  </a:lnTo>
                  <a:lnTo>
                    <a:pt x="3581400" y="843203"/>
                  </a:lnTo>
                  <a:lnTo>
                    <a:pt x="3565776" y="884694"/>
                  </a:lnTo>
                  <a:lnTo>
                    <a:pt x="3529737" y="910513"/>
                  </a:lnTo>
                  <a:lnTo>
                    <a:pt x="3515157" y="913911"/>
                  </a:lnTo>
                  <a:lnTo>
                    <a:pt x="3510203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8884" y="1932741"/>
              <a:ext cx="153114" cy="12942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216900" y="1765029"/>
            <a:ext cx="3363595" cy="8020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0"/>
              </a:spcBef>
            </a:pPr>
            <a:r>
              <a:rPr dirty="0" sz="1350" spc="-260">
                <a:solidFill>
                  <a:srgbClr val="2562EB"/>
                </a:solidFill>
                <a:latin typeface="Dotum"/>
                <a:cs typeface="Dotum"/>
              </a:rPr>
              <a:t>접근</a:t>
            </a:r>
            <a:r>
              <a:rPr dirty="0" sz="1350" spc="-114">
                <a:solidFill>
                  <a:srgbClr val="2562EB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2562EB"/>
                </a:solidFill>
                <a:latin typeface="Dotum"/>
                <a:cs typeface="Dotum"/>
              </a:rPr>
              <a:t>방식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150" spc="-135">
                <a:solidFill>
                  <a:srgbClr val="333333"/>
                </a:solidFill>
                <a:latin typeface="Dotum"/>
                <a:cs typeface="Dotum"/>
              </a:rPr>
              <a:t>기술</a:t>
            </a:r>
            <a:r>
              <a:rPr dirty="0" sz="1050" spc="-135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dirty="0" sz="1150" spc="-135">
                <a:solidFill>
                  <a:srgbClr val="333333"/>
                </a:solidFill>
                <a:latin typeface="Dotum"/>
                <a:cs typeface="Dotum"/>
              </a:rPr>
              <a:t>조직</a:t>
            </a:r>
            <a:r>
              <a:rPr dirty="0" sz="1050" spc="-135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프로세스</a:t>
            </a:r>
            <a:r>
              <a:rPr dirty="0" sz="1150" spc="-7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00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150" spc="-100">
                <a:solidFill>
                  <a:srgbClr val="333333"/>
                </a:solidFill>
                <a:latin typeface="Dotum"/>
                <a:cs typeface="Dotum"/>
              </a:rPr>
              <a:t>축</a:t>
            </a:r>
            <a:r>
              <a:rPr dirty="0" sz="1150" spc="-7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전략으로</a:t>
            </a:r>
            <a:r>
              <a:rPr dirty="0" sz="1150" spc="-7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단계적</a:t>
            </a:r>
            <a:r>
              <a:rPr dirty="0" sz="1150" spc="-7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r>
              <a:rPr dirty="0" sz="1150" spc="-7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(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준비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endParaRPr sz="11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1150" spc="-10">
                <a:solidFill>
                  <a:srgbClr val="333333"/>
                </a:solidFill>
                <a:latin typeface="Dotum"/>
                <a:cs typeface="Dotum"/>
              </a:rPr>
              <a:t>확산</a:t>
            </a: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dirty="0" sz="1150" spc="-10">
                <a:solidFill>
                  <a:srgbClr val="333333"/>
                </a:solidFill>
                <a:latin typeface="Dotum"/>
                <a:cs typeface="Dotum"/>
              </a:rPr>
              <a:t>안정화</a:t>
            </a:r>
            <a:r>
              <a:rPr dirty="0" sz="1050" spc="-10">
                <a:solidFill>
                  <a:srgbClr val="333333"/>
                </a:solidFill>
                <a:latin typeface="Segoe UI"/>
                <a:cs typeface="Segoe UI"/>
              </a:rPr>
              <a:t>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04799" y="3524526"/>
            <a:ext cx="70485" cy="2466975"/>
          </a:xfrm>
          <a:custGeom>
            <a:avLst/>
            <a:gdLst/>
            <a:ahLst/>
            <a:cxnLst/>
            <a:rect l="l" t="t" r="r" b="b"/>
            <a:pathLst>
              <a:path w="70485" h="2466975">
                <a:moveTo>
                  <a:pt x="70450" y="2466419"/>
                </a:moveTo>
                <a:lnTo>
                  <a:pt x="33857" y="2453866"/>
                </a:lnTo>
                <a:lnTo>
                  <a:pt x="5800" y="2419657"/>
                </a:lnTo>
                <a:lnTo>
                  <a:pt x="0" y="2390497"/>
                </a:lnTo>
                <a:lnTo>
                  <a:pt x="0" y="75922"/>
                </a:lnTo>
                <a:lnTo>
                  <a:pt x="12830" y="33579"/>
                </a:lnTo>
                <a:lnTo>
                  <a:pt x="47039" y="5522"/>
                </a:lnTo>
                <a:lnTo>
                  <a:pt x="70449" y="0"/>
                </a:lnTo>
                <a:lnTo>
                  <a:pt x="66287" y="1655"/>
                </a:lnTo>
                <a:lnTo>
                  <a:pt x="56951" y="9389"/>
                </a:lnTo>
                <a:lnTo>
                  <a:pt x="41000" y="46761"/>
                </a:lnTo>
                <a:lnTo>
                  <a:pt x="38100" y="75922"/>
                </a:lnTo>
                <a:lnTo>
                  <a:pt x="38100" y="2390497"/>
                </a:lnTo>
                <a:lnTo>
                  <a:pt x="44515" y="2432838"/>
                </a:lnTo>
                <a:lnTo>
                  <a:pt x="66287" y="2464762"/>
                </a:lnTo>
                <a:lnTo>
                  <a:pt x="70450" y="2466419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95299" y="4210049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5295899" y="9524"/>
                </a:moveTo>
                <a:lnTo>
                  <a:pt x="0" y="9524"/>
                </a:lnTo>
                <a:lnTo>
                  <a:pt x="0" y="0"/>
                </a:lnTo>
                <a:lnTo>
                  <a:pt x="5295899" y="0"/>
                </a:lnTo>
                <a:lnTo>
                  <a:pt x="5295899" y="9524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95299" y="4752974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5295899" y="9524"/>
                </a:moveTo>
                <a:lnTo>
                  <a:pt x="0" y="9524"/>
                </a:lnTo>
                <a:lnTo>
                  <a:pt x="0" y="0"/>
                </a:lnTo>
                <a:lnTo>
                  <a:pt x="5295899" y="0"/>
                </a:lnTo>
                <a:lnTo>
                  <a:pt x="5295899" y="9524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95299" y="5295899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5295899" y="9524"/>
                </a:moveTo>
                <a:lnTo>
                  <a:pt x="0" y="9524"/>
                </a:lnTo>
                <a:lnTo>
                  <a:pt x="0" y="0"/>
                </a:lnTo>
                <a:lnTo>
                  <a:pt x="5295899" y="0"/>
                </a:lnTo>
                <a:lnTo>
                  <a:pt x="5295899" y="9524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99" y="3143249"/>
            <a:ext cx="142874" cy="190499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511175" y="3083686"/>
            <a:ext cx="118237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요청</a:t>
            </a:r>
            <a:r>
              <a:rPr dirty="0" sz="1700" spc="-15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승인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사항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71499" y="3790949"/>
            <a:ext cx="304800" cy="304800"/>
            <a:chOff x="571499" y="3790949"/>
            <a:chExt cx="304800" cy="304800"/>
          </a:xfrm>
        </p:grpSpPr>
        <p:sp>
          <p:nvSpPr>
            <p:cNvPr id="26" name="object 26" descr=""/>
            <p:cNvSpPr/>
            <p:nvPr/>
          </p:nvSpPr>
          <p:spPr>
            <a:xfrm>
              <a:off x="571499" y="37909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1"/>
                  </a:lnTo>
                  <a:lnTo>
                    <a:pt x="243192" y="274804"/>
                  </a:lnTo>
                  <a:lnTo>
                    <a:pt x="203733" y="295894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272" y="3894802"/>
              <a:ext cx="135225" cy="97125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977900" y="3714116"/>
            <a:ext cx="2061845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200" b="1">
                <a:solidFill>
                  <a:srgbClr val="333333"/>
                </a:solidFill>
                <a:latin typeface="Segoe UI Semibold"/>
                <a:cs typeface="Segoe UI Semibold"/>
              </a:rPr>
              <a:t>MSA</a:t>
            </a:r>
            <a:r>
              <a:rPr dirty="0" sz="1200" spc="5" b="1">
                <a:solidFill>
                  <a:srgbClr val="333333"/>
                </a:solidFill>
                <a:latin typeface="Segoe UI Semibold"/>
                <a:cs typeface="Segoe UI Semibold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프로젝트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승인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고객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관리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모듈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MSA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전환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시작</a:t>
            </a:r>
            <a:endParaRPr sz="1000">
              <a:latin typeface="Dotum"/>
              <a:cs typeface="Dotum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71499" y="4333874"/>
            <a:ext cx="304800" cy="304800"/>
            <a:chOff x="571499" y="4333874"/>
            <a:chExt cx="304800" cy="304800"/>
          </a:xfrm>
        </p:grpSpPr>
        <p:sp>
          <p:nvSpPr>
            <p:cNvPr id="30" name="object 30" descr=""/>
            <p:cNvSpPr/>
            <p:nvPr/>
          </p:nvSpPr>
          <p:spPr>
            <a:xfrm>
              <a:off x="571499" y="43338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1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272" y="4437727"/>
              <a:ext cx="135225" cy="97125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977900" y="4257040"/>
            <a:ext cx="1598930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초기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예산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200" spc="-110" b="1">
                <a:solidFill>
                  <a:srgbClr val="333333"/>
                </a:solidFill>
                <a:latin typeface="Segoe UI Semibold"/>
                <a:cs typeface="Segoe UI Semibold"/>
              </a:rPr>
              <a:t>1.8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억원</a:t>
            </a:r>
            <a:r>
              <a:rPr dirty="0" sz="1350" spc="-10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승인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45">
                <a:solidFill>
                  <a:srgbClr val="4A5462"/>
                </a:solidFill>
                <a:latin typeface="Dotum"/>
                <a:cs typeface="Dotum"/>
              </a:rPr>
              <a:t>인프라</a:t>
            </a:r>
            <a:r>
              <a:rPr dirty="0" sz="900" spc="-145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30">
                <a:solidFill>
                  <a:srgbClr val="4A5462"/>
                </a:solidFill>
                <a:latin typeface="Dotum"/>
                <a:cs typeface="Dotum"/>
              </a:rPr>
              <a:t>도구</a:t>
            </a:r>
            <a:r>
              <a:rPr dirty="0" sz="900" spc="-13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교육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및</a:t>
            </a:r>
            <a:r>
              <a:rPr dirty="0" sz="100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컨설팅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14">
                <a:solidFill>
                  <a:srgbClr val="4A5462"/>
                </a:solidFill>
                <a:latin typeface="Dotum"/>
                <a:cs typeface="Dotum"/>
              </a:rPr>
              <a:t>비용</a:t>
            </a:r>
            <a:endParaRPr sz="1000">
              <a:latin typeface="Dotum"/>
              <a:cs typeface="Dotum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571499" y="4876799"/>
            <a:ext cx="304800" cy="304800"/>
            <a:chOff x="571499" y="4876799"/>
            <a:chExt cx="304800" cy="304800"/>
          </a:xfrm>
        </p:grpSpPr>
        <p:sp>
          <p:nvSpPr>
            <p:cNvPr id="34" name="object 34" descr=""/>
            <p:cNvSpPr/>
            <p:nvPr/>
          </p:nvSpPr>
          <p:spPr>
            <a:xfrm>
              <a:off x="571499" y="4876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8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8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2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272" y="4980652"/>
              <a:ext cx="135225" cy="97125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977900" y="4799965"/>
            <a:ext cx="1896110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팀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구성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승인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기술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리더</a:t>
            </a:r>
            <a:r>
              <a:rPr dirty="0" sz="10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65">
                <a:solidFill>
                  <a:srgbClr val="4A5462"/>
                </a:solidFill>
                <a:latin typeface="Segoe UI"/>
                <a:cs typeface="Segoe UI"/>
              </a:rPr>
              <a:t>1</a:t>
            </a:r>
            <a:r>
              <a:rPr dirty="0" sz="1000" spc="-65">
                <a:solidFill>
                  <a:srgbClr val="4A5462"/>
                </a:solidFill>
                <a:latin typeface="Dotum"/>
                <a:cs typeface="Dotum"/>
              </a:rPr>
              <a:t>명</a:t>
            </a:r>
            <a:r>
              <a:rPr dirty="0" sz="900" spc="-65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개발자</a:t>
            </a:r>
            <a:r>
              <a:rPr dirty="0" sz="10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65">
                <a:solidFill>
                  <a:srgbClr val="4A5462"/>
                </a:solidFill>
                <a:latin typeface="Segoe UI"/>
                <a:cs typeface="Segoe UI"/>
              </a:rPr>
              <a:t>3</a:t>
            </a:r>
            <a:r>
              <a:rPr dirty="0" sz="1000" spc="-65">
                <a:solidFill>
                  <a:srgbClr val="4A5462"/>
                </a:solidFill>
                <a:latin typeface="Dotum"/>
                <a:cs typeface="Dotum"/>
              </a:rPr>
              <a:t>명</a:t>
            </a:r>
            <a:r>
              <a:rPr dirty="0" sz="900" spc="-65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 DevOps </a:t>
            </a:r>
            <a:r>
              <a:rPr dirty="0" sz="900" spc="-25">
                <a:solidFill>
                  <a:srgbClr val="4A5462"/>
                </a:solidFill>
                <a:latin typeface="Segoe UI"/>
                <a:cs typeface="Segoe UI"/>
              </a:rPr>
              <a:t>1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명</a:t>
            </a:r>
            <a:endParaRPr sz="1000">
              <a:latin typeface="Dotum"/>
              <a:cs typeface="Dotum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71499" y="5419724"/>
            <a:ext cx="304800" cy="304800"/>
            <a:chOff x="571499" y="5419724"/>
            <a:chExt cx="304800" cy="304800"/>
          </a:xfrm>
        </p:grpSpPr>
        <p:sp>
          <p:nvSpPr>
            <p:cNvPr id="38" name="object 38" descr=""/>
            <p:cNvSpPr/>
            <p:nvPr/>
          </p:nvSpPr>
          <p:spPr>
            <a:xfrm>
              <a:off x="571499" y="5419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8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272" y="5523577"/>
              <a:ext cx="135225" cy="97125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977900" y="5342890"/>
            <a:ext cx="1693545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전담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거버넌스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위원회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구성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IT,</a:t>
            </a:r>
            <a:r>
              <a:rPr dirty="0" sz="900" spc="5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55">
                <a:solidFill>
                  <a:srgbClr val="4A5462"/>
                </a:solidFill>
                <a:latin typeface="Dotum"/>
                <a:cs typeface="Dotum"/>
              </a:rPr>
              <a:t>비즈니스</a:t>
            </a:r>
            <a:r>
              <a:rPr dirty="0" sz="900" spc="-155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dirty="0" sz="90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운영</a:t>
            </a:r>
            <a:r>
              <a:rPr dirty="0" sz="10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부서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4A5462"/>
                </a:solidFill>
                <a:latin typeface="Dotum"/>
                <a:cs typeface="Dotum"/>
              </a:rPr>
              <a:t>책임자</a:t>
            </a:r>
            <a:r>
              <a:rPr dirty="0" sz="10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000" spc="-95">
                <a:solidFill>
                  <a:srgbClr val="4A5462"/>
                </a:solidFill>
                <a:latin typeface="Dotum"/>
                <a:cs typeface="Dotum"/>
              </a:rPr>
              <a:t>참여</a:t>
            </a:r>
            <a:endParaRPr sz="1000">
              <a:latin typeface="Dotum"/>
              <a:cs typeface="Dotum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48399" y="3143249"/>
            <a:ext cx="190499" cy="190499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6502399" y="3083686"/>
            <a:ext cx="118237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필요</a:t>
            </a:r>
            <a:r>
              <a:rPr dirty="0" sz="1700" spc="-15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자원</a:t>
            </a:r>
            <a:r>
              <a:rPr dirty="0" sz="1700" spc="-15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50">
                <a:solidFill>
                  <a:srgbClr val="333333"/>
                </a:solidFill>
                <a:latin typeface="Dotum"/>
                <a:cs typeface="Dotum"/>
              </a:rPr>
              <a:t>요약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6248398" y="3524249"/>
            <a:ext cx="2743200" cy="1485900"/>
            <a:chOff x="6248398" y="3524249"/>
            <a:chExt cx="2743200" cy="1485900"/>
          </a:xfrm>
        </p:grpSpPr>
        <p:sp>
          <p:nvSpPr>
            <p:cNvPr id="44" name="object 44" descr=""/>
            <p:cNvSpPr/>
            <p:nvPr/>
          </p:nvSpPr>
          <p:spPr>
            <a:xfrm>
              <a:off x="6248398" y="3524249"/>
              <a:ext cx="2743200" cy="1485900"/>
            </a:xfrm>
            <a:custGeom>
              <a:avLst/>
              <a:gdLst/>
              <a:ahLst/>
              <a:cxnLst/>
              <a:rect l="l" t="t" r="r" b="b"/>
              <a:pathLst>
                <a:path w="2743200" h="1485900">
                  <a:moveTo>
                    <a:pt x="2672003" y="1485899"/>
                  </a:moveTo>
                  <a:lnTo>
                    <a:pt x="71196" y="1485899"/>
                  </a:lnTo>
                  <a:lnTo>
                    <a:pt x="66241" y="1485412"/>
                  </a:lnTo>
                  <a:lnTo>
                    <a:pt x="29705" y="1470277"/>
                  </a:lnTo>
                  <a:lnTo>
                    <a:pt x="3885" y="1434237"/>
                  </a:lnTo>
                  <a:lnTo>
                    <a:pt x="0" y="1414703"/>
                  </a:lnTo>
                  <a:lnTo>
                    <a:pt x="0" y="1409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72003" y="0"/>
                  </a:lnTo>
                  <a:lnTo>
                    <a:pt x="2713493" y="15621"/>
                  </a:lnTo>
                  <a:lnTo>
                    <a:pt x="2739313" y="51661"/>
                  </a:lnTo>
                  <a:lnTo>
                    <a:pt x="2743200" y="71196"/>
                  </a:lnTo>
                  <a:lnTo>
                    <a:pt x="2743200" y="1414703"/>
                  </a:lnTo>
                  <a:lnTo>
                    <a:pt x="2727578" y="1456193"/>
                  </a:lnTo>
                  <a:lnTo>
                    <a:pt x="2691537" y="1482014"/>
                  </a:lnTo>
                  <a:lnTo>
                    <a:pt x="2676958" y="1485412"/>
                  </a:lnTo>
                  <a:lnTo>
                    <a:pt x="2672003" y="14858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400799" y="367664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9030" y="71437"/>
                  </a:moveTo>
                  <a:lnTo>
                    <a:pt x="59557" y="71437"/>
                  </a:lnTo>
                  <a:lnTo>
                    <a:pt x="55000" y="70531"/>
                  </a:lnTo>
                  <a:lnTo>
                    <a:pt x="28574" y="40455"/>
                  </a:lnTo>
                  <a:lnTo>
                    <a:pt x="28574" y="30982"/>
                  </a:lnTo>
                  <a:lnTo>
                    <a:pt x="55000" y="906"/>
                  </a:lnTo>
                  <a:lnTo>
                    <a:pt x="59557" y="0"/>
                  </a:lnTo>
                  <a:lnTo>
                    <a:pt x="69030" y="0"/>
                  </a:lnTo>
                  <a:lnTo>
                    <a:pt x="99106" y="26425"/>
                  </a:lnTo>
                  <a:lnTo>
                    <a:pt x="100012" y="30982"/>
                  </a:lnTo>
                  <a:lnTo>
                    <a:pt x="100012" y="40455"/>
                  </a:lnTo>
                  <a:lnTo>
                    <a:pt x="73586" y="70531"/>
                  </a:lnTo>
                  <a:lnTo>
                    <a:pt x="69030" y="71437"/>
                  </a:lnTo>
                  <a:close/>
                </a:path>
                <a:path w="285750" h="228600">
                  <a:moveTo>
                    <a:pt x="233336" y="71437"/>
                  </a:moveTo>
                  <a:lnTo>
                    <a:pt x="223863" y="71437"/>
                  </a:lnTo>
                  <a:lnTo>
                    <a:pt x="219307" y="70531"/>
                  </a:lnTo>
                  <a:lnTo>
                    <a:pt x="192881" y="40455"/>
                  </a:lnTo>
                  <a:lnTo>
                    <a:pt x="192881" y="30982"/>
                  </a:lnTo>
                  <a:lnTo>
                    <a:pt x="219307" y="906"/>
                  </a:lnTo>
                  <a:lnTo>
                    <a:pt x="223863" y="0"/>
                  </a:lnTo>
                  <a:lnTo>
                    <a:pt x="233336" y="0"/>
                  </a:lnTo>
                  <a:lnTo>
                    <a:pt x="263412" y="26425"/>
                  </a:lnTo>
                  <a:lnTo>
                    <a:pt x="264318" y="30982"/>
                  </a:lnTo>
                  <a:lnTo>
                    <a:pt x="264318" y="40455"/>
                  </a:lnTo>
                  <a:lnTo>
                    <a:pt x="237892" y="70531"/>
                  </a:lnTo>
                  <a:lnTo>
                    <a:pt x="233336" y="71437"/>
                  </a:lnTo>
                  <a:close/>
                </a:path>
                <a:path w="285750" h="228600">
                  <a:moveTo>
                    <a:pt x="148558" y="142874"/>
                  </a:moveTo>
                  <a:lnTo>
                    <a:pt x="137191" y="142874"/>
                  </a:lnTo>
                  <a:lnTo>
                    <a:pt x="131723" y="141787"/>
                  </a:lnTo>
                  <a:lnTo>
                    <a:pt x="101100" y="111164"/>
                  </a:lnTo>
                  <a:lnTo>
                    <a:pt x="100012" y="105696"/>
                  </a:lnTo>
                  <a:lnTo>
                    <a:pt x="100012" y="94328"/>
                  </a:lnTo>
                  <a:lnTo>
                    <a:pt x="100862" y="90055"/>
                  </a:lnTo>
                  <a:lnTo>
                    <a:pt x="100978" y="89470"/>
                  </a:lnTo>
                  <a:lnTo>
                    <a:pt x="131723" y="58237"/>
                  </a:lnTo>
                  <a:lnTo>
                    <a:pt x="137191" y="57150"/>
                  </a:lnTo>
                  <a:lnTo>
                    <a:pt x="148558" y="57150"/>
                  </a:lnTo>
                  <a:lnTo>
                    <a:pt x="180299" y="78358"/>
                  </a:lnTo>
                  <a:lnTo>
                    <a:pt x="185737" y="94328"/>
                  </a:lnTo>
                  <a:lnTo>
                    <a:pt x="185737" y="105696"/>
                  </a:lnTo>
                  <a:lnTo>
                    <a:pt x="164528" y="137437"/>
                  </a:lnTo>
                  <a:lnTo>
                    <a:pt x="154026" y="141787"/>
                  </a:lnTo>
                  <a:lnTo>
                    <a:pt x="148558" y="142874"/>
                  </a:lnTo>
                  <a:close/>
                </a:path>
                <a:path w="285750" h="228600">
                  <a:moveTo>
                    <a:pt x="105102" y="142874"/>
                  </a:moveTo>
                  <a:lnTo>
                    <a:pt x="4286" y="142874"/>
                  </a:lnTo>
                  <a:lnTo>
                    <a:pt x="0" y="138588"/>
                  </a:lnTo>
                  <a:lnTo>
                    <a:pt x="0" y="133364"/>
                  </a:lnTo>
                  <a:lnTo>
                    <a:pt x="3745" y="114826"/>
                  </a:lnTo>
                  <a:lnTo>
                    <a:pt x="13958" y="99683"/>
                  </a:lnTo>
                  <a:lnTo>
                    <a:pt x="29101" y="89470"/>
                  </a:lnTo>
                  <a:lnTo>
                    <a:pt x="47639" y="85725"/>
                  </a:lnTo>
                  <a:lnTo>
                    <a:pt x="73803" y="85725"/>
                  </a:lnTo>
                  <a:lnTo>
                    <a:pt x="80353" y="87243"/>
                  </a:lnTo>
                  <a:lnTo>
                    <a:pt x="83996" y="88860"/>
                  </a:lnTo>
                  <a:lnTo>
                    <a:pt x="86617" y="90055"/>
                  </a:lnTo>
                  <a:lnTo>
                    <a:pt x="86037" y="93270"/>
                  </a:lnTo>
                  <a:lnTo>
                    <a:pt x="85769" y="96619"/>
                  </a:lnTo>
                  <a:lnTo>
                    <a:pt x="85769" y="100012"/>
                  </a:lnTo>
                  <a:lnTo>
                    <a:pt x="87126" y="112429"/>
                  </a:lnTo>
                  <a:lnTo>
                    <a:pt x="90999" y="123904"/>
                  </a:lnTo>
                  <a:lnTo>
                    <a:pt x="97090" y="134149"/>
                  </a:lnTo>
                  <a:lnTo>
                    <a:pt x="105102" y="142874"/>
                  </a:lnTo>
                  <a:close/>
                </a:path>
                <a:path w="285750" h="228600">
                  <a:moveTo>
                    <a:pt x="281463" y="142874"/>
                  </a:moveTo>
                  <a:lnTo>
                    <a:pt x="180647" y="142874"/>
                  </a:lnTo>
                  <a:lnTo>
                    <a:pt x="188678" y="134149"/>
                  </a:lnTo>
                  <a:lnTo>
                    <a:pt x="194767" y="123904"/>
                  </a:lnTo>
                  <a:lnTo>
                    <a:pt x="198629" y="112429"/>
                  </a:lnTo>
                  <a:lnTo>
                    <a:pt x="199980" y="100012"/>
                  </a:lnTo>
                  <a:lnTo>
                    <a:pt x="199980" y="96619"/>
                  </a:lnTo>
                  <a:lnTo>
                    <a:pt x="199763" y="94328"/>
                  </a:lnTo>
                  <a:lnTo>
                    <a:pt x="199660" y="93270"/>
                  </a:lnTo>
                  <a:lnTo>
                    <a:pt x="199132" y="90055"/>
                  </a:lnTo>
                  <a:lnTo>
                    <a:pt x="205204" y="87243"/>
                  </a:lnTo>
                  <a:lnTo>
                    <a:pt x="211946" y="85725"/>
                  </a:lnTo>
                  <a:lnTo>
                    <a:pt x="238110" y="85725"/>
                  </a:lnTo>
                  <a:lnTo>
                    <a:pt x="256648" y="89470"/>
                  </a:lnTo>
                  <a:lnTo>
                    <a:pt x="271791" y="99683"/>
                  </a:lnTo>
                  <a:lnTo>
                    <a:pt x="282004" y="114826"/>
                  </a:lnTo>
                  <a:lnTo>
                    <a:pt x="285750" y="133364"/>
                  </a:lnTo>
                  <a:lnTo>
                    <a:pt x="285750" y="138588"/>
                  </a:lnTo>
                  <a:lnTo>
                    <a:pt x="281463" y="142874"/>
                  </a:lnTo>
                  <a:close/>
                </a:path>
                <a:path w="285750" h="228600">
                  <a:moveTo>
                    <a:pt x="223286" y="228600"/>
                  </a:moveTo>
                  <a:lnTo>
                    <a:pt x="62507" y="228600"/>
                  </a:lnTo>
                  <a:lnTo>
                    <a:pt x="57150" y="223242"/>
                  </a:lnTo>
                  <a:lnTo>
                    <a:pt x="57150" y="216678"/>
                  </a:lnTo>
                  <a:lnTo>
                    <a:pt x="61828" y="193516"/>
                  </a:lnTo>
                  <a:lnTo>
                    <a:pt x="74585" y="174597"/>
                  </a:lnTo>
                  <a:lnTo>
                    <a:pt x="93503" y="161840"/>
                  </a:lnTo>
                  <a:lnTo>
                    <a:pt x="116666" y="157162"/>
                  </a:lnTo>
                  <a:lnTo>
                    <a:pt x="169083" y="157162"/>
                  </a:lnTo>
                  <a:lnTo>
                    <a:pt x="192246" y="161840"/>
                  </a:lnTo>
                  <a:lnTo>
                    <a:pt x="211164" y="174597"/>
                  </a:lnTo>
                  <a:lnTo>
                    <a:pt x="223921" y="193516"/>
                  </a:lnTo>
                  <a:lnTo>
                    <a:pt x="228600" y="216678"/>
                  </a:lnTo>
                  <a:lnTo>
                    <a:pt x="228600" y="223242"/>
                  </a:lnTo>
                  <a:lnTo>
                    <a:pt x="223286" y="228600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6731000" y="3555730"/>
            <a:ext cx="1275080" cy="12973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950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인력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구성</a:t>
            </a:r>
            <a:endParaRPr sz="1350">
              <a:latin typeface="Dotum"/>
              <a:cs typeface="Dotum"/>
            </a:endParaRPr>
          </a:p>
          <a:p>
            <a:pPr marL="12700" marR="250190">
              <a:lnSpc>
                <a:spcPct val="130400"/>
              </a:lnSpc>
              <a:spcBef>
                <a:spcPts val="33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기술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리더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35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150" spc="-35">
                <a:solidFill>
                  <a:srgbClr val="333333"/>
                </a:solidFill>
                <a:latin typeface="Dotum"/>
                <a:cs typeface="Dotum"/>
              </a:rPr>
              <a:t>명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백엔드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개발자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14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r>
              <a:rPr dirty="0" sz="1150" spc="-114">
                <a:solidFill>
                  <a:srgbClr val="333333"/>
                </a:solidFill>
                <a:latin typeface="Dotum"/>
                <a:cs typeface="Dotum"/>
              </a:rPr>
              <a:t>명</a:t>
            </a:r>
            <a:endParaRPr sz="1150">
              <a:latin typeface="Dotum"/>
              <a:cs typeface="Dotum"/>
            </a:endParaRPr>
          </a:p>
          <a:p>
            <a:pPr marL="12700" marR="5080">
              <a:lnSpc>
                <a:spcPct val="130400"/>
              </a:lnSpc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프론트엔드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개발자</a:t>
            </a:r>
            <a:r>
              <a:rPr dirty="0" sz="1150" spc="-7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114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150" spc="-114">
                <a:solidFill>
                  <a:srgbClr val="333333"/>
                </a:solidFill>
                <a:latin typeface="Dotum"/>
                <a:cs typeface="Dotum"/>
              </a:rPr>
              <a:t>명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DevOps</a:t>
            </a:r>
            <a:r>
              <a:rPr dirty="0" sz="10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엔지니어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25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150" spc="-25">
                <a:solidFill>
                  <a:srgbClr val="333333"/>
                </a:solidFill>
                <a:latin typeface="Dotum"/>
                <a:cs typeface="Dotum"/>
              </a:rPr>
              <a:t>명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9143998" y="3524249"/>
            <a:ext cx="2743200" cy="1485900"/>
            <a:chOff x="9143998" y="3524249"/>
            <a:chExt cx="2743200" cy="1485900"/>
          </a:xfrm>
        </p:grpSpPr>
        <p:sp>
          <p:nvSpPr>
            <p:cNvPr id="48" name="object 48" descr=""/>
            <p:cNvSpPr/>
            <p:nvPr/>
          </p:nvSpPr>
          <p:spPr>
            <a:xfrm>
              <a:off x="9143998" y="3524249"/>
              <a:ext cx="2743200" cy="1485900"/>
            </a:xfrm>
            <a:custGeom>
              <a:avLst/>
              <a:gdLst/>
              <a:ahLst/>
              <a:cxnLst/>
              <a:rect l="l" t="t" r="r" b="b"/>
              <a:pathLst>
                <a:path w="2743200" h="1485900">
                  <a:moveTo>
                    <a:pt x="2672003" y="1485899"/>
                  </a:moveTo>
                  <a:lnTo>
                    <a:pt x="71196" y="1485899"/>
                  </a:lnTo>
                  <a:lnTo>
                    <a:pt x="66241" y="1485412"/>
                  </a:lnTo>
                  <a:lnTo>
                    <a:pt x="29705" y="1470277"/>
                  </a:lnTo>
                  <a:lnTo>
                    <a:pt x="3885" y="1434237"/>
                  </a:lnTo>
                  <a:lnTo>
                    <a:pt x="0" y="1414703"/>
                  </a:lnTo>
                  <a:lnTo>
                    <a:pt x="0" y="1409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72003" y="0"/>
                  </a:lnTo>
                  <a:lnTo>
                    <a:pt x="2713492" y="15621"/>
                  </a:lnTo>
                  <a:lnTo>
                    <a:pt x="2739313" y="51661"/>
                  </a:lnTo>
                  <a:lnTo>
                    <a:pt x="2743199" y="71196"/>
                  </a:lnTo>
                  <a:lnTo>
                    <a:pt x="2743199" y="1414703"/>
                  </a:lnTo>
                  <a:lnTo>
                    <a:pt x="2727576" y="1456193"/>
                  </a:lnTo>
                  <a:lnTo>
                    <a:pt x="2691537" y="1482014"/>
                  </a:lnTo>
                  <a:lnTo>
                    <a:pt x="2676957" y="1485412"/>
                  </a:lnTo>
                  <a:lnTo>
                    <a:pt x="2672003" y="14858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96399" y="3690937"/>
              <a:ext cx="228600" cy="200025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9626599" y="3555730"/>
            <a:ext cx="1196340" cy="127444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예산</a:t>
            </a:r>
            <a:endParaRPr sz="1350">
              <a:latin typeface="Dotum"/>
              <a:cs typeface="Dotum"/>
            </a:endParaRPr>
          </a:p>
          <a:p>
            <a:pPr marL="12700" marR="5080">
              <a:lnSpc>
                <a:spcPct val="130400"/>
              </a:lnSpc>
              <a:spcBef>
                <a:spcPts val="335"/>
              </a:spcBef>
            </a:pPr>
            <a:r>
              <a:rPr dirty="0" sz="1150" spc="-145">
                <a:solidFill>
                  <a:srgbClr val="333333"/>
                </a:solidFill>
                <a:latin typeface="Dotum"/>
                <a:cs typeface="Dotum"/>
              </a:rPr>
              <a:t>인프라</a:t>
            </a:r>
            <a:r>
              <a:rPr dirty="0" sz="1050" spc="-145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25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150" spc="-25">
                <a:solidFill>
                  <a:srgbClr val="333333"/>
                </a:solidFill>
                <a:latin typeface="Dotum"/>
                <a:cs typeface="Dotum"/>
              </a:rPr>
              <a:t>억원 </a:t>
            </a:r>
            <a:r>
              <a:rPr dirty="0" sz="1150" spc="-140">
                <a:solidFill>
                  <a:srgbClr val="333333"/>
                </a:solidFill>
                <a:latin typeface="Dotum"/>
                <a:cs typeface="Dotum"/>
              </a:rPr>
              <a:t>도구</a:t>
            </a:r>
            <a:r>
              <a:rPr dirty="0" sz="1050" spc="-14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dirty="0" sz="1150" spc="-140">
                <a:solidFill>
                  <a:srgbClr val="333333"/>
                </a:solidFill>
                <a:latin typeface="Dotum"/>
                <a:cs typeface="Dotum"/>
              </a:rPr>
              <a:t>솔루션</a:t>
            </a:r>
            <a:r>
              <a:rPr dirty="0" sz="1050" spc="-14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155">
                <a:solidFill>
                  <a:srgbClr val="333333"/>
                </a:solidFill>
                <a:latin typeface="Segoe UI"/>
                <a:cs typeface="Segoe UI"/>
              </a:rPr>
              <a:t>5</a:t>
            </a:r>
            <a:r>
              <a:rPr dirty="0" sz="1150" spc="-155">
                <a:solidFill>
                  <a:srgbClr val="333333"/>
                </a:solidFill>
                <a:latin typeface="Dotum"/>
                <a:cs typeface="Dotum"/>
              </a:rPr>
              <a:t>천만원 </a:t>
            </a:r>
            <a:r>
              <a:rPr dirty="0" sz="1150" spc="-140">
                <a:solidFill>
                  <a:srgbClr val="333333"/>
                </a:solidFill>
                <a:latin typeface="Dotum"/>
                <a:cs typeface="Dotum"/>
              </a:rPr>
              <a:t>교육</a:t>
            </a:r>
            <a:r>
              <a:rPr dirty="0" sz="1050" spc="-14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dirty="0" sz="1150" spc="-140">
                <a:solidFill>
                  <a:srgbClr val="333333"/>
                </a:solidFill>
                <a:latin typeface="Dotum"/>
                <a:cs typeface="Dotum"/>
              </a:rPr>
              <a:t>컨설팅</a:t>
            </a:r>
            <a:r>
              <a:rPr dirty="0" sz="1050" spc="-14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155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150" spc="-155">
                <a:solidFill>
                  <a:srgbClr val="333333"/>
                </a:solidFill>
                <a:latin typeface="Dotum"/>
                <a:cs typeface="Dotum"/>
              </a:rPr>
              <a:t>천만원 </a:t>
            </a: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(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총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1.8</a:t>
            </a:r>
            <a:r>
              <a:rPr dirty="0" sz="1000" spc="-10">
                <a:solidFill>
                  <a:srgbClr val="4A5462"/>
                </a:solidFill>
                <a:latin typeface="Dotum"/>
                <a:cs typeface="Dotum"/>
              </a:rPr>
              <a:t>억원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6248398" y="5162549"/>
            <a:ext cx="2743200" cy="1257300"/>
            <a:chOff x="6248398" y="5162549"/>
            <a:chExt cx="2743200" cy="1257300"/>
          </a:xfrm>
        </p:grpSpPr>
        <p:sp>
          <p:nvSpPr>
            <p:cNvPr id="52" name="object 52" descr=""/>
            <p:cNvSpPr/>
            <p:nvPr/>
          </p:nvSpPr>
          <p:spPr>
            <a:xfrm>
              <a:off x="6248398" y="5162549"/>
              <a:ext cx="2743200" cy="1257300"/>
            </a:xfrm>
            <a:custGeom>
              <a:avLst/>
              <a:gdLst/>
              <a:ahLst/>
              <a:cxnLst/>
              <a:rect l="l" t="t" r="r" b="b"/>
              <a:pathLst>
                <a:path w="2743200" h="1257300">
                  <a:moveTo>
                    <a:pt x="2672003" y="1257299"/>
                  </a:moveTo>
                  <a:lnTo>
                    <a:pt x="71196" y="1257299"/>
                  </a:lnTo>
                  <a:lnTo>
                    <a:pt x="66241" y="1256811"/>
                  </a:lnTo>
                  <a:lnTo>
                    <a:pt x="29705" y="1241677"/>
                  </a:lnTo>
                  <a:lnTo>
                    <a:pt x="3885" y="1205637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72003" y="0"/>
                  </a:lnTo>
                  <a:lnTo>
                    <a:pt x="2713493" y="15621"/>
                  </a:lnTo>
                  <a:lnTo>
                    <a:pt x="2739313" y="51661"/>
                  </a:lnTo>
                  <a:lnTo>
                    <a:pt x="2743200" y="71196"/>
                  </a:lnTo>
                  <a:lnTo>
                    <a:pt x="2743200" y="1186103"/>
                  </a:lnTo>
                  <a:lnTo>
                    <a:pt x="2727578" y="1227593"/>
                  </a:lnTo>
                  <a:lnTo>
                    <a:pt x="2691537" y="1253413"/>
                  </a:lnTo>
                  <a:lnTo>
                    <a:pt x="2676958" y="1256811"/>
                  </a:lnTo>
                  <a:lnTo>
                    <a:pt x="2672003" y="1257299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0799" y="5314949"/>
              <a:ext cx="200025" cy="228600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6702425" y="5194029"/>
            <a:ext cx="1123315" cy="10687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일정</a:t>
            </a:r>
            <a:endParaRPr sz="1350">
              <a:latin typeface="Dotum"/>
              <a:cs typeface="Dotum"/>
            </a:endParaRPr>
          </a:p>
          <a:p>
            <a:pPr algn="just" marL="40640" marR="5080">
              <a:lnSpc>
                <a:spcPct val="130400"/>
              </a:lnSpc>
              <a:spcBef>
                <a:spcPts val="335"/>
              </a:spcBef>
            </a:pPr>
            <a:r>
              <a:rPr dirty="0" sz="1150" spc="-285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r>
              <a:rPr dirty="0" sz="1150" spc="1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55">
                <a:solidFill>
                  <a:srgbClr val="333333"/>
                </a:solidFill>
                <a:latin typeface="Dotum"/>
                <a:cs typeface="Dotum"/>
              </a:rPr>
              <a:t>준비</a:t>
            </a:r>
            <a:r>
              <a:rPr dirty="0" sz="1050" spc="-155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45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150" spc="-45">
                <a:solidFill>
                  <a:srgbClr val="333333"/>
                </a:solidFill>
                <a:latin typeface="Dotum"/>
                <a:cs typeface="Dotum"/>
              </a:rPr>
              <a:t>개월 </a:t>
            </a:r>
            <a:r>
              <a:rPr dirty="0" sz="1150" spc="-285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r>
              <a:rPr dirty="0" sz="1150" spc="1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55">
                <a:solidFill>
                  <a:srgbClr val="333333"/>
                </a:solidFill>
                <a:latin typeface="Dotum"/>
                <a:cs typeface="Dotum"/>
              </a:rPr>
              <a:t>구현</a:t>
            </a:r>
            <a:r>
              <a:rPr dirty="0" sz="1050" spc="-155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45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dirty="0" sz="1150" spc="-45">
                <a:solidFill>
                  <a:srgbClr val="333333"/>
                </a:solidFill>
                <a:latin typeface="Dotum"/>
                <a:cs typeface="Dotum"/>
              </a:rPr>
              <a:t>개월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검증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150" spc="-8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30">
                <a:solidFill>
                  <a:srgbClr val="333333"/>
                </a:solidFill>
                <a:latin typeface="Dotum"/>
                <a:cs typeface="Dotum"/>
              </a:rPr>
              <a:t>평가</a:t>
            </a:r>
            <a:r>
              <a:rPr dirty="0" sz="1050" spc="-13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dirty="0" sz="10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050" spc="-140">
                <a:solidFill>
                  <a:srgbClr val="333333"/>
                </a:solidFill>
                <a:latin typeface="Segoe UI"/>
                <a:cs typeface="Segoe UI"/>
              </a:rPr>
              <a:t>1</a:t>
            </a:r>
            <a:r>
              <a:rPr dirty="0" sz="1150" spc="-140">
                <a:solidFill>
                  <a:srgbClr val="333333"/>
                </a:solidFill>
                <a:latin typeface="Dotum"/>
                <a:cs typeface="Dotum"/>
              </a:rPr>
              <a:t>개월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9143998" y="5162549"/>
            <a:ext cx="2743200" cy="1257300"/>
            <a:chOff x="9143998" y="5162549"/>
            <a:chExt cx="2743200" cy="1257300"/>
          </a:xfrm>
        </p:grpSpPr>
        <p:sp>
          <p:nvSpPr>
            <p:cNvPr id="56" name="object 56" descr=""/>
            <p:cNvSpPr/>
            <p:nvPr/>
          </p:nvSpPr>
          <p:spPr>
            <a:xfrm>
              <a:off x="9143998" y="5162549"/>
              <a:ext cx="2743200" cy="1257300"/>
            </a:xfrm>
            <a:custGeom>
              <a:avLst/>
              <a:gdLst/>
              <a:ahLst/>
              <a:cxnLst/>
              <a:rect l="l" t="t" r="r" b="b"/>
              <a:pathLst>
                <a:path w="2743200" h="1257300">
                  <a:moveTo>
                    <a:pt x="2672003" y="1257299"/>
                  </a:moveTo>
                  <a:lnTo>
                    <a:pt x="71196" y="1257299"/>
                  </a:lnTo>
                  <a:lnTo>
                    <a:pt x="66241" y="1256811"/>
                  </a:lnTo>
                  <a:lnTo>
                    <a:pt x="29705" y="1241677"/>
                  </a:lnTo>
                  <a:lnTo>
                    <a:pt x="3885" y="1205637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72003" y="0"/>
                  </a:lnTo>
                  <a:lnTo>
                    <a:pt x="2713492" y="15621"/>
                  </a:lnTo>
                  <a:lnTo>
                    <a:pt x="2739313" y="51661"/>
                  </a:lnTo>
                  <a:lnTo>
                    <a:pt x="2743199" y="71196"/>
                  </a:lnTo>
                  <a:lnTo>
                    <a:pt x="2743199" y="1186103"/>
                  </a:lnTo>
                  <a:lnTo>
                    <a:pt x="2727576" y="1227593"/>
                  </a:lnTo>
                  <a:lnTo>
                    <a:pt x="2691537" y="1253413"/>
                  </a:lnTo>
                  <a:lnTo>
                    <a:pt x="2676957" y="1256811"/>
                  </a:lnTo>
                  <a:lnTo>
                    <a:pt x="2672003" y="12572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296399" y="5314949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99310" y="28575"/>
                  </a:moveTo>
                  <a:lnTo>
                    <a:pt x="57864" y="28575"/>
                  </a:lnTo>
                  <a:lnTo>
                    <a:pt x="57730" y="26253"/>
                  </a:lnTo>
                  <a:lnTo>
                    <a:pt x="57641" y="23886"/>
                  </a:lnTo>
                  <a:lnTo>
                    <a:pt x="57551" y="21520"/>
                  </a:lnTo>
                  <a:lnTo>
                    <a:pt x="58985" y="13185"/>
                  </a:lnTo>
                  <a:lnTo>
                    <a:pt x="63462" y="6340"/>
                  </a:lnTo>
                  <a:lnTo>
                    <a:pt x="70241" y="1705"/>
                  </a:lnTo>
                  <a:lnTo>
                    <a:pt x="78581" y="0"/>
                  </a:lnTo>
                  <a:lnTo>
                    <a:pt x="178593" y="0"/>
                  </a:lnTo>
                  <a:lnTo>
                    <a:pt x="186933" y="1705"/>
                  </a:lnTo>
                  <a:lnTo>
                    <a:pt x="193712" y="6340"/>
                  </a:lnTo>
                  <a:lnTo>
                    <a:pt x="198189" y="13185"/>
                  </a:lnTo>
                  <a:lnTo>
                    <a:pt x="199623" y="21520"/>
                  </a:lnTo>
                  <a:lnTo>
                    <a:pt x="199535" y="23886"/>
                  </a:lnTo>
                  <a:lnTo>
                    <a:pt x="199444" y="26253"/>
                  </a:lnTo>
                  <a:lnTo>
                    <a:pt x="199310" y="28575"/>
                  </a:lnTo>
                  <a:close/>
                </a:path>
                <a:path w="257175" h="228600">
                  <a:moveTo>
                    <a:pt x="150465" y="200025"/>
                  </a:moveTo>
                  <a:lnTo>
                    <a:pt x="106709" y="200025"/>
                  </a:lnTo>
                  <a:lnTo>
                    <a:pt x="114300" y="192434"/>
                  </a:lnTo>
                  <a:lnTo>
                    <a:pt x="114300" y="183103"/>
                  </a:lnTo>
                  <a:lnTo>
                    <a:pt x="82358" y="158089"/>
                  </a:lnTo>
                  <a:lnTo>
                    <a:pt x="66632" y="151196"/>
                  </a:lnTo>
                  <a:lnTo>
                    <a:pt x="35049" y="128900"/>
                  </a:lnTo>
                  <a:lnTo>
                    <a:pt x="9990" y="92282"/>
                  </a:lnTo>
                  <a:lnTo>
                    <a:pt x="0" y="39290"/>
                  </a:lnTo>
                  <a:lnTo>
                    <a:pt x="0" y="33352"/>
                  </a:lnTo>
                  <a:lnTo>
                    <a:pt x="4777" y="28575"/>
                  </a:lnTo>
                  <a:lnTo>
                    <a:pt x="252397" y="28575"/>
                  </a:lnTo>
                  <a:lnTo>
                    <a:pt x="257175" y="33352"/>
                  </a:lnTo>
                  <a:lnTo>
                    <a:pt x="257175" y="39290"/>
                  </a:lnTo>
                  <a:lnTo>
                    <a:pt x="256185" y="50006"/>
                  </a:lnTo>
                  <a:lnTo>
                    <a:pt x="21877" y="50006"/>
                  </a:lnTo>
                  <a:lnTo>
                    <a:pt x="25205" y="70469"/>
                  </a:lnTo>
                  <a:lnTo>
                    <a:pt x="49865" y="113379"/>
                  </a:lnTo>
                  <a:lnTo>
                    <a:pt x="82688" y="135106"/>
                  </a:lnTo>
                  <a:lnTo>
                    <a:pt x="214615" y="135106"/>
                  </a:lnTo>
                  <a:lnTo>
                    <a:pt x="206690" y="141615"/>
                  </a:lnTo>
                  <a:lnTo>
                    <a:pt x="190581" y="151196"/>
                  </a:lnTo>
                  <a:lnTo>
                    <a:pt x="174841" y="158089"/>
                  </a:lnTo>
                  <a:lnTo>
                    <a:pt x="160466" y="162743"/>
                  </a:lnTo>
                  <a:lnTo>
                    <a:pt x="153291" y="165899"/>
                  </a:lnTo>
                  <a:lnTo>
                    <a:pt x="147736" y="170713"/>
                  </a:lnTo>
                  <a:lnTo>
                    <a:pt x="144148" y="176632"/>
                  </a:lnTo>
                  <a:lnTo>
                    <a:pt x="142875" y="183103"/>
                  </a:lnTo>
                  <a:lnTo>
                    <a:pt x="142875" y="192434"/>
                  </a:lnTo>
                  <a:lnTo>
                    <a:pt x="150465" y="200025"/>
                  </a:lnTo>
                  <a:close/>
                </a:path>
                <a:path w="257175" h="228600">
                  <a:moveTo>
                    <a:pt x="174530" y="135106"/>
                  </a:moveTo>
                  <a:lnTo>
                    <a:pt x="82688" y="135106"/>
                  </a:lnTo>
                  <a:lnTo>
                    <a:pt x="75363" y="119875"/>
                  </a:lnTo>
                  <a:lnTo>
                    <a:pt x="68825" y="100894"/>
                  </a:lnTo>
                  <a:lnTo>
                    <a:pt x="63425" y="77744"/>
                  </a:lnTo>
                  <a:lnTo>
                    <a:pt x="59516" y="50006"/>
                  </a:lnTo>
                  <a:lnTo>
                    <a:pt x="197703" y="50006"/>
                  </a:lnTo>
                  <a:lnTo>
                    <a:pt x="193793" y="77744"/>
                  </a:lnTo>
                  <a:lnTo>
                    <a:pt x="188394" y="100894"/>
                  </a:lnTo>
                  <a:lnTo>
                    <a:pt x="181855" y="119875"/>
                  </a:lnTo>
                  <a:lnTo>
                    <a:pt x="174530" y="135106"/>
                  </a:lnTo>
                  <a:close/>
                </a:path>
                <a:path w="257175" h="228600">
                  <a:moveTo>
                    <a:pt x="214615" y="135106"/>
                  </a:moveTo>
                  <a:lnTo>
                    <a:pt x="174530" y="135106"/>
                  </a:lnTo>
                  <a:lnTo>
                    <a:pt x="182921" y="131033"/>
                  </a:lnTo>
                  <a:lnTo>
                    <a:pt x="191290" y="126131"/>
                  </a:lnTo>
                  <a:lnTo>
                    <a:pt x="225809" y="87667"/>
                  </a:lnTo>
                  <a:lnTo>
                    <a:pt x="235386" y="50006"/>
                  </a:lnTo>
                  <a:lnTo>
                    <a:pt x="256185" y="50006"/>
                  </a:lnTo>
                  <a:lnTo>
                    <a:pt x="254524" y="67990"/>
                  </a:lnTo>
                  <a:lnTo>
                    <a:pt x="247190" y="92282"/>
                  </a:lnTo>
                  <a:lnTo>
                    <a:pt x="236097" y="112481"/>
                  </a:lnTo>
                  <a:lnTo>
                    <a:pt x="222170" y="128900"/>
                  </a:lnTo>
                  <a:lnTo>
                    <a:pt x="214615" y="135106"/>
                  </a:lnTo>
                  <a:close/>
                </a:path>
                <a:path w="257175" h="228600">
                  <a:moveTo>
                    <a:pt x="179352" y="228600"/>
                  </a:moveTo>
                  <a:lnTo>
                    <a:pt x="77822" y="228600"/>
                  </a:lnTo>
                  <a:lnTo>
                    <a:pt x="71437" y="222215"/>
                  </a:lnTo>
                  <a:lnTo>
                    <a:pt x="71437" y="206409"/>
                  </a:lnTo>
                  <a:lnTo>
                    <a:pt x="77822" y="200025"/>
                  </a:lnTo>
                  <a:lnTo>
                    <a:pt x="179352" y="200025"/>
                  </a:lnTo>
                  <a:lnTo>
                    <a:pt x="185737" y="206409"/>
                  </a:lnTo>
                  <a:lnTo>
                    <a:pt x="185737" y="222215"/>
                  </a:lnTo>
                  <a:lnTo>
                    <a:pt x="179352" y="22860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9626599" y="5194029"/>
            <a:ext cx="1369695" cy="106870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950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성공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지표</a:t>
            </a:r>
            <a:endParaRPr sz="1350">
              <a:latin typeface="Dotum"/>
              <a:cs typeface="Dotum"/>
            </a:endParaRPr>
          </a:p>
          <a:p>
            <a:pPr marL="12700" marR="5080">
              <a:lnSpc>
                <a:spcPct val="130400"/>
              </a:lnSpc>
              <a:spcBef>
                <a:spcPts val="335"/>
              </a:spcBef>
            </a:pP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배포</a:t>
            </a:r>
            <a:r>
              <a:rPr dirty="0" sz="1150" spc="-9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주기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50%</a:t>
            </a:r>
            <a:r>
              <a:rPr dirty="0" sz="10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Dotum"/>
                <a:cs typeface="Dotum"/>
              </a:rPr>
              <a:t>단축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테스트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자동화율</a:t>
            </a:r>
            <a:r>
              <a:rPr dirty="0" sz="1150" spc="-8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 spc="-25">
                <a:solidFill>
                  <a:srgbClr val="333333"/>
                </a:solidFill>
                <a:latin typeface="Segoe UI"/>
                <a:cs typeface="Segoe UI"/>
              </a:rPr>
              <a:t>70%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90">
                <a:solidFill>
                  <a:srgbClr val="333333"/>
                </a:solidFill>
                <a:latin typeface="Dotum"/>
                <a:cs typeface="Dotum"/>
              </a:rPr>
              <a:t>안정성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50">
                <a:solidFill>
                  <a:srgbClr val="333333"/>
                </a:solidFill>
                <a:latin typeface="Segoe UI"/>
                <a:cs typeface="Segoe UI"/>
              </a:rPr>
              <a:t>95%</a:t>
            </a:r>
            <a:r>
              <a:rPr dirty="0" sz="10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150" spc="-210">
                <a:solidFill>
                  <a:srgbClr val="333333"/>
                </a:solidFill>
                <a:latin typeface="Dotum"/>
                <a:cs typeface="Dotum"/>
              </a:rPr>
              <a:t>이상</a:t>
            </a:r>
            <a:endParaRPr sz="1150">
              <a:latin typeface="Dotum"/>
              <a:cs typeface="Dotum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4799" y="6698456"/>
            <a:ext cx="214312" cy="166687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582612" y="6626986"/>
            <a:ext cx="779145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-325">
                <a:solidFill>
                  <a:srgbClr val="333333"/>
                </a:solidFill>
                <a:latin typeface="Dotum"/>
                <a:cs typeface="Dotum"/>
              </a:rPr>
              <a:t>다음</a:t>
            </a:r>
            <a:r>
              <a:rPr dirty="0" sz="1700" spc="-15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700" spc="-360">
                <a:solidFill>
                  <a:srgbClr val="333333"/>
                </a:solidFill>
                <a:latin typeface="Dotum"/>
                <a:cs typeface="Dotum"/>
              </a:rPr>
              <a:t>단계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304799" y="8743949"/>
            <a:ext cx="11582400" cy="914400"/>
            <a:chOff x="304799" y="8743949"/>
            <a:chExt cx="11582400" cy="914400"/>
          </a:xfrm>
        </p:grpSpPr>
        <p:sp>
          <p:nvSpPr>
            <p:cNvPr id="62" name="object 62" descr=""/>
            <p:cNvSpPr/>
            <p:nvPr/>
          </p:nvSpPr>
          <p:spPr>
            <a:xfrm>
              <a:off x="304799" y="8743949"/>
              <a:ext cx="11582400" cy="914400"/>
            </a:xfrm>
            <a:custGeom>
              <a:avLst/>
              <a:gdLst/>
              <a:ahLst/>
              <a:cxnLst/>
              <a:rect l="l" t="t" r="r" b="b"/>
              <a:pathLst>
                <a:path w="11582400" h="914400">
                  <a:moveTo>
                    <a:pt x="11511202" y="914399"/>
                  </a:moveTo>
                  <a:lnTo>
                    <a:pt x="71196" y="914399"/>
                  </a:lnTo>
                  <a:lnTo>
                    <a:pt x="66241" y="913912"/>
                  </a:lnTo>
                  <a:lnTo>
                    <a:pt x="29705" y="898777"/>
                  </a:lnTo>
                  <a:lnTo>
                    <a:pt x="3885" y="862736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511202" y="0"/>
                  </a:lnTo>
                  <a:lnTo>
                    <a:pt x="11552691" y="15621"/>
                  </a:lnTo>
                  <a:lnTo>
                    <a:pt x="11578512" y="51660"/>
                  </a:lnTo>
                  <a:lnTo>
                    <a:pt x="11582397" y="71196"/>
                  </a:lnTo>
                  <a:lnTo>
                    <a:pt x="11582397" y="843203"/>
                  </a:lnTo>
                  <a:lnTo>
                    <a:pt x="11566775" y="884694"/>
                  </a:lnTo>
                  <a:lnTo>
                    <a:pt x="11530735" y="910513"/>
                  </a:lnTo>
                  <a:lnTo>
                    <a:pt x="11516156" y="913911"/>
                  </a:lnTo>
                  <a:lnTo>
                    <a:pt x="11511202" y="9143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16732" y="9029716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65263" y="342866"/>
                  </a:moveTo>
                  <a:lnTo>
                    <a:pt x="42905" y="320084"/>
                  </a:lnTo>
                  <a:lnTo>
                    <a:pt x="44602" y="313013"/>
                  </a:lnTo>
                  <a:lnTo>
                    <a:pt x="96104" y="192864"/>
                  </a:lnTo>
                  <a:lnTo>
                    <a:pt x="12522" y="192864"/>
                  </a:lnTo>
                  <a:lnTo>
                    <a:pt x="4486" y="187238"/>
                  </a:lnTo>
                  <a:lnTo>
                    <a:pt x="1338" y="178934"/>
                  </a:lnTo>
                  <a:lnTo>
                    <a:pt x="0" y="172565"/>
                  </a:lnTo>
                  <a:lnTo>
                    <a:pt x="626" y="166209"/>
                  </a:lnTo>
                  <a:lnTo>
                    <a:pt x="178748" y="5274"/>
                  </a:lnTo>
                  <a:lnTo>
                    <a:pt x="191909" y="0"/>
                  </a:lnTo>
                  <a:lnTo>
                    <a:pt x="198941" y="847"/>
                  </a:lnTo>
                  <a:lnTo>
                    <a:pt x="205471" y="4068"/>
                  </a:lnTo>
                  <a:lnTo>
                    <a:pt x="210554" y="9293"/>
                  </a:lnTo>
                  <a:lnTo>
                    <a:pt x="213541" y="15730"/>
                  </a:lnTo>
                  <a:lnTo>
                    <a:pt x="214267" y="22782"/>
                  </a:lnTo>
                  <a:lnTo>
                    <a:pt x="212570" y="29853"/>
                  </a:lnTo>
                  <a:lnTo>
                    <a:pt x="161068" y="150068"/>
                  </a:lnTo>
                  <a:lnTo>
                    <a:pt x="244717" y="150068"/>
                  </a:lnTo>
                  <a:lnTo>
                    <a:pt x="252686" y="155627"/>
                  </a:lnTo>
                  <a:lnTo>
                    <a:pt x="255834" y="163932"/>
                  </a:lnTo>
                  <a:lnTo>
                    <a:pt x="257172" y="170300"/>
                  </a:lnTo>
                  <a:lnTo>
                    <a:pt x="256546" y="176657"/>
                  </a:lnTo>
                  <a:lnTo>
                    <a:pt x="254073" y="182561"/>
                  </a:lnTo>
                  <a:lnTo>
                    <a:pt x="249873" y="187573"/>
                  </a:lnTo>
                  <a:lnTo>
                    <a:pt x="78423" y="337592"/>
                  </a:lnTo>
                  <a:lnTo>
                    <a:pt x="72195" y="341378"/>
                  </a:lnTo>
                  <a:lnTo>
                    <a:pt x="65263" y="3428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973137" y="8907423"/>
            <a:ext cx="8126730" cy="550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409">
                <a:solidFill>
                  <a:srgbClr val="FFFFFF"/>
                </a:solidFill>
                <a:latin typeface="Dotum"/>
                <a:cs typeface="Dotum"/>
              </a:rPr>
              <a:t>지금</a:t>
            </a:r>
            <a:r>
              <a:rPr dirty="0" sz="2050" spc="-19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FFFFFF"/>
                </a:solidFill>
                <a:latin typeface="Dotum"/>
                <a:cs typeface="Dotum"/>
              </a:rPr>
              <a:t>행동하면</a:t>
            </a:r>
            <a:r>
              <a:rPr dirty="0" sz="2050" spc="-19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2050" spc="-409">
                <a:solidFill>
                  <a:srgbClr val="FFFFFF"/>
                </a:solidFill>
                <a:latin typeface="Dotum"/>
                <a:cs typeface="Dotum"/>
              </a:rPr>
              <a:t>미래를</a:t>
            </a:r>
            <a:r>
              <a:rPr dirty="0" sz="2050" spc="-19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2050" spc="-420">
                <a:solidFill>
                  <a:srgbClr val="FFFFFF"/>
                </a:solidFill>
                <a:latin typeface="Dotum"/>
                <a:cs typeface="Dotum"/>
              </a:rPr>
              <a:t>선도합니다</a:t>
            </a:r>
            <a:endParaRPr sz="20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오늘의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결정이</a:t>
            </a:r>
            <a:r>
              <a:rPr dirty="0" sz="1350" spc="-11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향후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200" spc="-20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r>
              <a:rPr dirty="0" sz="1350" spc="-200">
                <a:solidFill>
                  <a:srgbClr val="FFFFFF"/>
                </a:solidFill>
                <a:latin typeface="Dotum"/>
                <a:cs typeface="Dotum"/>
              </a:rPr>
              <a:t>년간의</a:t>
            </a:r>
            <a:r>
              <a:rPr dirty="0" sz="1350" spc="-11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비즈니스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경쟁력을</a:t>
            </a:r>
            <a:r>
              <a:rPr dirty="0" sz="1350" spc="-11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20">
                <a:solidFill>
                  <a:srgbClr val="FFFFFF"/>
                </a:solidFill>
                <a:latin typeface="Dotum"/>
                <a:cs typeface="Dotum"/>
              </a:rPr>
              <a:t>좌우합니다</a:t>
            </a:r>
            <a:r>
              <a:rPr dirty="0" sz="1200" spc="-220">
                <a:solidFill>
                  <a:srgbClr val="FFFFFF"/>
                </a:solidFill>
                <a:latin typeface="Segoe UI"/>
                <a:cs typeface="Segoe UI"/>
              </a:rPr>
              <a:t>.</a:t>
            </a:r>
            <a:r>
              <a:rPr dirty="0" sz="1200" spc="1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FFFFFF"/>
                </a:solidFill>
                <a:latin typeface="Segoe UI"/>
                <a:cs typeface="Segoe UI"/>
              </a:rPr>
              <a:t>MSA</a:t>
            </a:r>
            <a:r>
              <a:rPr dirty="0" sz="1200" spc="1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전환으로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기술</a:t>
            </a:r>
            <a:r>
              <a:rPr dirty="0" sz="1350" spc="-11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부채를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해소하고</a:t>
            </a:r>
            <a:r>
              <a:rPr dirty="0" sz="1350" spc="-11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시장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선도</a:t>
            </a:r>
            <a:r>
              <a:rPr dirty="0" sz="1350" spc="-11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350" spc="-260">
                <a:solidFill>
                  <a:srgbClr val="FFFFFF"/>
                </a:solidFill>
                <a:latin typeface="Dotum"/>
                <a:cs typeface="Dotum"/>
              </a:rPr>
              <a:t>기업으로</a:t>
            </a:r>
            <a:r>
              <a:rPr dirty="0" sz="1350" spc="-114">
                <a:solidFill>
                  <a:srgbClr val="FFFFFF"/>
                </a:solidFill>
                <a:latin typeface="Dotum"/>
                <a:cs typeface="Dotum"/>
              </a:rPr>
              <a:t> 도약합시다</a:t>
            </a:r>
            <a:r>
              <a:rPr dirty="0" sz="1200" spc="-114">
                <a:solidFill>
                  <a:srgbClr val="FFFFFF"/>
                </a:solidFill>
                <a:latin typeface="Segoe UI"/>
                <a:cs typeface="Segoe UI"/>
              </a:rPr>
              <a:t>.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304799" y="7067549"/>
            <a:ext cx="11582400" cy="762000"/>
            <a:chOff x="304799" y="7067549"/>
            <a:chExt cx="11582400" cy="762000"/>
          </a:xfrm>
        </p:grpSpPr>
        <p:sp>
          <p:nvSpPr>
            <p:cNvPr id="66" name="object 66" descr=""/>
            <p:cNvSpPr/>
            <p:nvPr/>
          </p:nvSpPr>
          <p:spPr>
            <a:xfrm>
              <a:off x="304799" y="7448549"/>
              <a:ext cx="11582400" cy="19050"/>
            </a:xfrm>
            <a:custGeom>
              <a:avLst/>
              <a:gdLst/>
              <a:ahLst/>
              <a:cxnLst/>
              <a:rect l="l" t="t" r="r" b="b"/>
              <a:pathLst>
                <a:path w="11582400" h="19050">
                  <a:moveTo>
                    <a:pt x="115823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582399" y="0"/>
                  </a:lnTo>
                  <a:lnTo>
                    <a:pt x="11582399" y="1904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09574" y="70675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2" y="736470"/>
                  </a:lnTo>
                  <a:lnTo>
                    <a:pt x="201397" y="717011"/>
                  </a:lnTo>
                  <a:lnTo>
                    <a:pt x="161614" y="692496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10" y="592670"/>
                  </a:lnTo>
                  <a:lnTo>
                    <a:pt x="40680" y="552298"/>
                  </a:lnTo>
                  <a:lnTo>
                    <a:pt x="22271" y="509353"/>
                  </a:lnTo>
                  <a:lnTo>
                    <a:pt x="9257" y="464479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7"/>
                  </a:lnTo>
                  <a:lnTo>
                    <a:pt x="105059" y="118286"/>
                  </a:lnTo>
                  <a:lnTo>
                    <a:pt x="139296" y="86482"/>
                  </a:lnTo>
                  <a:lnTo>
                    <a:pt x="177168" y="59108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2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90" y="177167"/>
                  </a:lnTo>
                  <a:lnTo>
                    <a:pt x="725420" y="218100"/>
                  </a:lnTo>
                  <a:lnTo>
                    <a:pt x="742769" y="261484"/>
                  </a:lnTo>
                  <a:lnTo>
                    <a:pt x="754679" y="306670"/>
                  </a:lnTo>
                  <a:lnTo>
                    <a:pt x="760967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3"/>
                  </a:lnTo>
                  <a:lnTo>
                    <a:pt x="748199" y="482613"/>
                  </a:lnTo>
                  <a:lnTo>
                    <a:pt x="732997" y="526800"/>
                  </a:lnTo>
                  <a:lnTo>
                    <a:pt x="712501" y="568795"/>
                  </a:lnTo>
                  <a:lnTo>
                    <a:pt x="687022" y="607960"/>
                  </a:lnTo>
                  <a:lnTo>
                    <a:pt x="656940" y="643712"/>
                  </a:lnTo>
                  <a:lnTo>
                    <a:pt x="622703" y="675516"/>
                  </a:lnTo>
                  <a:lnTo>
                    <a:pt x="584831" y="702889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4374" y="7353299"/>
              <a:ext cx="166687" cy="190499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86074" y="7067549"/>
              <a:ext cx="761999" cy="76199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5448299" y="70675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1" y="736470"/>
                  </a:lnTo>
                  <a:lnTo>
                    <a:pt x="201396" y="717011"/>
                  </a:lnTo>
                  <a:lnTo>
                    <a:pt x="161613" y="692496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10" y="592670"/>
                  </a:lnTo>
                  <a:lnTo>
                    <a:pt x="40680" y="552298"/>
                  </a:lnTo>
                  <a:lnTo>
                    <a:pt x="22271" y="509353"/>
                  </a:lnTo>
                  <a:lnTo>
                    <a:pt x="9257" y="464479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7"/>
                  </a:lnTo>
                  <a:lnTo>
                    <a:pt x="105059" y="118286"/>
                  </a:lnTo>
                  <a:lnTo>
                    <a:pt x="139295" y="86482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5" y="49498"/>
                  </a:lnTo>
                  <a:lnTo>
                    <a:pt x="607960" y="74977"/>
                  </a:lnTo>
                  <a:lnTo>
                    <a:pt x="643712" y="105059"/>
                  </a:lnTo>
                  <a:lnTo>
                    <a:pt x="675516" y="139295"/>
                  </a:lnTo>
                  <a:lnTo>
                    <a:pt x="702889" y="177167"/>
                  </a:lnTo>
                  <a:lnTo>
                    <a:pt x="725419" y="218100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7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3"/>
                  </a:lnTo>
                  <a:lnTo>
                    <a:pt x="748199" y="482613"/>
                  </a:lnTo>
                  <a:lnTo>
                    <a:pt x="732997" y="526800"/>
                  </a:lnTo>
                  <a:lnTo>
                    <a:pt x="712501" y="568795"/>
                  </a:lnTo>
                  <a:lnTo>
                    <a:pt x="687021" y="607960"/>
                  </a:lnTo>
                  <a:lnTo>
                    <a:pt x="656939" y="643712"/>
                  </a:lnTo>
                  <a:lnTo>
                    <a:pt x="622702" y="675516"/>
                  </a:lnTo>
                  <a:lnTo>
                    <a:pt x="584830" y="702889"/>
                  </a:lnTo>
                  <a:lnTo>
                    <a:pt x="543897" y="725419"/>
                  </a:lnTo>
                  <a:lnTo>
                    <a:pt x="500514" y="742769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3156" y="7352406"/>
              <a:ext cx="192546" cy="192546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8191499" y="70675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3" y="750581"/>
                  </a:lnTo>
                  <a:lnTo>
                    <a:pt x="243881" y="736470"/>
                  </a:lnTo>
                  <a:lnTo>
                    <a:pt x="201396" y="717011"/>
                  </a:lnTo>
                  <a:lnTo>
                    <a:pt x="161613" y="692496"/>
                  </a:lnTo>
                  <a:lnTo>
                    <a:pt x="125134" y="663302"/>
                  </a:lnTo>
                  <a:lnTo>
                    <a:pt x="92504" y="629860"/>
                  </a:lnTo>
                  <a:lnTo>
                    <a:pt x="64208" y="592670"/>
                  </a:lnTo>
                  <a:lnTo>
                    <a:pt x="40678" y="552298"/>
                  </a:lnTo>
                  <a:lnTo>
                    <a:pt x="22270" y="509353"/>
                  </a:lnTo>
                  <a:lnTo>
                    <a:pt x="9257" y="464479"/>
                  </a:lnTo>
                  <a:lnTo>
                    <a:pt x="1835" y="418344"/>
                  </a:lnTo>
                  <a:lnTo>
                    <a:pt x="0" y="380999"/>
                  </a:lnTo>
                  <a:lnTo>
                    <a:pt x="115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0" y="235197"/>
                  </a:lnTo>
                  <a:lnTo>
                    <a:pt x="49496" y="193203"/>
                  </a:lnTo>
                  <a:lnTo>
                    <a:pt x="74976" y="154037"/>
                  </a:lnTo>
                  <a:lnTo>
                    <a:pt x="105059" y="118286"/>
                  </a:lnTo>
                  <a:lnTo>
                    <a:pt x="139295" y="86482"/>
                  </a:lnTo>
                  <a:lnTo>
                    <a:pt x="177167" y="59108"/>
                  </a:lnTo>
                  <a:lnTo>
                    <a:pt x="218100" y="36579"/>
                  </a:lnTo>
                  <a:lnTo>
                    <a:pt x="261483" y="19230"/>
                  </a:lnTo>
                  <a:lnTo>
                    <a:pt x="306669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7" y="139295"/>
                  </a:lnTo>
                  <a:lnTo>
                    <a:pt x="702889" y="177167"/>
                  </a:lnTo>
                  <a:lnTo>
                    <a:pt x="725419" y="218100"/>
                  </a:lnTo>
                  <a:lnTo>
                    <a:pt x="742768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3"/>
                  </a:lnTo>
                  <a:lnTo>
                    <a:pt x="748198" y="482613"/>
                  </a:lnTo>
                  <a:lnTo>
                    <a:pt x="732997" y="526800"/>
                  </a:lnTo>
                  <a:lnTo>
                    <a:pt x="712500" y="568795"/>
                  </a:lnTo>
                  <a:lnTo>
                    <a:pt x="687021" y="607960"/>
                  </a:lnTo>
                  <a:lnTo>
                    <a:pt x="656940" y="643712"/>
                  </a:lnTo>
                  <a:lnTo>
                    <a:pt x="622703" y="675516"/>
                  </a:lnTo>
                  <a:lnTo>
                    <a:pt x="584831" y="702889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47521" y="7351922"/>
              <a:ext cx="240431" cy="193253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0934699" y="706754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2" y="750581"/>
                  </a:lnTo>
                  <a:lnTo>
                    <a:pt x="243879" y="736470"/>
                  </a:lnTo>
                  <a:lnTo>
                    <a:pt x="201395" y="717011"/>
                  </a:lnTo>
                  <a:lnTo>
                    <a:pt x="161612" y="692496"/>
                  </a:lnTo>
                  <a:lnTo>
                    <a:pt x="125134" y="663302"/>
                  </a:lnTo>
                  <a:lnTo>
                    <a:pt x="92503" y="629860"/>
                  </a:lnTo>
                  <a:lnTo>
                    <a:pt x="64207" y="592670"/>
                  </a:lnTo>
                  <a:lnTo>
                    <a:pt x="40678" y="552298"/>
                  </a:lnTo>
                  <a:lnTo>
                    <a:pt x="22270" y="509353"/>
                  </a:lnTo>
                  <a:lnTo>
                    <a:pt x="9257" y="464479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799" y="279384"/>
                  </a:lnTo>
                  <a:lnTo>
                    <a:pt x="29000" y="235197"/>
                  </a:lnTo>
                  <a:lnTo>
                    <a:pt x="49496" y="193203"/>
                  </a:lnTo>
                  <a:lnTo>
                    <a:pt x="74975" y="154037"/>
                  </a:lnTo>
                  <a:lnTo>
                    <a:pt x="105058" y="118286"/>
                  </a:lnTo>
                  <a:lnTo>
                    <a:pt x="139295" y="86482"/>
                  </a:lnTo>
                  <a:lnTo>
                    <a:pt x="177166" y="59108"/>
                  </a:lnTo>
                  <a:lnTo>
                    <a:pt x="218099" y="36579"/>
                  </a:lnTo>
                  <a:lnTo>
                    <a:pt x="261482" y="19230"/>
                  </a:lnTo>
                  <a:lnTo>
                    <a:pt x="306668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5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1" y="105059"/>
                  </a:lnTo>
                  <a:lnTo>
                    <a:pt x="675516" y="139295"/>
                  </a:lnTo>
                  <a:lnTo>
                    <a:pt x="702888" y="177167"/>
                  </a:lnTo>
                  <a:lnTo>
                    <a:pt x="725418" y="218100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3"/>
                  </a:lnTo>
                  <a:lnTo>
                    <a:pt x="748199" y="482613"/>
                  </a:lnTo>
                  <a:lnTo>
                    <a:pt x="732995" y="526800"/>
                  </a:lnTo>
                  <a:lnTo>
                    <a:pt x="712499" y="568795"/>
                  </a:lnTo>
                  <a:lnTo>
                    <a:pt x="687021" y="607960"/>
                  </a:lnTo>
                  <a:lnTo>
                    <a:pt x="656939" y="643712"/>
                  </a:lnTo>
                  <a:lnTo>
                    <a:pt x="622702" y="675516"/>
                  </a:lnTo>
                  <a:lnTo>
                    <a:pt x="584831" y="702889"/>
                  </a:lnTo>
                  <a:lnTo>
                    <a:pt x="543897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6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220449" y="7365205"/>
              <a:ext cx="190499" cy="166687"/>
            </a:xfrm>
            <a:prstGeom prst="rect">
              <a:avLst/>
            </a:prstGeom>
          </p:spPr>
        </p:pic>
      </p:grpSp>
      <p:sp>
        <p:nvSpPr>
          <p:cNvPr id="76" name="object 76" descr=""/>
          <p:cNvSpPr/>
          <p:nvPr/>
        </p:nvSpPr>
        <p:spPr>
          <a:xfrm>
            <a:off x="304799" y="8401049"/>
            <a:ext cx="981075" cy="228600"/>
          </a:xfrm>
          <a:custGeom>
            <a:avLst/>
            <a:gdLst/>
            <a:ahLst/>
            <a:cxnLst/>
            <a:rect l="l" t="t" r="r" b="b"/>
            <a:pathLst>
              <a:path w="981075" h="228600">
                <a:moveTo>
                  <a:pt x="948027" y="228599"/>
                </a:moveTo>
                <a:lnTo>
                  <a:pt x="33047" y="228599"/>
                </a:lnTo>
                <a:lnTo>
                  <a:pt x="28187" y="227632"/>
                </a:lnTo>
                <a:lnTo>
                  <a:pt x="966" y="200411"/>
                </a:lnTo>
                <a:lnTo>
                  <a:pt x="0" y="195551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948027" y="0"/>
                </a:lnTo>
                <a:lnTo>
                  <a:pt x="980107" y="28187"/>
                </a:lnTo>
                <a:lnTo>
                  <a:pt x="981074" y="33047"/>
                </a:lnTo>
                <a:lnTo>
                  <a:pt x="981074" y="195551"/>
                </a:lnTo>
                <a:lnTo>
                  <a:pt x="952887" y="227632"/>
                </a:lnTo>
                <a:lnTo>
                  <a:pt x="948027" y="228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547042" y="7905115"/>
            <a:ext cx="495934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승인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4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월</a:t>
            </a:r>
            <a:r>
              <a:rPr dirty="0" sz="100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70">
                <a:solidFill>
                  <a:srgbClr val="4A5462"/>
                </a:solidFill>
                <a:latin typeface="Segoe UI"/>
                <a:cs typeface="Segoe UI"/>
              </a:rPr>
              <a:t>3</a:t>
            </a:r>
            <a:r>
              <a:rPr dirty="0" sz="1000" spc="-70">
                <a:solidFill>
                  <a:srgbClr val="4A5462"/>
                </a:solidFill>
                <a:latin typeface="Dotum"/>
                <a:cs typeface="Dotum"/>
              </a:rPr>
              <a:t>주차</a:t>
            </a:r>
            <a:endParaRPr sz="1000">
              <a:latin typeface="Dotum"/>
              <a:cs typeface="Dotum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330199" y="8421115"/>
            <a:ext cx="92964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사업부장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최종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30">
                <a:solidFill>
                  <a:srgbClr val="333333"/>
                </a:solidFill>
                <a:latin typeface="Dotum"/>
                <a:cs typeface="Dotum"/>
              </a:rPr>
              <a:t>승인</a:t>
            </a:r>
            <a:endParaRPr sz="1000">
              <a:latin typeface="Dotum"/>
              <a:cs typeface="Dotum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2819399" y="8401049"/>
            <a:ext cx="904875" cy="228600"/>
          </a:xfrm>
          <a:custGeom>
            <a:avLst/>
            <a:gdLst/>
            <a:ahLst/>
            <a:cxnLst/>
            <a:rect l="l" t="t" r="r" b="b"/>
            <a:pathLst>
              <a:path w="904875" h="228600">
                <a:moveTo>
                  <a:pt x="871827" y="228599"/>
                </a:moveTo>
                <a:lnTo>
                  <a:pt x="33047" y="228599"/>
                </a:lnTo>
                <a:lnTo>
                  <a:pt x="28187" y="227632"/>
                </a:lnTo>
                <a:lnTo>
                  <a:pt x="966" y="200411"/>
                </a:lnTo>
                <a:lnTo>
                  <a:pt x="0" y="195551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71827" y="0"/>
                </a:lnTo>
                <a:lnTo>
                  <a:pt x="903908" y="28187"/>
                </a:lnTo>
                <a:lnTo>
                  <a:pt x="904874" y="33047"/>
                </a:lnTo>
                <a:lnTo>
                  <a:pt x="904874" y="195551"/>
                </a:lnTo>
                <a:lnTo>
                  <a:pt x="876687" y="227632"/>
                </a:lnTo>
                <a:lnTo>
                  <a:pt x="871827" y="228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3020268" y="7905115"/>
            <a:ext cx="495934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팀</a:t>
            </a:r>
            <a:r>
              <a:rPr dirty="0" sz="1350" spc="-12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구성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4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월</a:t>
            </a:r>
            <a:r>
              <a:rPr dirty="0" sz="100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4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주차</a:t>
            </a:r>
            <a:endParaRPr sz="1000">
              <a:latin typeface="Dotum"/>
              <a:cs typeface="Dotum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2840334" y="8421115"/>
            <a:ext cx="85598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인력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할당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35">
                <a:solidFill>
                  <a:srgbClr val="333333"/>
                </a:solidFill>
                <a:latin typeface="Dotum"/>
                <a:cs typeface="Dotum"/>
              </a:rPr>
              <a:t>교육</a:t>
            </a:r>
            <a:endParaRPr sz="1000">
              <a:latin typeface="Dotum"/>
              <a:cs typeface="Dotum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5248273" y="8401049"/>
            <a:ext cx="1152525" cy="228600"/>
          </a:xfrm>
          <a:custGeom>
            <a:avLst/>
            <a:gdLst/>
            <a:ahLst/>
            <a:cxnLst/>
            <a:rect l="l" t="t" r="r" b="b"/>
            <a:pathLst>
              <a:path w="1152525" h="228600">
                <a:moveTo>
                  <a:pt x="1119477" y="228599"/>
                </a:moveTo>
                <a:lnTo>
                  <a:pt x="33047" y="228599"/>
                </a:lnTo>
                <a:lnTo>
                  <a:pt x="28187" y="227632"/>
                </a:lnTo>
                <a:lnTo>
                  <a:pt x="966" y="200411"/>
                </a:lnTo>
                <a:lnTo>
                  <a:pt x="0" y="195551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19477" y="0"/>
                </a:lnTo>
                <a:lnTo>
                  <a:pt x="1151558" y="28187"/>
                </a:lnTo>
                <a:lnTo>
                  <a:pt x="1152524" y="33047"/>
                </a:lnTo>
                <a:lnTo>
                  <a:pt x="1152524" y="195551"/>
                </a:lnTo>
                <a:lnTo>
                  <a:pt x="1124337" y="227632"/>
                </a:lnTo>
                <a:lnTo>
                  <a:pt x="1119477" y="228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5440957" y="7905115"/>
            <a:ext cx="768985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인프라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구축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5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월</a:t>
            </a:r>
            <a:r>
              <a:rPr dirty="0" sz="1000" spc="-6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1-</a:t>
            </a:r>
            <a:r>
              <a:rPr dirty="0" sz="900" spc="-25">
                <a:solidFill>
                  <a:srgbClr val="4A5462"/>
                </a:solidFill>
                <a:latin typeface="Segoe UI"/>
                <a:cs typeface="Segoe UI"/>
              </a:rPr>
              <a:t>2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주차</a:t>
            </a:r>
            <a:endParaRPr sz="1000">
              <a:latin typeface="Dotum"/>
              <a:cs typeface="Dotum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5276651" y="8421115"/>
            <a:ext cx="109728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환경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설정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도구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20">
                <a:solidFill>
                  <a:srgbClr val="333333"/>
                </a:solidFill>
                <a:latin typeface="Dotum"/>
                <a:cs typeface="Dotum"/>
              </a:rPr>
              <a:t>셋업</a:t>
            </a:r>
            <a:endParaRPr sz="1000">
              <a:latin typeface="Dotum"/>
              <a:cs typeface="Dotum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7924798" y="8401049"/>
            <a:ext cx="1285875" cy="228600"/>
          </a:xfrm>
          <a:custGeom>
            <a:avLst/>
            <a:gdLst/>
            <a:ahLst/>
            <a:cxnLst/>
            <a:rect l="l" t="t" r="r" b="b"/>
            <a:pathLst>
              <a:path w="1285875" h="228600">
                <a:moveTo>
                  <a:pt x="1252826" y="228599"/>
                </a:moveTo>
                <a:lnTo>
                  <a:pt x="33047" y="228599"/>
                </a:lnTo>
                <a:lnTo>
                  <a:pt x="28187" y="227632"/>
                </a:lnTo>
                <a:lnTo>
                  <a:pt x="966" y="200411"/>
                </a:lnTo>
                <a:lnTo>
                  <a:pt x="0" y="195551"/>
                </a:lnTo>
                <a:lnTo>
                  <a:pt x="0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252826" y="0"/>
                </a:lnTo>
                <a:lnTo>
                  <a:pt x="1284907" y="28187"/>
                </a:lnTo>
                <a:lnTo>
                  <a:pt x="1285874" y="33047"/>
                </a:lnTo>
                <a:lnTo>
                  <a:pt x="1285874" y="195551"/>
                </a:lnTo>
                <a:lnTo>
                  <a:pt x="1257687" y="227632"/>
                </a:lnTo>
                <a:lnTo>
                  <a:pt x="1252826" y="228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7954516" y="7905115"/>
            <a:ext cx="1229360" cy="6965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파일럿</a:t>
            </a:r>
            <a:r>
              <a:rPr dirty="0" sz="1350" spc="-11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개발</a:t>
            </a:r>
            <a:endParaRPr sz="13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5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월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3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주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4A5462"/>
                </a:solidFill>
                <a:latin typeface="Segoe UI"/>
                <a:cs typeface="Segoe UI"/>
              </a:rPr>
              <a:t>-</a:t>
            </a:r>
            <a:r>
              <a:rPr dirty="0" sz="900" spc="1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8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월</a:t>
            </a:r>
            <a:r>
              <a:rPr dirty="0" sz="10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Segoe UI"/>
                <a:cs typeface="Segoe UI"/>
              </a:rPr>
              <a:t>2</a:t>
            </a:r>
            <a:r>
              <a:rPr dirty="0" sz="1000" spc="-25">
                <a:solidFill>
                  <a:srgbClr val="4A5462"/>
                </a:solidFill>
                <a:latin typeface="Dotum"/>
                <a:cs typeface="Dotum"/>
              </a:rPr>
              <a:t>주</a:t>
            </a:r>
            <a:endParaRPr sz="100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고객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관리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모듈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900">
                <a:solidFill>
                  <a:srgbClr val="333333"/>
                </a:solidFill>
                <a:latin typeface="Segoe UI"/>
                <a:cs typeface="Segoe UI"/>
              </a:rPr>
              <a:t>MSA </a:t>
            </a:r>
            <a:r>
              <a:rPr dirty="0" sz="1000" spc="-80">
                <a:solidFill>
                  <a:srgbClr val="333333"/>
                </a:solidFill>
                <a:latin typeface="Dotum"/>
                <a:cs typeface="Dotum"/>
              </a:rPr>
              <a:t>전환</a:t>
            </a:r>
            <a:endParaRPr sz="1000">
              <a:latin typeface="Dotum"/>
              <a:cs typeface="Dotum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10734672" y="8401049"/>
            <a:ext cx="1152525" cy="228600"/>
          </a:xfrm>
          <a:custGeom>
            <a:avLst/>
            <a:gdLst/>
            <a:ahLst/>
            <a:cxnLst/>
            <a:rect l="l" t="t" r="r" b="b"/>
            <a:pathLst>
              <a:path w="1152525" h="228600">
                <a:moveTo>
                  <a:pt x="1119478" y="228599"/>
                </a:moveTo>
                <a:lnTo>
                  <a:pt x="33047" y="228599"/>
                </a:lnTo>
                <a:lnTo>
                  <a:pt x="28187" y="227632"/>
                </a:lnTo>
                <a:lnTo>
                  <a:pt x="966" y="200411"/>
                </a:lnTo>
                <a:lnTo>
                  <a:pt x="0" y="195551"/>
                </a:lnTo>
                <a:lnTo>
                  <a:pt x="1" y="190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19478" y="0"/>
                </a:lnTo>
                <a:lnTo>
                  <a:pt x="1151557" y="28187"/>
                </a:lnTo>
                <a:lnTo>
                  <a:pt x="1152524" y="33047"/>
                </a:lnTo>
                <a:lnTo>
                  <a:pt x="1152524" y="195551"/>
                </a:lnTo>
                <a:lnTo>
                  <a:pt x="1124337" y="227632"/>
                </a:lnTo>
                <a:lnTo>
                  <a:pt x="1119478" y="2285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 txBox="1"/>
          <p:nvPr/>
        </p:nvSpPr>
        <p:spPr>
          <a:xfrm>
            <a:off x="10998794" y="7905115"/>
            <a:ext cx="628650" cy="4298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350" spc="-260">
                <a:solidFill>
                  <a:srgbClr val="333333"/>
                </a:solidFill>
                <a:latin typeface="Dotum"/>
                <a:cs typeface="Dotum"/>
              </a:rPr>
              <a:t>평가</a:t>
            </a:r>
            <a:r>
              <a:rPr dirty="0" sz="1350" spc="-114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350" spc="-285">
                <a:solidFill>
                  <a:srgbClr val="333333"/>
                </a:solidFill>
                <a:latin typeface="Dotum"/>
                <a:cs typeface="Dotum"/>
              </a:rPr>
              <a:t>보고</a:t>
            </a:r>
            <a:endParaRPr sz="1350">
              <a:latin typeface="Dotum"/>
              <a:cs typeface="Dotum"/>
            </a:endParaRPr>
          </a:p>
          <a:p>
            <a:pPr marL="24765">
              <a:lnSpc>
                <a:spcPct val="100000"/>
              </a:lnSpc>
              <a:spcBef>
                <a:spcPts val="155"/>
              </a:spcBef>
            </a:pPr>
            <a:r>
              <a:rPr dirty="0" sz="900" spc="-100">
                <a:solidFill>
                  <a:srgbClr val="4A5462"/>
                </a:solidFill>
                <a:latin typeface="Segoe UI"/>
                <a:cs typeface="Segoe UI"/>
              </a:rPr>
              <a:t>8</a:t>
            </a:r>
            <a:r>
              <a:rPr dirty="0" sz="1000" spc="-100">
                <a:solidFill>
                  <a:srgbClr val="4A5462"/>
                </a:solidFill>
                <a:latin typeface="Dotum"/>
                <a:cs typeface="Dotum"/>
              </a:rPr>
              <a:t>월</a:t>
            </a:r>
            <a:r>
              <a:rPr dirty="0" sz="1000" spc="-6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Segoe UI"/>
                <a:cs typeface="Segoe UI"/>
              </a:rPr>
              <a:t>3-</a:t>
            </a:r>
            <a:r>
              <a:rPr dirty="0" sz="900" spc="-65">
                <a:solidFill>
                  <a:srgbClr val="4A5462"/>
                </a:solidFill>
                <a:latin typeface="Segoe UI"/>
                <a:cs typeface="Segoe UI"/>
              </a:rPr>
              <a:t>4</a:t>
            </a:r>
            <a:r>
              <a:rPr dirty="0" sz="1000" spc="-65">
                <a:solidFill>
                  <a:srgbClr val="4A5462"/>
                </a:solidFill>
                <a:latin typeface="Dotum"/>
                <a:cs typeface="Dotum"/>
              </a:rPr>
              <a:t>주차</a:t>
            </a:r>
            <a:endParaRPr sz="1000">
              <a:latin typeface="Dotum"/>
              <a:cs typeface="Dotum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0764390" y="8421115"/>
            <a:ext cx="109728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성과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측정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80">
                <a:solidFill>
                  <a:srgbClr val="333333"/>
                </a:solidFill>
                <a:latin typeface="Dotum"/>
                <a:cs typeface="Dotum"/>
              </a:rPr>
              <a:t>확산</a:t>
            </a:r>
            <a:r>
              <a:rPr dirty="0" sz="100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000" spc="-120">
                <a:solidFill>
                  <a:srgbClr val="333333"/>
                </a:solidFill>
                <a:latin typeface="Dotum"/>
                <a:cs typeface="Dotum"/>
              </a:rPr>
              <a:t>계획</a:t>
            </a:r>
            <a:endParaRPr sz="1000">
              <a:latin typeface="Dotum"/>
              <a:cs typeface="Dotum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10658474" y="9448799"/>
            <a:ext cx="1343025" cy="323850"/>
            <a:chOff x="10658474" y="9448799"/>
            <a:chExt cx="1343025" cy="323850"/>
          </a:xfrm>
        </p:grpSpPr>
        <p:sp>
          <p:nvSpPr>
            <p:cNvPr id="91" name="object 91" descr=""/>
            <p:cNvSpPr/>
            <p:nvPr/>
          </p:nvSpPr>
          <p:spPr>
            <a:xfrm>
              <a:off x="10658474" y="9448799"/>
              <a:ext cx="1343025" cy="323850"/>
            </a:xfrm>
            <a:custGeom>
              <a:avLst/>
              <a:gdLst/>
              <a:ahLst/>
              <a:cxnLst/>
              <a:rect l="l" t="t" r="r" b="b"/>
              <a:pathLst>
                <a:path w="1343025" h="323850">
                  <a:moveTo>
                    <a:pt x="13099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09977" y="0"/>
                  </a:lnTo>
                  <a:lnTo>
                    <a:pt x="1342057" y="28187"/>
                  </a:lnTo>
                  <a:lnTo>
                    <a:pt x="1343024" y="33047"/>
                  </a:lnTo>
                  <a:lnTo>
                    <a:pt x="1343024" y="290802"/>
                  </a:lnTo>
                  <a:lnTo>
                    <a:pt x="1314837" y="322883"/>
                  </a:lnTo>
                  <a:lnTo>
                    <a:pt x="13099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72774" y="9544049"/>
              <a:ext cx="133349" cy="133349"/>
            </a:xfrm>
            <a:prstGeom prst="rect">
              <a:avLst/>
            </a:prstGeom>
          </p:spPr>
        </p:pic>
      </p:grpSp>
      <p:sp>
        <p:nvSpPr>
          <p:cNvPr id="93" name="object 93" descr=""/>
          <p:cNvSpPr txBox="1"/>
          <p:nvPr/>
        </p:nvSpPr>
        <p:spPr>
          <a:xfrm>
            <a:off x="10949234" y="9522307"/>
            <a:ext cx="951230" cy="1778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Genspark</a:t>
            </a:r>
            <a:r>
              <a:rPr dirty="0" sz="1000" spc="-30">
                <a:solidFill>
                  <a:srgbClr val="FFFFFF"/>
                </a:solidFill>
                <a:latin typeface="Dotum"/>
                <a:cs typeface="Dotum"/>
              </a:rPr>
              <a:t>로</a:t>
            </a:r>
            <a:r>
              <a:rPr dirty="0" sz="1000" spc="-4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dirty="0" sz="1000" spc="-150">
                <a:solidFill>
                  <a:srgbClr val="FFFFFF"/>
                </a:solidFill>
                <a:latin typeface="Dotum"/>
                <a:cs typeface="Dotum"/>
              </a:rPr>
              <a:t>제작됨</a:t>
            </a:r>
            <a:endParaRPr sz="10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2025-07-10T01:55:14Z</dcterms:created>
  <dc:creator>cj:vLc3z3zMXev4zrLk0P1EzHLn19o=∥deadman55@cj.net;</dc:creator>
  <dcterms:modified xsi:type="dcterms:W3CDTF">2025-07-10T01:55:14Z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2025-07-10T00:00:00Z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2025-07-10T00:00:00Z</vt:filetime>
  </property>
</Properties>
</file>